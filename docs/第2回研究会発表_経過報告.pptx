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《スライド1》表紙  （目安 0:20）</a:t>
            </a:r>
          </a:p>
          <a:p/>
          <a:p>
            <a:r>
              <a:t>[ 話す ]</a:t>
            </a:r>
          </a:p>
          <a:p>
            <a:r>
              <a:t>・第2回研究会発表を始める。テーマは農業用ロボットの経路追従におけるスパース最適制御。</a:t>
            </a:r>
          </a:p>
          <a:p>
            <a:r>
              <a:t>・前回（4月）以降にやってきたことを、順を追って報告する。</a:t>
            </a:r>
          </a:p>
          <a:p/>
          <a:p>
            <a:r>
              <a:t>[ ★強調（自分用） ]</a:t>
            </a:r>
          </a:p>
          <a:p>
            <a:r>
              <a:t>★ 最初の一言で『制御の手数（操舵）を最小限にする研究です』と一言で言い切る。</a:t>
            </a:r>
          </a:p>
          <a:p>
            <a:r>
              <a:t>★ 聴衆は他分野の学生もいる前提で、専門用語はこの後ていねいに説明すると予告する。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《スライド2》目次  （目安 0:20）</a:t>
            </a:r>
          </a:p>
          <a:p/>
          <a:p>
            <a:r>
              <a:t>[ 話す ]</a:t>
            </a:r>
          </a:p>
          <a:p>
            <a:r>
              <a:t>・話の流れは3部構成。まず背景と目的、つぎに実際にやったこと、最後にまとめ。</a:t>
            </a:r>
          </a:p>
          <a:p>
            <a:r>
              <a:t>・今日は『何をやったか』を中心に話す。理論の詳細は最小限にする。</a:t>
            </a:r>
          </a:p>
          <a:p/>
          <a:p>
            <a:r>
              <a:t>[ ★強調（自分用） ]</a:t>
            </a:r>
          </a:p>
          <a:p>
            <a:r>
              <a:t>★ 『経過報告がメイン』と伝え、聴衆の期待値を合わせる。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《スライド3》研究の背景  （目安 1:10）</a:t>
            </a:r>
          </a:p>
          <a:p/>
          <a:p>
            <a:r>
              <a:t>[ 話す ]</a:t>
            </a:r>
          </a:p>
          <a:p>
            <a:r>
              <a:t>・まず『なぜこの研究か』。農業は人手不足で、自動走行ロボットが求められている。</a:t>
            </a:r>
          </a:p>
          <a:p>
            <a:r>
              <a:t>・その基礎が経路追従＝決めた道をなぞる制御。</a:t>
            </a:r>
          </a:p>
          <a:p>
            <a:r>
              <a:t>・普通の制御は常時こまめに操舵するが、モータが消耗し、電気も食い、滑りやすい畑では小刻みな操舵が逆に乱れを生む。</a:t>
            </a:r>
          </a:p>
          <a:p>
            <a:r>
              <a:t>・だから『必要な時だけ操舵する＝スパース制御』に注目した、という流れで話す。</a:t>
            </a:r>
          </a:p>
          <a:p/>
          <a:p>
            <a:r>
              <a:t>[ ★強調（自分用） ]</a:t>
            </a:r>
          </a:p>
          <a:p>
            <a:r>
              <a:t>★ “スパース＝時間的にスカスカ”を、身ぶりで（ハンドルをほとんど切らないイメージで）伝えると他分野でも伝わる。</a:t>
            </a:r>
          </a:p>
          <a:p>
            <a:r>
              <a:t>★ ここで聴衆の『なぜ？』を解消しておくと、後半の専門的な話がスッと入る。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《スライド4》研究の目的と進め方  （目安 1:10）</a:t>
            </a:r>
          </a:p>
          <a:p/>
          <a:p>
            <a:r>
              <a:t>[ 話す ]</a:t>
            </a:r>
          </a:p>
          <a:p>
            <a:r>
              <a:t>・目的は、操舵を時間的に疎にする手法を“実機で”評価すること。</a:t>
            </a:r>
          </a:p>
          <a:p>
            <a:r>
              <a:t>・手法の中心はMPCとL1。MPCは『少し先を予測して最適な入力を毎周期計算する』制御だと一言で説明する。</a:t>
            </a:r>
          </a:p>
          <a:p>
            <a:r>
              <a:t>・そのコスト関数にL1を足すと入力が0に張り付きやすくなる＝hands-off。</a:t>
            </a:r>
          </a:p>
          <a:p>
            <a:r>
              <a:t>・比べるのは3つ：古典のKanayama、標準のL2-MPC、提案のL1-MPC。同じMPCでコスト関数だけ変えてL1の効果を見る。</a:t>
            </a:r>
          </a:p>
          <a:p>
            <a:r>
              <a:t>・指標は4つ（精度・エネルギー・スパース性・計算負荷）。</a:t>
            </a:r>
          </a:p>
          <a:p/>
          <a:p>
            <a:r>
              <a:t>[ ★強調（自分用） ]</a:t>
            </a:r>
          </a:p>
          <a:p>
            <a:r>
              <a:t>★ 『同じMPCでコスト関数だけ変える』＝L1の効果を“フェアに”分離する工夫だ、と一言添える（手法の妥当性アピール）。</a:t>
            </a:r>
          </a:p>
          <a:p>
            <a:r>
              <a:t>★ 指標は4つを口頭で1つずつ。特に“計算負荷”は後で効いてくる伏線。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《スライド5》全体の流れ  （目安 0:50）</a:t>
            </a:r>
          </a:p>
          <a:p/>
          <a:p>
            <a:r>
              <a:t>[ 話す ]</a:t>
            </a:r>
          </a:p>
          <a:p>
            <a:r>
              <a:t>・この1枚で全体像を見せる。左から右へ時間順。</a:t>
            </a:r>
          </a:p>
          <a:p>
            <a:r>
              <a:t>・机上のsim→実機の基盤づくり→古典制御で自立走行→MPC実装→実機で3者比較、という5ステップ。</a:t>
            </a:r>
          </a:p>
          <a:p>
            <a:r>
              <a:t>・『実機の基盤が思ったより早く整ったので、計画を前倒しして実機実験まで進めた』と補足。</a:t>
            </a:r>
          </a:p>
          <a:p/>
          <a:p>
            <a:r>
              <a:t>[ ★強調（自分用） ]</a:t>
            </a:r>
          </a:p>
          <a:p>
            <a:r>
              <a:t>★ ここで“全体地図”を頭に入れてもらう。以降のスライドが今どこの話かを各スライド冒頭のラベルで示す。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《スライド6》机上のシミュレーション  （目安 1:10）</a:t>
            </a:r>
          </a:p>
          <a:p/>
          <a:p>
            <a:r>
              <a:t>[ 話す ]</a:t>
            </a:r>
          </a:p>
          <a:p>
            <a:r>
              <a:t>・最初に机上で原理を確認した話。運動モデルを作り、『目標に着く入力のうち操舵を一番使わないもの』を最適化で探した。</a:t>
            </a:r>
          </a:p>
          <a:p>
            <a:r>
              <a:t>・右の図がポイント。左は誤差が0に収束＝ちゃんと到達。右が操舵入力で、78%の時間は棒がゼロ＝操舵していない。</a:t>
            </a:r>
          </a:p>
          <a:p>
            <a:r>
              <a:t>・つまり“要所だけ動かして、あとは手放し”でも到達できる、という原理確認。</a:t>
            </a:r>
          </a:p>
          <a:p>
            <a:r>
              <a:t>・ただし一度きりの計算なので外乱に弱い。だから次はMPC、と繋ぐ。</a:t>
            </a:r>
          </a:p>
          <a:p/>
          <a:p>
            <a:r>
              <a:t>[ ★強調（自分用） ]</a:t>
            </a:r>
          </a:p>
          <a:p>
            <a:r>
              <a:t>★ 右図の『棒が立っていない時間＝操舵していない』を指さして説明すると一発で伝わる。</a:t>
            </a:r>
          </a:p>
          <a:p>
            <a:r>
              <a:t>★ 78%という数字を強調。『これがhands-offの正体です』。</a:t>
            </a:r>
          </a:p>
          <a:p>
            <a:r>
              <a:t>★ オープンループの限界（外乱で誤差が溜まる）を必ず言い、MPCへ自然につなぐ。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《スライド7》実機の基盤づくり  （目安 1:00）</a:t>
            </a:r>
          </a:p>
          <a:p/>
          <a:p>
            <a:r>
              <a:t>[ 話す ]</a:t>
            </a:r>
          </a:p>
          <a:p>
            <a:r>
              <a:t>・地味だが重要な土台づくり。市販ロボットLiteRoverに、自分の制御を載せて走らせる環境を整えた。</a:t>
            </a:r>
          </a:p>
          <a:p>
            <a:r>
              <a:t>・LiDARを付けてSLAMで地図も作成（右図）。自己位置と地図を同時に作る技術だと一言補足。</a:t>
            </a:r>
          </a:p>
          <a:p>
            <a:r>
              <a:t>・PCとロボットの無線通信が不安定だったので、全部ロボット上で動かす方式に切り替えて回避した。</a:t>
            </a:r>
          </a:p>
          <a:p>
            <a:r>
              <a:t>・設計の工夫として、制御の計算部分と通信部分を分け、あとでL1に差し替えても使い回せるようにした。</a:t>
            </a:r>
          </a:p>
          <a:p/>
          <a:p>
            <a:r>
              <a:t>[ ★強調（自分用） ]</a:t>
            </a:r>
          </a:p>
          <a:p>
            <a:r>
              <a:t>★ 『ここは“何をやったか”の自立性アピール。Claude Codeも使いつつ自分で環境を作った』点に軽く触れてよい。</a:t>
            </a:r>
          </a:p>
          <a:p>
            <a:r>
              <a:t>★ 通信を“あえて捨てて回避”した判断は、研究を前に進める工学的判断としてプラスに語る。</a:t>
            </a:r>
          </a:p>
          <a:p>
            <a:r>
              <a:t>★ 地図の図は『ちゃんと動く実機がある』証拠として見せる。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《スライド8》実機で自立走行（古典制御）  （目安 1:00）</a:t>
            </a:r>
          </a:p>
          <a:p/>
          <a:p>
            <a:r>
              <a:t>[ 話す ]</a:t>
            </a:r>
          </a:p>
          <a:p>
            <a:r>
              <a:t>・比較の基準になる古典制御（Kanayama法）をまず実装して、実機で床を走らせた。</a:t>
            </a:r>
          </a:p>
          <a:p>
            <a:r>
              <a:t>・Kanayama法は『経路からのずれを見て操舵を決める』素直なフィードバックだと一言で説明。</a:t>
            </a:r>
          </a:p>
          <a:p>
            <a:r>
              <a:t>・直線3本とL字を完走。ただしL字で旋回角が10°足りなかった。</a:t>
            </a:r>
          </a:p>
          <a:p>
            <a:r>
              <a:t>・原因は車輪の滑りと車輪間隔の設定ずれ。定数を補正してほぼ90°に直した、と話す。</a:t>
            </a:r>
          </a:p>
          <a:p/>
          <a:p>
            <a:r>
              <a:t>[ ★強調（自分用） ]</a:t>
            </a:r>
          </a:p>
          <a:p>
            <a:r>
              <a:t>★ 『実機を動かすと、理論では出ない誤差が出る』ことの最初の具体例。後半のチャタの伏線になる。</a:t>
            </a:r>
          </a:p>
          <a:p>
            <a:r>
              <a:t>★ 回転オドメトリの弱さは、後で“真値は外部計測が必要”の話に繋がる。ここで軽く種をまく。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《スライド9》計算が間に合うかの確認  （目安 1:00）</a:t>
            </a:r>
          </a:p>
          <a:p/>
          <a:p>
            <a:r>
              <a:t>[ 話す ]</a:t>
            </a:r>
          </a:p>
          <a:p>
            <a:r>
              <a:t>・MPCは毎周期、最適化を解く。非力なRaspberry Piで0.1秒以内に解けないとリアルタイムに動かない。</a:t>
            </a:r>
          </a:p>
          <a:p>
            <a:r>
              <a:t>・だから本格実装の前に“そもそも解けるか”を確認した。これが通らないと研究が成立しない最初の関門。</a:t>
            </a:r>
          </a:p>
          <a:p>
            <a:r>
              <a:t>・予測の長さNを変えて求解時間を測った結果、N=30まで余裕で周期内、電圧低下もなし。通過。</a:t>
            </a:r>
          </a:p>
          <a:p>
            <a:r>
              <a:t>・提案のL1はL2より重いが、それでも間に合う。</a:t>
            </a:r>
          </a:p>
          <a:p/>
          <a:p>
            <a:r>
              <a:t>[ ★強調（自分用） ]</a:t>
            </a:r>
          </a:p>
          <a:p>
            <a:r>
              <a:t>★ 『L1は操舵を減らすが、計算は増える』というトレードオフを、ここで数字で初出しする。</a:t>
            </a:r>
          </a:p>
          <a:p>
            <a:r>
              <a:t>★ この“計算負荷”は本研究の貢献の柱の一つ。後の3者比較でもう一度回収する。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《スライド10》MPCの実装(1) L2-MPC  （目安 1:00）</a:t>
            </a:r>
          </a:p>
          <a:p/>
          <a:p>
            <a:r>
              <a:t>[ 話す ]</a:t>
            </a:r>
          </a:p>
          <a:p>
            <a:r>
              <a:t>・ここからMPC本体。まずMPCを一言で：1.5秒先まで予測して経路に一番沿う入力を計算し、先頭だけ実行、を毎周期繰り返す。</a:t>
            </a:r>
          </a:p>
          <a:p>
            <a:r>
              <a:t>・その骨格を実装してシミュレーションで検証。5ケース全部で到達した。</a:t>
            </a:r>
          </a:p>
          <a:p>
            <a:r>
              <a:t>・結果、経路からのずれRMSEが基準のKanayamaを全ケースで下回った。</a:t>
            </a:r>
          </a:p>
          <a:p>
            <a:r>
              <a:t>・“予測して最適化する”分だけ上手、という話。この標準形L2をまず土台にする。</a:t>
            </a:r>
          </a:p>
          <a:p/>
          <a:p>
            <a:r>
              <a:t>[ ★強調（自分用） ]</a:t>
            </a:r>
          </a:p>
          <a:p>
            <a:r>
              <a:t>★ L1の効果を測る“ものさし”を先に作る、という研究の組み立てを強調。</a:t>
            </a:r>
          </a:p>
          <a:p>
            <a:r>
              <a:t>★ 数字（特にL字 11.6→2.2cm）を1つ口に出すと説得力が出る。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《スライド11》MPCの実装(2) L1で疎にする  （目安 1:10）</a:t>
            </a:r>
          </a:p>
          <a:p/>
          <a:p>
            <a:r>
              <a:t>[ 話す ]</a:t>
            </a:r>
          </a:p>
          <a:p>
            <a:r>
              <a:t>・L2とL1の違いを直感で：L2は二乗で罰するので小さな操舵を満遍なく使いなめらか。L1は絶対値で罰するので多くがピタッと0になり疎。</a:t>
            </a:r>
          </a:p>
          <a:p>
            <a:r>
              <a:t>・コスト関数を1行変えるだけで切替できる＝同じ条件で公平に比べられる。</a:t>
            </a:r>
          </a:p>
          <a:p>
            <a:r>
              <a:t>・重みλを振って調べた。λを上げると操舵は減るが追従は甘くなるトレードオフ。</a:t>
            </a:r>
          </a:p>
          <a:p>
            <a:r>
              <a:t>・右の図、左下が良い領域。λ≈0.25あたりでL2より少し良い所に入る。</a:t>
            </a:r>
          </a:p>
          <a:p/>
          <a:p>
            <a:r>
              <a:t>[ ★強調（自分用） ]</a:t>
            </a:r>
          </a:p>
          <a:p>
            <a:r>
              <a:t>★ 『二乗 vs 絶対値』のイメージは他分野でも刺さる。手で“満遍なく”と“ピタッと0”を表現するとよい。</a:t>
            </a:r>
          </a:p>
          <a:p>
            <a:r>
              <a:t>★ ただし正直に：無外乱のシミュレーションだとL2との差は小さい。差が本当に出るのは外乱下や曲線、という見立てを述べておく（次のスライドの伏線）。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《スライド12》実機で3者比較(1) 直線  （目安 1:10）</a:t>
            </a:r>
          </a:p>
          <a:p/>
          <a:p>
            <a:r>
              <a:t>[ 話す ]</a:t>
            </a:r>
          </a:p>
          <a:p>
            <a:r>
              <a:t>・いよいよ実機で3者を比べた。直線2m。1本ごとにメジャーで実測して“真の精度”を取った。</a:t>
            </a:r>
          </a:p>
          <a:p>
            <a:r>
              <a:t>・結果、提案のL1が一番正確で横ずれ0cm。L2が4cm、古典のKanayamaが14〜15cm。</a:t>
            </a:r>
          </a:p>
          <a:p>
            <a:r>
              <a:t>・計算負荷はKanayama≒0＜L2＜L1。3つとも周期内。</a:t>
            </a:r>
          </a:p>
          <a:p>
            <a:r>
              <a:t>・大事な注意：ロボット自身の自己位置“だけ”だとL2が良く見える。でもそれは滑りを見られないから。本当の精度は外から測らないと分からない、と気づいた。</a:t>
            </a:r>
          </a:p>
          <a:p/>
          <a:p>
            <a:r>
              <a:t>[ ★強調（自分用） ]</a:t>
            </a:r>
          </a:p>
          <a:p>
            <a:r>
              <a:t>★ 『提案手法が実機の真値で一番良かった』はポジティブな山。ただし次のL字で話が変わる、と引きを作る。</a:t>
            </a:r>
          </a:p>
          <a:p>
            <a:r>
              <a:t>★ “自己位置では分からない・外部計測が要る”は方法論的に効く気づき。研究の丁寧さとしてアピール。</a:t>
            </a:r>
          </a:p>
          <a:p>
            <a:r>
              <a:t>★ n=1（1本ずつ）なので『L1≳L2は今後反復して確かめたい』と正直に添える（過剰主張を避ける）。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《スライド13》実機で3者比較(2) L字  （目安 1:20）</a:t>
            </a:r>
          </a:p>
          <a:p/>
          <a:p>
            <a:r>
              <a:t>[ 話す ]</a:t>
            </a:r>
          </a:p>
          <a:p>
            <a:r>
              <a:t>・直線では差が小さかったので、操舵が要るL字でも比べた。</a:t>
            </a:r>
          </a:p>
          <a:p>
            <a:r>
              <a:t>・ここが今日いちばんの見どころ。実機では提案のL1が、曲がり角で操舵を左右に激しく振動させた＝チャタリング。</a:t>
            </a:r>
          </a:p>
          <a:p>
            <a:r>
              <a:t>・数字で：操舵総量がL2の4.5倍、向きの反転が15回。中央の図、赤が上限の間を何度も往復しているのが見える。</a:t>
            </a:r>
          </a:p>
          <a:p>
            <a:r>
              <a:t>・L2はきれいに1回で曲がれた。L1は蛇行して最終的な向きがずれた。</a:t>
            </a:r>
          </a:p>
          <a:p/>
          <a:p>
            <a:r>
              <a:t>[ ★強調（自分用） ]</a:t>
            </a:r>
          </a:p>
          <a:p>
            <a:r>
              <a:t>★ ここを一番強く：『スパース制御が活きると思った曲線で、逆にL1だけが破綻した』という“予想と逆”の結果。</a:t>
            </a:r>
          </a:p>
          <a:p>
            <a:r>
              <a:t>★ そして『これはシミュレーションでは起きず、実機で初めて見えた』点を強調。これが今回の最大の学び。</a:t>
            </a:r>
          </a:p>
          <a:p>
            <a:r>
              <a:t>★ ただしスライドでは断定的に言いすぎない。口頭で温度感を出す（驚き→なぜ？と引っぱって次へ）。</a:t>
            </a:r>
          </a:p>
          <a:p>
            <a:r>
              <a:t>★ 図の赤い往復を指で追うと聴衆に伝わる。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《スライド14》原因の特定と対策  （目安 1:20）</a:t>
            </a:r>
          </a:p>
          <a:p/>
          <a:p>
            <a:r>
              <a:t>[ 話す ]</a:t>
            </a:r>
          </a:p>
          <a:p>
            <a:r>
              <a:t>・なぜ振動したのかを突き止めた。理想のシミュレーションでは起きないので、実機だけにある“遅れ”を疑った。</a:t>
            </a:r>
          </a:p>
          <a:p>
            <a:r>
              <a:t>・計算と通信で約0.2秒の遅れがある。これをシミュレーションに足すと、L1だけが実機そっくりに振動した。数値もほぼ一致。</a:t>
            </a:r>
          </a:p>
          <a:p>
            <a:r>
              <a:t>・仕組みは、L1は“ゼロか最大か”の切替的操舵になりやすく、反応が遅れると行き過ぎ→戻し過ぎで振動する。L2はなめらかなので平気。</a:t>
            </a:r>
          </a:p>
          <a:p>
            <a:r>
              <a:t>・対策として『操舵を急に変えすぎない』項をMPCに足した。シミュレーション上は振動がほぼ消え、しかも疎さは保てた。</a:t>
            </a:r>
          </a:p>
          <a:p/>
          <a:p>
            <a:r>
              <a:t>[ ★強調（自分用） ]</a:t>
            </a:r>
          </a:p>
          <a:p>
            <a:r>
              <a:t>★ 『問題を見つけて終わり』ではなく、原因まで突き止めて対策まで示した、という“研究としての完結度”を強調。</a:t>
            </a:r>
          </a:p>
          <a:p>
            <a:r>
              <a:t>★ 『シミュレーションと実機の数値が一致』＝原因特定が確かだ、という根拠を丁寧に。</a:t>
            </a:r>
          </a:p>
          <a:p>
            <a:r>
              <a:t>★ 実機での対策検証は“これから”だが、日程の話はしない（聞かれたら口頭で『次にやる』程度）。</a:t>
            </a:r>
          </a:p>
          <a:p>
            <a:r>
              <a:t>★ 他分野向けに『遅れがあると切替制御は振動しやすい』は一般性のある教訓として話すと響く。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《スライド15》まとめ  （目安 1:00）</a:t>
            </a:r>
          </a:p>
          <a:p/>
          <a:p>
            <a:r>
              <a:t>[ 話す ]</a:t>
            </a:r>
          </a:p>
          <a:p>
            <a:r>
              <a:t>・最後にまとめ。やったことは6ステップ（机上sim→基盤→古典で走行→MPC実装→実機3者比較→原因と対策）。</a:t>
            </a:r>
          </a:p>
          <a:p>
            <a:r>
              <a:t>・分かったことは4つ。MPCは古典より正確。提案L1の効きは条件しだい（直線で最良・曲線で振動）。その振動は実機の遅れが原因で対策の見込みも得た。そして操舵減と計算増のトレードオフを実機で数値化した。</a:t>
            </a:r>
          </a:p>
          <a:p>
            <a:r>
              <a:t>・現時点で安定して良いのはL2。提案のL1は条件しだいで、引き続き実機で検証中、という整理で締める。</a:t>
            </a:r>
          </a:p>
          <a:p/>
          <a:p>
            <a:r>
              <a:t>[ ★強調（自分用） ]</a:t>
            </a:r>
          </a:p>
          <a:p>
            <a:r>
              <a:t>★ ここでは断定や強い言葉を避け、淡々と。『L1が一番』とは言わない。条件しだい・検証中、と誠実に。</a:t>
            </a:r>
          </a:p>
          <a:p>
            <a:r>
              <a:t>★ 一番伝えたい一文は『シミュレーションでは見えず、実機で初めて分かった』。最後にもう一度だけ口頭で言う。</a:t>
            </a:r>
          </a:p>
          <a:p>
            <a:r>
              <a:t>★ 質問が来やすいのは“なぜL2が良いのにL1を研究するのか”。→ 省エネや外乱への強さは条件で出るはずで、それを見極めるのが目的、と答える準備。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《スライド16》補足の入口  （目安 0:15）</a:t>
            </a:r>
          </a:p>
          <a:p/>
          <a:p>
            <a:r>
              <a:t>[ 話す ]</a:t>
            </a:r>
          </a:p>
          <a:p>
            <a:r>
              <a:t>・ここからは補足。研究で実際に書いたプログラムと、その考え方を説明する。</a:t>
            </a:r>
          </a:p>
          <a:p>
            <a:r>
              <a:t>・時間や質問に応じて、見せる枚数は調整する。</a:t>
            </a:r>
          </a:p>
          <a:p/>
          <a:p>
            <a:r>
              <a:t>[ ★強調（自分用） ]</a:t>
            </a:r>
          </a:p>
          <a:p>
            <a:r>
              <a:t>★ 『制御の中身を自分で実装した』ことが伝わればよい。深入りしすぎない。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《スライド17》プログラム全体の構成  （目安 1:00）</a:t>
            </a:r>
          </a:p>
          <a:p/>
          <a:p>
            <a:r>
              <a:t>[ 話す ]</a:t>
            </a:r>
          </a:p>
          <a:p>
            <a:r>
              <a:t>・全体の流れ。自己位置odom → follower_coreで参照点と誤差 → mpc_coreで最適化して速度 → ロボットへ。</a:t>
            </a:r>
          </a:p>
          <a:p>
            <a:r>
              <a:t>・中核は自作のfollower_coreとmpc_core。ほかに検証・解析のスクリプトも自作した。</a:t>
            </a:r>
          </a:p>
          <a:p>
            <a:r>
              <a:t>・言語はPython、最適化はcvxpyとOSQP、ROSはROS2。</a:t>
            </a:r>
          </a:p>
          <a:p/>
          <a:p>
            <a:r>
              <a:t>[ ★強調（自分用） ]</a:t>
            </a:r>
          </a:p>
          <a:p>
            <a:r>
              <a:t>★ 『制御の中身も検証ツールも自分で実装した』ことを伝える。</a:t>
            </a:r>
          </a:p>
          <a:p>
            <a:r>
              <a:t>★ “線形MPCはQPとして解ける／将来CasADiで非線形も”は質問が来たら補足。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《スライド18》コード解説 follower_core  （目安 1:00）</a:t>
            </a:r>
          </a:p>
          <a:p/>
          <a:p>
            <a:r>
              <a:t>[ 話す ]</a:t>
            </a:r>
          </a:p>
          <a:p>
            <a:r>
              <a:t>・土台のfollower_core。経路上の目標点に対するずれを、ロボットから見た誤差に直す関数。</a:t>
            </a:r>
          </a:p>
          <a:p>
            <a:r>
              <a:t>・Kanayama法は、その誤差に比例ゲインを掛けて速度と角速度を決める素直な制御。予測はしない。</a:t>
            </a:r>
          </a:p>
          <a:p>
            <a:r>
              <a:t>・この誤差計算はMPCでもそのまま使い回す共通土台。</a:t>
            </a:r>
          </a:p>
          <a:p/>
          <a:p>
            <a:r>
              <a:t>[ ★強調（自分用） ]</a:t>
            </a:r>
          </a:p>
          <a:p>
            <a:r>
              <a:t>★ 『古典制御は今のずれだけで決める＝予測なし』を一言。次のMPCとの対比になる。</a:t>
            </a:r>
          </a:p>
          <a:p>
            <a:r>
              <a:t>★ コードは雰囲気が伝わればOK。1行ずつ読まない。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《スライド19》コード解説 オープンループ  （目安 1:00）</a:t>
            </a:r>
          </a:p>
          <a:p/>
          <a:p>
            <a:r>
              <a:t>[ 話す ]</a:t>
            </a:r>
          </a:p>
          <a:p>
            <a:r>
              <a:t>・4/28のスパース制御の最小実装。cvxpyで『目標に着く入力のうち操舵の総量が最小のもの』を、数式そのままに書ける。</a:t>
            </a:r>
          </a:p>
          <a:p>
            <a:r>
              <a:t>・L1ノルムを最小化すると多くの入力が厳密に0になるのが数学的な性質。結果、操舵の78%が0。</a:t>
            </a:r>
          </a:p>
          <a:p/>
          <a:p>
            <a:r>
              <a:t>[ ★強調（自分用） ]</a:t>
            </a:r>
          </a:p>
          <a:p>
            <a:r>
              <a:t>★ 『L1＝絶対値の和を最小化すると0が増える』が、スパース制御の核。ここは少し丁寧に。</a:t>
            </a:r>
          </a:p>
          <a:p>
            <a:r>
              <a:t>★ cvxpyだと数式に近い形で書ける利点も一言。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《スライド20》コード解説 MPC本体  （目安 1:10）</a:t>
            </a:r>
          </a:p>
          <a:p/>
          <a:p>
            <a:r>
              <a:t>[ 話す ]</a:t>
            </a:r>
          </a:p>
          <a:p>
            <a:r>
              <a:t>・提案手法の心臓部、MPC本体。Nステップ先まで予測して『経路ずれ＋操舵ペナルティ』の合計を最小化する。</a:t>
            </a:r>
          </a:p>
          <a:p>
            <a:r>
              <a:t>・赤の1行だけがL1とL2の違い。norm1ならL1（疎）、quad_formならL2（なめらか）。</a:t>
            </a:r>
          </a:p>
          <a:p>
            <a:r>
              <a:t>・同じ骨格でこの1行だけ変えるので、L1の効果をフェアに比べられる。毎周期、係数だけ差し替えて高速に解き直す。</a:t>
            </a:r>
          </a:p>
          <a:p/>
          <a:p>
            <a:r>
              <a:t>[ ★強調（自分用） ]</a:t>
            </a:r>
          </a:p>
          <a:p>
            <a:r>
              <a:t>★ 『違いはこの1行だけ』が一番の見せ場。指さして言う。</a:t>
            </a:r>
          </a:p>
          <a:p>
            <a:r>
              <a:t>★ “同じ枠組みで公平に比較”という研究設計の妥当性をここで主張。</a:t>
            </a:r>
          </a:p>
          <a:p>
            <a:r>
              <a:t>★ self.等はスライドでは省略している、と一言断る。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《スライド21》コード解説 移動抑制  （目安 0:50）</a:t>
            </a:r>
          </a:p>
          <a:p/>
          <a:p>
            <a:r>
              <a:t>[ 話す ]</a:t>
            </a:r>
          </a:p>
          <a:p>
            <a:r>
              <a:t>・L字で見つかった振動への対策コード。1つ前の操舵との差を二乗で罰する＝急な操舵変化を抑える項を足しただけ。</a:t>
            </a:r>
          </a:p>
          <a:p>
            <a:r>
              <a:t>・既定は0で、足さなければ今までと完全に同じ（後方互換）。simでは振動が反転19回→1回に減った。</a:t>
            </a:r>
          </a:p>
          <a:p/>
          <a:p>
            <a:r>
              <a:t>[ ★強調（自分用） ]</a:t>
            </a:r>
          </a:p>
          <a:p>
            <a:r>
              <a:t>★ 『問題を見つけて、対策コードまで書いた』完結度を示す。</a:t>
            </a:r>
          </a:p>
          <a:p>
            <a:r>
              <a:t>★ 実機での対策確認はこれから、と正直に（日程は触れない）。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《スライド22》コード解説 制御ループ  （目安 1:00）</a:t>
            </a:r>
          </a:p>
          <a:p/>
          <a:p>
            <a:r>
              <a:t>[ 話す ]</a:t>
            </a:r>
          </a:p>
          <a:p>
            <a:r>
              <a:t>・実機で毎周期回している制御ループ。0.1秒ごとに、自己位置→参照点→誤差→MPCで速度→ロボットへ、を実行。</a:t>
            </a:r>
          </a:p>
          <a:p>
            <a:r>
              <a:t>・★の1行をkanayama_cmdに変えるだけでKanayama版になる。だから3者を同じ枠組みで比較できる。</a:t>
            </a:r>
          </a:p>
          <a:p>
            <a:r>
              <a:t>・odomが途切れたり求解に失敗したら止まる安全機構も入れた。</a:t>
            </a:r>
          </a:p>
          <a:p/>
          <a:p>
            <a:r>
              <a:t>[ ★強調（自分用） ]</a:t>
            </a:r>
          </a:p>
          <a:p>
            <a:r>
              <a:t>★ 『この1行を差し替えるだけ』＝比較の公平性をもう一度強調。</a:t>
            </a:r>
          </a:p>
          <a:p>
            <a:r>
              <a:t>★ 安全機構に触れると“実機をちゃんと扱っている”印象になる。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《スライド23》コード解説 検証・解析ツール  （目安 0:50）</a:t>
            </a:r>
          </a:p>
          <a:p/>
          <a:p>
            <a:r>
              <a:t>[ 話す ]</a:t>
            </a:r>
          </a:p>
          <a:p>
            <a:r>
              <a:t>・実機に載せる前後で使った検証・解析ツール。解けるか測るbench、simで確かめるtest、λを振るsweep、遅延でチャタを再現するdelay_probe、実走データを数値化するanalyze_bag。</a:t>
            </a:r>
          </a:p>
          <a:p>
            <a:r>
              <a:t>・“いきなり実機”ではなく、simで確かめてから実機、実機の結果を数値で評価、というサイクルを回した。</a:t>
            </a:r>
          </a:p>
          <a:p/>
          <a:p>
            <a:r>
              <a:t>[ ★強調（自分用） ]</a:t>
            </a:r>
          </a:p>
          <a:p>
            <a:r>
              <a:t>★ 『simと実機を行き来して検証した』丁寧さをアピール。</a:t>
            </a:r>
          </a:p>
          <a:p>
            <a:r>
              <a:t>★ delay_probeが“原因特定”の決め手だった点に触れてもよい。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554480" cy="1097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農業用ロボットの経路追従における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9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スパース最適制御 (Maximum Hands-off Control)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DE3EA"/>
                </a:solidFill>
                <a:latin typeface="Meiryo"/>
                <a:ea typeface="Meiryo"/>
                <a:cs typeface="Meiryo"/>
              </a:rPr>
              <a:t>第2回研究会発表 ―  これまでの取り組みの報告（4月28日〜6月13日）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922086  向川 航平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FD9E2"/>
                </a:solidFill>
                <a:latin typeface="Meiryo"/>
                <a:ea typeface="Meiryo"/>
                <a:cs typeface="Meiryo"/>
              </a:rP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OUTLINE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本日の内容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810512"/>
            <a:ext cx="9960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研究の背景と目的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なぜ『動かしすぎない』制御を考えるのか／用語の整理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944368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926079"/>
            <a:ext cx="9960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これまでの取り組み（経過報告）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シミュレーション → 実機の自立走行 → MPCの実装 → 実機での3者比較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9935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041648"/>
            <a:ext cx="9960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まとめ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分かったこと・現時点の整理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175503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4F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5157216"/>
            <a:ext cx="9960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使用したプログラムと解説（補足）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中核コードと役割の説明（時間に応じて取捨選択）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1.  研究の背景と目的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なぜ『動かしすぎない』制御を考えるのか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00200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農業の現場では人手不足・高齢化が進み、自動で走行するロボットへの期待が高まっている。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その基礎となる技術が「経路追従制御」＝あらかじめ決めた経路を、ロボットが正確に辿る制御。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一般的な制御は、経路に追従するために常に細かく操舵し続ける。しかしこれには弱点がある：</a:t>
            </a:r>
          </a:p>
          <a:p>
            <a:pPr algn="l" marL="384048" indent="0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モータ（アクチュエータ）の消耗・電力消費が大きい／滑りやすい圃場では小刻みな操舵がかえって乱れ（チャタリング）を生みやすい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そこで本研究は「必要な瞬間だけ操舵する」制御＝スパース最適制御（Maximum Hands-off Control）に着目する。</a:t>
            </a:r>
          </a:p>
          <a:p>
            <a:pPr algn="l" marL="384048" inden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“スパース”＝入力が時間的にスカスカ（多くの時間は操舵ゼロ）の意味。「ほとんど手を放していても、ちゃんと経路を追従できるか？」が問い。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1.  研究の背景と目的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研究の目的と、進め方（3つの制御を比べる）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87247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目的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経路追従において、制御入力（操舵）を時間的に疎にする手法を実機で評価する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手法の中心：MPC ＋ L1正則化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MPC（モデル予測制御）＝少し先の動きを予測し、最適な入力を毎周期計算する制御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その目的関数に L1正則化を足すと、入力が0に張り付きやすくなる（＝hands-off）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評価する4つの指標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追従精度（経路からのずれ RMSE）／消費エネルギー（Σ|u|）／操舵のスパース性（操舵しない時間の割合）／計算負荷（1周期の求解時間）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40573" y="1517904"/>
            <a:ext cx="4892753" cy="4526280"/>
          </a:xfrm>
          <a:prstGeom prst="roundRect">
            <a:avLst>
              <a:gd name="adj" fmla="val 4000"/>
            </a:avLst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4893" y="1755648"/>
            <a:ext cx="4453841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比べる3つの制御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Kanayama 法</a:t>
            </a:r>
          </a:p>
          <a:p>
            <a:pPr algn="l" marL="274320" indent="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古典的な経路追従フィードバック（基準）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L2-MPC</a:t>
            </a:r>
          </a:p>
          <a:p>
            <a:pPr algn="l" marL="274320" indent="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標準的な最適制御。入力はなめらか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L1-MPC （提案手法）</a:t>
            </a:r>
          </a:p>
          <a:p>
            <a:pPr algn="l" marL="274320" indent="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入力が疎（hands-off）になる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実機：LiteRover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小型ロボット（Raspberry Pi 4・ROS2）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これまでの取り組み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全体の流れ（4月28日〜6月13日）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461003"/>
            <a:ext cx="10874959" cy="27432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44772" y="1783080"/>
            <a:ext cx="768096" cy="457200"/>
          </a:xfrm>
          <a:prstGeom prst="roundRect">
            <a:avLst>
              <a:gd name="adj" fmla="val 18000"/>
            </a:avLst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4/28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86000"/>
            <a:ext cx="194090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スパース制御
シミュレーション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机上で原理を確認</a:t>
            </a:r>
          </a:p>
        </p:txBody>
      </p:sp>
      <p:sp>
        <p:nvSpPr>
          <p:cNvPr id="11" name="Chevron 10"/>
          <p:cNvSpPr/>
          <p:nvPr/>
        </p:nvSpPr>
        <p:spPr>
          <a:xfrm>
            <a:off x="2681569" y="3392424"/>
            <a:ext cx="146304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8286" y="1783080"/>
            <a:ext cx="768096" cy="45720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6月 上旬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91881" y="2286000"/>
            <a:ext cx="194090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実機の基盤づくり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ROS2 / LiDAR / SLAM</a:t>
            </a:r>
          </a:p>
        </p:txBody>
      </p:sp>
      <p:sp>
        <p:nvSpPr>
          <p:cNvPr id="14" name="Chevron 13"/>
          <p:cNvSpPr/>
          <p:nvPr/>
        </p:nvSpPr>
        <p:spPr>
          <a:xfrm>
            <a:off x="4915082" y="3392424"/>
            <a:ext cx="146304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1799" y="1783080"/>
            <a:ext cx="768096" cy="45720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6/12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5394" y="2286000"/>
            <a:ext cx="194090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実機で自立走行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古典制御で床を走破</a:t>
            </a:r>
          </a:p>
        </p:txBody>
      </p:sp>
      <p:sp>
        <p:nvSpPr>
          <p:cNvPr id="17" name="Chevron 16"/>
          <p:cNvSpPr/>
          <p:nvPr/>
        </p:nvSpPr>
        <p:spPr>
          <a:xfrm>
            <a:off x="7148596" y="3392424"/>
            <a:ext cx="146304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45313" y="1783080"/>
            <a:ext cx="768096" cy="457200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8908" y="2286000"/>
            <a:ext cx="194090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MPCの実装
(L2 → L1)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求解ベンチ / sim</a:t>
            </a:r>
          </a:p>
        </p:txBody>
      </p:sp>
      <p:sp>
        <p:nvSpPr>
          <p:cNvPr id="20" name="Chevron 19"/>
          <p:cNvSpPr/>
          <p:nvPr/>
        </p:nvSpPr>
        <p:spPr>
          <a:xfrm>
            <a:off x="9382109" y="3392424"/>
            <a:ext cx="146304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78826" y="1783080"/>
            <a:ext cx="768096" cy="457200"/>
          </a:xfrm>
          <a:prstGeom prst="roundRect">
            <a:avLst>
              <a:gd name="adj" fmla="val 18000"/>
            </a:avLst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6/13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92421" y="2286000"/>
            <a:ext cx="194090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実機で3者比較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直線・L字で計測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212080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机上のシミュレーションで原理を確かめてから、実機の土台（ロボットを自分で走らせる仕組み）を整え、その上にMPCを実装して、最後に実機で3つの制御を比べた、という順番で進めた。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机上のシミュレーション ― スパース制御の原理を確認（4/28）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11123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やったこと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ロボットの運動モデルを作り、「目標に到達する入力のうち、操舵をできるだけ使わない（L1ノルム最小）もの」を最適化で求めた。</a:t>
            </a:r>
          </a:p>
          <a:p>
            <a:pPr algn="l" marL="384048" indent="0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min ‖u‖₁  （操舵の総量を最小化） s.t. 終端で誤差0, 入力上限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条件：周期0.1s, 速度1.0m/s, 50ステップ, 初期ずれ(2m,1m,30°)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結果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目標へ誤差ほぼ0で到達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操舵入力の 78% が厳密にゼロ（ほとんどの時間は操舵せず、要所だけ動かす）</a:t>
            </a:r>
          </a:p>
        </p:txBody>
      </p:sp>
      <p:pic>
        <p:nvPicPr>
          <p:cNvPr id="9" name="Picture 8" descr="sparse_open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038" y="1691640"/>
            <a:ext cx="5672288" cy="20969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9598" y="5074920"/>
            <a:ext cx="5763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左：誤差が0へ収束（到達）／右：操舵δωの78%が厳密に0（スパース）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1038" y="5440680"/>
            <a:ext cx="567228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ただしこれは一度きりの計算（オープンループ）。外乱があると誤差が積み重なる→ 毎周期やり直す制御（MPC）が必要、という次への橋渡し。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②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実機の基盤づくり ― 自分でロボットを走らせる仕組み（6月上旬）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65249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市販ロボット LiteRover（Raspberry Pi 4・ROS2）の公式サンプルを土台に、実験できる環境を整えた。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LiDAR（レーザ距離センサ）を接続し、SLAM で周囲の地図を作成（自己位置と地図を同時に推定する技術）</a:t>
            </a:r>
          </a:p>
          <a:p>
            <a:pPr algn="l" marL="384048" indent="0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ケーブル不良やソフトの互換性問題などを一つずつ解消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ノート PC とロボット間の無線通信（DDS）は安定せず</a:t>
            </a:r>
          </a:p>
          <a:p>
            <a:pPr algn="l" marL="384048" indent="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→ 全プログラムをロボット上で動かし、結果だけ後で回収する方式に切り替えて回避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設計の工夫：制御の中身（純粋な計算部分）と ROS の通信部分を分離</a:t>
            </a:r>
          </a:p>
          <a:p>
            <a:pPr algn="l" marL="384048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→ 制御則を後から L1-MPC に差し替えても、経路や誤差の計算をそのまま再利用できる</a:t>
            </a:r>
          </a:p>
        </p:txBody>
      </p:sp>
      <p:pic>
        <p:nvPicPr>
          <p:cNvPr id="9" name="Picture 8" descr="map_room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503" y="1837282"/>
            <a:ext cx="4212823" cy="32748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83343" y="5257800"/>
            <a:ext cx="4349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作成した周囲の地図（SLAM・約7×8.6m）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実機で自立走行 ― まず古典制御（Kanayama 法）で（6/12）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1087495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比較の基準となる古典制御（Kanayama 法：経路からのずれを見て操舵量を決めるフィードバック制御）を実装し、ロボットの自己位置だけを頼りに床を自立走行させた。直線2m を3本と、L字（90°旋回入り）を完走した。</a:t>
            </a:r>
          </a:p>
        </p:txBody>
      </p:sp>
      <p:sp>
        <p:nvSpPr>
          <p:cNvPr id="9" name="Round Same Side Corner Rectangle 8"/>
          <p:cNvSpPr/>
          <p:nvPr/>
        </p:nvSpPr>
        <p:spPr>
          <a:xfrm>
            <a:off x="658368" y="3200400"/>
            <a:ext cx="3411626" cy="457200"/>
          </a:xfrm>
          <a:prstGeom prst="round2Same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200400"/>
            <a:ext cx="341162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直線2m ×3本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57600"/>
            <a:ext cx="3411626" cy="12344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657600"/>
            <a:ext cx="308244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完走・自動停止
ほぼ真っ直ぐ走行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90034" y="3200400"/>
            <a:ext cx="3411626" cy="457200"/>
          </a:xfrm>
          <a:prstGeom prst="round2Same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0034" y="3200400"/>
            <a:ext cx="341162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L字（90°旋回）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0034" y="3657600"/>
            <a:ext cx="3411626" cy="12344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4626" y="3657600"/>
            <a:ext cx="308244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完走。ただし旋回角が
実測80°（10°不足）</a:t>
            </a:r>
          </a:p>
        </p:txBody>
      </p:sp>
      <p:sp>
        <p:nvSpPr>
          <p:cNvPr id="17" name="Round Same Side Corner Rectangle 16"/>
          <p:cNvSpPr/>
          <p:nvPr/>
        </p:nvSpPr>
        <p:spPr>
          <a:xfrm>
            <a:off x="8121700" y="3200400"/>
            <a:ext cx="3411626" cy="457200"/>
          </a:xfrm>
          <a:prstGeom prst="round2Same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3200400"/>
            <a:ext cx="341162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回転の誤差を補正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1700" y="3657600"/>
            <a:ext cx="3411626" cy="123444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292" y="3657600"/>
            <a:ext cx="308244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車輪間隔の定数を調整
→ ほぼ90°に改善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21208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分かったこと：旋回の角度に系統的な誤差（約11%多く回ったと誤認）。原因は旋回時の車輪の滑りと、車輪間隔の設定値のずれ。設定値を補正してほぼ90°に改善した。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6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→ ロボット自身の位置推定（オドメトリ）は『回転』に弱い、と把握。実機ならではの学び。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④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計算が間に合うかの確認 ― 実現可能性のゲート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11123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なぜ必要か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MPC は毎周期“最適化計算”を解く。非力な Raspberry Pi で、制御周期 0.1秒 以内に解き終わらないと、リアルタイムの制御が成立しない。</a:t>
            </a:r>
          </a:p>
          <a:p>
            <a:pPr algn="l" marL="384048" indent="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そこで本格実装の前に、解けるかどうかを最初に確認した。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方法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予測の長さ N を変えて求解時間を計測（p95＝95%がこの時間以内）。電源の電圧低下も同時に監視。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結果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N＝30 まで 0.1秒以内・電圧低下なし → 通過</a:t>
            </a:r>
          </a:p>
          <a:p>
            <a:pPr algn="l" marL="384048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実際の実験では余裕をみて N＝15 を主に使う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3918" y="2148840"/>
            <a:ext cx="5306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Raspberry Pi 4 実測 ― 求解時間 p95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3918" y="2514600"/>
          <a:ext cx="5306526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089"/>
                <a:gridCol w="1273566"/>
                <a:gridCol w="1273566"/>
                <a:gridCol w="1061305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予測長 N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L2  p95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L1  p95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間に合う?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15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16.6 ms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18.0 ms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20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14.3 ms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21.6 ms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30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17.7 ms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29.2 ms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○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43918" y="4572000"/>
            <a:ext cx="53065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提案手法 L1 は計算が重い（L2 の約1.5倍）が、それでも周期内に収まる。「L1は操舵を減らすが計算は増える」というトレードオフの最初の数値。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MPC の実装(1) ― 標準形 L2-MPC（基準を作る）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4374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MPC とは（おさらい）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少し先（今回は1.5秒先）までの動きを予測し、経路に最もよく沿う入力列を計算。その先頭だけ実行し、次の周期でまた計算し直す。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やったこと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この MPC の骨格を実装し、ロボットの運動を模したシミュレーションで検証</a:t>
            </a:r>
          </a:p>
          <a:p>
            <a:pPr algn="l" marL="384048" indent="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入力の上限や、無理のない終端条件などを組み込み、5ケースすべてで到達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結果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経路からのずれ（RMSE）が、基準の Kanayama を全ケースで下回った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2286000"/>
            <a:ext cx="4980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経路からのずれ RMSE（小さいほど良い）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70167" y="2651760"/>
          <a:ext cx="4980278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0928"/>
                <a:gridCol w="1344675"/>
                <a:gridCol w="1344675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ケース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Kanayama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L2-MPC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直線（横20cmずれ）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16.9 cm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12.5 cm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L字（経路上）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11.6 cm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2.2 cm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L字（横15cmずれ）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12.6 cm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5.9 cm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70167" y="4617720"/>
            <a:ext cx="49802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“先を予測して最適化する”分、古典制御より上手に経路へ寄せられる。まずこの L2-MPC を土台（基準）として固め、次にコスト関数だけを L1 に変える。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MPC の実装(2) ― L1 で疎にする／さじ加減(λ)を探る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511123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L2 と L1 の違い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L2：入力を“二乗”で罰する → 小さな操舵を満遍なく使い、なめらか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L1：入力を“絶対値”で罰する → 多くの操舵が厳密に0になり、疎（hands-off）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コスト関数を1行変えるだけで L2→L1 に切替（同じ骨格で公平に比較）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さじ加減 λ を振って調べた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λ を上げるほど操舵は減る（疎）が、追従は甘くなるトレードオフ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λ≈0.25 では、精度もエネルギーも L2 をわずかに上回る良い領域</a:t>
            </a:r>
          </a:p>
        </p:txBody>
      </p:sp>
      <p:pic>
        <p:nvPicPr>
          <p:cNvPr id="9" name="Picture 8" descr="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983" y="1737360"/>
            <a:ext cx="54864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9598" y="5440680"/>
            <a:ext cx="5763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左下ほど良い（縦＝ずれ・横＝操舵の総量）。λを下げると L2 の左下に回り込む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実機で3者比較(1) ― 直線2m（メジャーで“真の精度”を測る）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1087495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床で Kanayama / L2 / L1 を実際に走らせ、1本ごとにメジャーで実測した。ロボット自身の自己位置は“滑り”を見られないため、外部からの実測（真値）で追従精度を評価した。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468879"/>
            <a:ext cx="4206240" cy="384048"/>
          </a:xfrm>
          <a:prstGeom prst="roundRect">
            <a:avLst>
              <a:gd name="adj" fmla="val 18000"/>
            </a:avLst>
          </a:prstGeom>
          <a:solidFill>
            <a:srgbClr val="12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経路からの横ずれ（小さいほど正確）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8036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F6F8F9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008376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L1-MPC（提案）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2E8B57"/>
                </a:solidFill>
                <a:latin typeface="Meiryo"/>
                <a:ea typeface="Meiryo"/>
                <a:cs typeface="Meiryo"/>
              </a:rPr>
              <a:t>0 cm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8B57"/>
                </a:solidFill>
                <a:latin typeface="Meiryo"/>
                <a:ea typeface="Meiryo"/>
                <a:cs typeface="Meiryo"/>
              </a:rPr>
              <a:t>最も正確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3048" y="288036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F6F8F9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3008376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L2-MPC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4 cm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288036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F6F8F9"/>
          </a:solidFill>
          <a:ln w="19050">
            <a:solidFill>
              <a:srgbClr val="C0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3008376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Kanayama（古典）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C0433B"/>
                </a:solidFill>
                <a:latin typeface="Meiryo"/>
                <a:ea typeface="Meiryo"/>
                <a:cs typeface="Meiryo"/>
              </a:rPr>
              <a:t>14–15 cm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0433B"/>
                </a:solidFill>
                <a:latin typeface="Meiryo"/>
                <a:ea typeface="Meiryo"/>
                <a:cs typeface="Meiryo"/>
              </a:rPr>
              <a:t>最もずれた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72000"/>
            <a:ext cx="1087495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提案手法 L1 が、実測では最も正確に経路を辿った（横ずれ 0cm）。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計算負荷：Kanayama ほぼ0 ＜ L2（約44ms）＜ L1（約50ms）。3つとも 0.1秒周期に収まる。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注意：ロボット自身の自己位置だけで見ると L2 が良く見えるが、これは滑りを観測できないため。追従の“本当の”精度を測るには外部からの実測が要る、という気づきが得られた。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実機で3者比較(2) ― L字（曲がり角での挙動）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63040"/>
            <a:ext cx="4567482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直線では差が小さかったため、操舵が要る L字（90°の曲がり角）でも比較した。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実機での結果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提案手法 L1 が、曲がり角で操舵を左右に細かく振動させた（チャタリング）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操舵の総量 Σ|u|：L2 4.5 / Kanayama 4.9 に対し L1 は 20.7（約4.5倍）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–  操舵の向きの反転：L2 0回 に対し L1 は 15回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L2 は小さな半径できれいに90°旋回。L1 は左右に蛇行し、最終的な向きにずれが残った。</a:t>
            </a:r>
          </a:p>
        </p:txBody>
      </p:sp>
      <p:pic>
        <p:nvPicPr>
          <p:cNvPr id="9" name="Picture 8" descr="2026-06-13_Ltur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90" y="1600200"/>
            <a:ext cx="6216036" cy="20202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5850" y="4892040"/>
            <a:ext cx="63074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中央＝操舵角の時間変化。L1（赤）は曲がり角の後、上限の間を15回往復している。L2（青）は1回で滑らか。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7290" y="5303520"/>
            <a:ext cx="62160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当初は『曲線でこそスパース制御が活きる』と予想していたが、実機では逆に L1 だけが振動した。シミュレーション上は起きなかった現象で、実機ならではの結果だった。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2.  取り組み 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なぜ振動したか ― 原因の特定と対策（sim で確認）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1371600" cy="384048"/>
          </a:xfrm>
          <a:prstGeom prst="roundRect">
            <a:avLst>
              <a:gd name="adj" fmla="val 18000"/>
            </a:avLst>
          </a:prstGeom>
          <a:solidFill>
            <a:srgbClr val="C0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84831"/>
            <a:ext cx="525459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シミュレーション（理想）では L1 も振動しなかった。実機だけにある要因＝“遅れ”を疑った。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計算と通信で約0.2秒の遅れがある。これをシミュレーションに加えると、L1 だけが実機と同じように振動した（数値もほぼ一致）。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仕組み：L1 は“ゼロか最大か”の切替的な操舵になりやすく、反応が遅れると行き過ぎ→戻し過ぎを繰り返して振動する。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L2 はなめらかなので、同じ遅れでも振動しなかった。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1554480"/>
            <a:ext cx="1371600" cy="384048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対策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7287" y="2084831"/>
            <a:ext cx="53460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「操舵を急に変えすぎない」ペナルティ（移動抑制）を MPC に追加した。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シミュレーション上では、この対策で振動がほぼ消えた。</a:t>
            </a:r>
          </a:p>
          <a:p>
            <a:pPr algn="l" marL="384048" indent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操舵の向きの反転：19回 → 1回</a:t>
            </a:r>
          </a:p>
          <a:p>
            <a:pPr algn="l" marL="384048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しかも、操舵を疎にする性質（hands-off）は保たれた。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E8B57"/>
                </a:solidFill>
                <a:latin typeface="Meiryo"/>
                <a:ea typeface="Meiryo"/>
                <a:cs typeface="Meiryo"/>
              </a:rPr>
              <a:t>→「問題 → 原因 → 対策」をシミュレーションで一通り確認できた。実機での検証は今後行う。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7559" y="1783080"/>
            <a:ext cx="18288" cy="4114800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3.  まとめ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分かったこと・現時点の整理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やったこと：机上のシミュレーション → 実機の基盤づくり → 古典制御で自立走行 → MPC（L2／L1）の実装 → 実機で3者比較 → 振動の原因究明と対策。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487168"/>
            <a:ext cx="512064" cy="512064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432304"/>
            <a:ext cx="10033711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予測する制御（MPC）は、古典制御より経路に正確に追従できた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直線でも L字でも、経路からのずれが小さかった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28416"/>
            <a:ext cx="512064" cy="512064"/>
          </a:xfrm>
          <a:prstGeom prst="roundRect">
            <a:avLst>
              <a:gd name="adj" fmla="val 18000"/>
            </a:avLst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273552"/>
            <a:ext cx="10033711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提案手法 L1（疎な操舵）の効きは、条件で大きく変わった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直線では最も正確。一方、曲がり角では操舵が振動した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69664"/>
            <a:ext cx="512064" cy="512064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4114800"/>
            <a:ext cx="10033711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その振動は実機の“遅れ”が原因で、対策の見込みも得られた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シミュレーションでは見えず、実機で初めて分かった現象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010912"/>
            <a:ext cx="512064" cy="512064"/>
          </a:xfrm>
          <a:prstGeom prst="roundRect">
            <a:avLst>
              <a:gd name="adj" fmla="val 18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4956048"/>
            <a:ext cx="10033711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「操舵は減るが計算は増える」トレードオフを実機で数値化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提案手法の利点と費用を、同じ土俵で比べられるようにした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43600"/>
            <a:ext cx="10874959" cy="420624"/>
          </a:xfrm>
          <a:prstGeom prst="roundRect">
            <a:avLst>
              <a:gd name="adj" fmla="val 30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4659"/>
                </a:solidFill>
                <a:latin typeface="Meiryo"/>
                <a:ea typeface="Meiryo"/>
                <a:cs typeface="Meiryo"/>
              </a:rPr>
              <a:t>現時点では、安定して良好なのは L2-MPC。提案手法 L1 は条件しだいで、実機での検証を続けている。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46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CDE3EA"/>
                </a:solidFill>
                <a:latin typeface="Meiryo"/>
                <a:ea typeface="Meiryo"/>
                <a:cs typeface="Meiryo"/>
              </a:rPr>
              <a:t>APPENDIX ／ 補足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使用したプログラムと解説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DE3EA"/>
                </a:solidFill>
                <a:latin typeface="Meiryo"/>
                <a:ea typeface="Meiryo"/>
                <a:cs typeface="Meiryo"/>
              </a:rPr>
              <a:t>研究で実装した中核プログラムと、その役割・考え方（時間に応じて取捨選択）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プログラム全体の構成と使用技術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2375839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A95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/odom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自己位置 (x,y,θ)</a:t>
            </a:r>
          </a:p>
        </p:txBody>
      </p:sp>
      <p:sp>
        <p:nvSpPr>
          <p:cNvPr id="9" name="Chevron 8"/>
          <p:cNvSpPr/>
          <p:nvPr/>
        </p:nvSpPr>
        <p:spPr>
          <a:xfrm>
            <a:off x="3171367" y="2029968"/>
            <a:ext cx="182880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1407" y="1600200"/>
            <a:ext cx="2375839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follower_core.py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参照姿勢・誤差を計算</a:t>
            </a:r>
          </a:p>
        </p:txBody>
      </p:sp>
      <p:sp>
        <p:nvSpPr>
          <p:cNvPr id="11" name="Chevron 10"/>
          <p:cNvSpPr/>
          <p:nvPr/>
        </p:nvSpPr>
        <p:spPr>
          <a:xfrm>
            <a:off x="6004407" y="2029968"/>
            <a:ext cx="182880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24447" y="1600200"/>
            <a:ext cx="2375839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mpc_core.py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最適化で (v,ω) を決定</a:t>
            </a:r>
          </a:p>
        </p:txBody>
      </p:sp>
      <p:sp>
        <p:nvSpPr>
          <p:cNvPr id="13" name="Chevron 12"/>
          <p:cNvSpPr/>
          <p:nvPr/>
        </p:nvSpPr>
        <p:spPr>
          <a:xfrm>
            <a:off x="8837447" y="2029968"/>
            <a:ext cx="182880" cy="164592"/>
          </a:xfrm>
          <a:prstGeom prst="chevron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57487" y="1600200"/>
            <a:ext cx="2375839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A95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rover_twist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ロボットへ速度指令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017520"/>
            <a:ext cx="5254599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中核プログラム（自作）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follower_core.py … 経路射影・誤差計算・Kanayama制御則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mpc_core.py … L2／L1 スパースMPCの本体（提案手法）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mpc_follower.py ／ path_follower.py … 実機ROSノード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017520"/>
            <a:ext cx="5346039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検証・解析（自作）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bench_qp.py … RPiの求解時間ベンチ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test_mpc_sim.py … シミュレーション検証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sweep_lambda.py … λスイープ集計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sim_delay_probe.py … 遅延でチャタ再現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analyze_bag.py … rosbagから4指標算出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852160"/>
            <a:ext cx="10874959" cy="502920"/>
          </a:xfrm>
          <a:prstGeom prst="roundRect">
            <a:avLst>
              <a:gd name="adj" fmla="val 25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4659"/>
                </a:solidFill>
                <a:latin typeface="Meiryo"/>
                <a:ea typeface="Meiryo"/>
                <a:cs typeface="Meiryo"/>
              </a:rPr>
              <a:t>使用技術：Python ／ 最適化 cvxpy + OSQP（線形MPC＝QP）／ numpy ／ ROS2 (rclpy)　※将来：CasADi + IPOPT で非線形MPC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経路の誤差計算と古典制御（follower_core.py）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6524975" cy="3246120"/>
          </a:xfrm>
          <a:prstGeom prst="roundRect">
            <a:avLst>
              <a:gd name="adj" fmla="val 2500"/>
            </a:avLst>
          </a:prstGeom>
          <a:solidFill>
            <a:srgbClr val="F4F6F8"/>
          </a:solidFill>
          <a:ln w="12700">
            <a:solidFill>
              <a:srgbClr val="DC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45920"/>
            <a:ext cx="64008" cy="3099815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91640"/>
            <a:ext cx="6195791" cy="30083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def tracking_error(x, y, th, x_r, y_r, th_r):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経路上の参照姿勢に対する「ずれ」（ロボット座標系）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x_e =  math.cos(th)*(x_r-x) + math.sin(th)*(y_r-y)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y_e = -math.sin(th)*(x_r-x) + math.cos(th)*(y_r-y)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th_e = normalize_angle(th_r - th)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return x_e, y_e, th_e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def kanayama_cmd(x_e, y_e, th_e, v_r, k_x, k_y, k_th):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古典的フィードバック制御則  →  (v, ω)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v = v_r*math.cos(th_e) + k_x * x_e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w = v_r*(k_y * y_e + k_th * math.sin(th_e))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return v,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11943" y="1645920"/>
            <a:ext cx="4121383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何をしている？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経路上の目標点に対するずれを、ロボットから見た前後・左右・向きの誤差 (x_e, y_e, θ_e) に変換する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Kanayama 法は、その誤差に比例ゲインを掛けて速度 v と角速度 ω を決める素直な制御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ポイント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予測をしない（今のずれだけで決める）→ 比較の「基準」に使う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この誤差計算は MPC でもそのまま再利用する共通の土台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②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スパース最適制御の原理（4/28・cvxpy）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6524975" cy="2651760"/>
          </a:xfrm>
          <a:prstGeom prst="roundRect">
            <a:avLst>
              <a:gd name="adj" fmla="val 2500"/>
            </a:avLst>
          </a:prstGeom>
          <a:solidFill>
            <a:srgbClr val="F4F6F8"/>
          </a:solidFill>
          <a:ln w="12700">
            <a:solidFill>
              <a:srgbClr val="DC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45920"/>
            <a:ext cx="64008" cy="2505456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91640"/>
            <a:ext cx="6195791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状態遷移を n ステップ展開 → 終端で誤差0 を  Phi z = zeta  で表す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z = cp.Variable(2 * n)          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全ステップ分の入力をまとめた変数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prob = cp.Problem(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cp.Minimize(cp.norm1(z)),   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★ 操舵の総量(L1)を最小化 ＝ 疎に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[Phi @ z == zeta,           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目標到達を保証（等式制約）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 cp.norm_inf(z) &lt;= 1])      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入力の上限（モータ飽和）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prob.solve()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→ 結果: 操舵 δω の 78% が厳密に 0（ほとんど操舵せず到達）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11943" y="1645920"/>
            <a:ext cx="4121383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何をしている？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「目標に着く入力のうち、操舵の総量（L1ノルム）が最小のもの」を最適化で求める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L1ノルム（絶対値の和）を最小化すると、多くの入力が“厳密に0”になる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ポイント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これがスパース制御（hands-off）の数学的な核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cvxpy は最適化問題を数式に近い形で書けるのが利点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MPC本体・L2／L1の切替（mpc_core.py）★中心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6742474" cy="4069080"/>
          </a:xfrm>
          <a:prstGeom prst="roundRect">
            <a:avLst>
              <a:gd name="adj" fmla="val 2500"/>
            </a:avLst>
          </a:prstGeom>
          <a:solidFill>
            <a:srgbClr val="F4F6F8"/>
          </a:solidFill>
          <a:ln w="12700">
            <a:solidFill>
              <a:srgbClr val="DC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64008" cy="3922776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55064"/>
            <a:ext cx="6413290" cy="3831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cost = 0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constr = [z[:, 0] == z0]        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初期状態 = 現在の誤差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for k in range(N):              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N ステップ先まで予測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cost += cp.quad_form(z[:, k], Q)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経路からのずれを罰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if reg == "l1":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    cost += lam * cp.norm1(du[:, k])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★ L1: 操舵を疎に（提案）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else: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    cost += cp.quad_form(du[:, k], R)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L2: なめらか（基準）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constr += [z[:, k+1] == A @ z[:, k] + B @ du[:, k]]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運動モデル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constr += [cp.abs(u_nom + du[:, k]) &lt;= u_max]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速度の上限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cost += cp.quad_form(z[:, N], Qf)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終端のずれ（ソフト）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self.prob = cp.Problem(cp.Minimize(cost), constr)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2010" y="1627632"/>
            <a:ext cx="3931316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提案手法の心臓部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N ステップ先まで予測し、「経路からのずれ＋操舵のペナルティ」の合計を最小化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L1 と L2 の違いは★の1行だけ</a:t>
            </a:r>
          </a:p>
          <a:p>
            <a:pPr algn="l" marL="347472" indent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norm1 → L1（疎）／ quad_form → L2（なめらか）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同じ骨格で1行だけ変える → L1 の効果を公平に比較できる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●  毎周期 A,B,z0 だけ差し替えて高速に解き直す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97880"/>
            <a:ext cx="6742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※ self. などは紙面の都合で一部省略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④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振動（チャタ）への対策：移動抑制（mpc_core.py）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6524975" cy="2148840"/>
          </a:xfrm>
          <a:prstGeom prst="roundRect">
            <a:avLst>
              <a:gd name="adj" fmla="val 2500"/>
            </a:avLst>
          </a:prstGeom>
          <a:solidFill>
            <a:srgbClr val="F4F6F8"/>
          </a:solidFill>
          <a:ln w="12700">
            <a:solidFill>
              <a:srgbClr val="DC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45920"/>
            <a:ext cx="64008" cy="2002536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91640"/>
            <a:ext cx="6195791" cy="19110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実機の遅れで起きた振動(チャタ)への対策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既定 0 で従来と同じ ＝ 後方互換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if move_suppress &gt; 0: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prev = du_prev if k == 0 else du[:, k-1]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cost += move_suppress * cp.sum_squares(du[:, k] - prev)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1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  ↑ 操舵を前ステップから急に変えると罰する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11943" y="1645920"/>
            <a:ext cx="4121383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何をしている？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1つ前の操舵との差を二乗で罰する＝操舵を急に変えにくくする項を足す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効果（シミュレーション）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操舵の向きの反転：19回 → 1回。振動がほぼ消えた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疎にする性質（hands-off）は保たれた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既定0なので過去の結果は変わらない。実機での確認は今後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実機の制御ループ（mpc_follower.py）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6742474" cy="3429000"/>
          </a:xfrm>
          <a:prstGeom prst="roundRect">
            <a:avLst>
              <a:gd name="adj" fmla="val 2500"/>
            </a:avLst>
          </a:prstGeom>
          <a:solidFill>
            <a:srgbClr val="F4F6F8"/>
          </a:solidFill>
          <a:ln w="12700">
            <a:solidFill>
              <a:srgbClr val="DC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64008" cy="3282696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55064"/>
            <a:ext cx="6413290" cy="3191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def control_step(self):  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制御周期ごと(10Hz)に実行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x, y, th = self.pose 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odom から現在の姿勢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if goal_dist &lt; goal_tol or goal_crossed(...):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ゴールなら停止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    self.cmd_pub.publish(Twist()); return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参照姿勢 → 誤差 → MPC → 速度指令 の順に処理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x_r, y_r, th_r = reference_pose(waypoints, x, y, lookahead)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x_e, y_e, th_e = tracking_error(x, y, th, x_r, y_r, th_r)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v_r = goal_scaled_vr(v_r, goal_dist)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ゴール前で減速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v, w = self.mpc.command(x_e, y_e, th_e, v_r)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★ ここがMPC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cmd = Twist(); cmd.linear.x = v; cmd.angular.z = w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00">
                <a:solidFill>
                  <a:srgbClr val="202A33"/>
                </a:solidFill>
                <a:latin typeface="MS Gothic"/>
                <a:ea typeface="MS Gothic"/>
                <a:cs typeface="MS Gothic"/>
              </a:rPr>
              <a:t>    self.cmd_pub.publish(cmd)                        </a:t>
            </a:r>
            <a:r>
              <a:rPr sz="1000">
                <a:solidFill>
                  <a:srgbClr val="3C8C7C"/>
                </a:solidFill>
                <a:latin typeface="MS Gothic"/>
                <a:ea typeface="MS Gothic"/>
                <a:cs typeface="MS Gothic"/>
              </a:rPr>
              <a:t># rover_twist で配信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2010" y="1627632"/>
            <a:ext cx="3931316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8B"/>
                </a:solidFill>
                <a:latin typeface="Meiryo"/>
                <a:ea typeface="Meiryo"/>
                <a:cs typeface="Meiryo"/>
              </a:rPr>
              <a:t>何をしている？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0.1秒ごとに、自己位置→経路上の参照点→誤差→MPCで(v,ω)→ロボットへ、を実行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3者比較の仕掛け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●  ★の1行を kanayama_cmd(...) に変えるだけで Kanayama 版になる</a:t>
            </a:r>
          </a:p>
          <a:p>
            <a:pPr algn="l" marL="347472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→ L1・L2・Kanayama を同じ枠組みで公平に比較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5A63"/>
                </a:solidFill>
                <a:latin typeface="Meiryo"/>
                <a:ea typeface="Meiryo"/>
                <a:cs typeface="Meiryo"/>
              </a:rPr>
              <a:t>▸  安全機構：odom途絶・求解失敗時は停止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48640"/>
            <a:ext cx="91440" cy="566928"/>
          </a:xfrm>
          <a:prstGeom prst="rect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3891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7A3F"/>
                </a:solidFill>
                <a:latin typeface="Meiryo"/>
                <a:ea typeface="Meiryo"/>
                <a:cs typeface="Meiryo"/>
              </a:rPr>
              <a:t>補足 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プログラム解説 ― 検証・解析のツール群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20116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8A959E"/>
                </a:solidFill>
                <a:latin typeface="Meiryo"/>
                <a:ea typeface="Meiryo"/>
                <a:cs typeface="Meiryo"/>
              </a:rPr>
              <a:t>スパース最適制御による経路追従 — 第2回研究会発表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556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4F5A63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54480"/>
            <a:ext cx="1087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3292F"/>
                </a:solidFill>
                <a:latin typeface="Meiryo"/>
                <a:ea typeface="Meiryo"/>
                <a:cs typeface="Meiryo"/>
              </a:rPr>
              <a:t>「実機に載せる前にシミュレーションで確かめ、実機の結果を数値で評価する」ために自作した補助ツール。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377440"/>
          <a:ext cx="10874958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9990"/>
                <a:gridCol w="8264968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役割</a:t>
                      </a:r>
                    </a:p>
                  </a:txBody>
                  <a:tcPr marL="109728" marR="54864" marT="18288" marB="18288" anchor="ctr">
                    <a:solidFill>
                      <a:srgbClr val="1F6F8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bench_qp.py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RPi4 で QP の求解時間を計測し、制御周期内に解けるか判定（実現可能性ゲート）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test_mpc_sim.py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非線形の運動モデル上で MPC をクローズドループ検証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sweep_lambda.py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重み λ を振り、スパース性↔追従精度のトレードオフを集計・作図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sim_delay_probe.py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入力遅延を加え、L1 のチャタを再現して原因を特定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analyze_bag.py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3292F"/>
                          </a:solidFill>
                          <a:latin typeface="Meiryo"/>
                          <a:ea typeface="Meiryo"/>
                          <a:cs typeface="Meiryo"/>
                        </a:rPr>
                        <a:t>実走の rosbag から4指標（精度／エネルギー／疎性／計算時間）を自動算出</a:t>
                      </a:r>
                    </a:p>
                  </a:txBody>
                  <a:tcPr marL="109728" marR="54864" marT="18288" marB="18288" anchor="ctr">
                    <a:solidFill>
                      <a:srgbClr val="F6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