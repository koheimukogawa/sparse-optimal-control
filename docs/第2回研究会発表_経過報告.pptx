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4"/>
  </p:notesMasterIdLst>
  <p:sldIdLst>
    <p:sldId id="256" r:id="rId2"/>
    <p:sldId id="257" r:id="rId3"/>
    <p:sldId id="279" r:id="rId4"/>
    <p:sldId id="280" r:id="rId5"/>
    <p:sldId id="281" r:id="rId6"/>
    <p:sldId id="282" r:id="rId7"/>
    <p:sldId id="283" r:id="rId8"/>
    <p:sldId id="284" r:id="rId9"/>
    <p:sldId id="285" r:id="rId10"/>
    <p:sldId id="286" r:id="rId11"/>
    <p:sldId id="287" r:id="rId12"/>
    <p:sldId id="258" r:id="rId13"/>
    <p:sldId id="259" r:id="rId14"/>
    <p:sldId id="260" r:id="rId15"/>
    <p:sldId id="261" r:id="rId16"/>
    <p:sldId id="262" r:id="rId17"/>
    <p:sldId id="263" r:id="rId18"/>
    <p:sldId id="264" r:id="rId19"/>
    <p:sldId id="265" r:id="rId20"/>
    <p:sldId id="266" r:id="rId21"/>
    <p:sldId id="267" r:id="rId22"/>
    <p:sldId id="268" r:id="rId23"/>
    <p:sldId id="269" r:id="rId24"/>
    <p:sldId id="270" r:id="rId25"/>
    <p:sldId id="271" r:id="rId26"/>
    <p:sldId id="272" r:id="rId27"/>
    <p:sldId id="273" r:id="rId28"/>
    <p:sldId id="274" r:id="rId29"/>
    <p:sldId id="275" r:id="rId30"/>
    <p:sldId id="276" r:id="rId31"/>
    <p:sldId id="277" r:id="rId32"/>
    <p:sldId id="278" r:id="rId3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132" y="165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175480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《スライド1》表紙  （目安 0:20）</a:t>
            </a:r>
          </a:p>
          <a:p>
            <a:endParaRPr/>
          </a:p>
          <a:p>
            <a:r>
              <a:t>[ 話す ]</a:t>
            </a:r>
          </a:p>
          <a:p>
            <a:r>
              <a:t>・第2回研究会発表を始める。テーマは農業用ロボットの経路追従におけるスパース最適制御。</a:t>
            </a:r>
          </a:p>
          <a:p>
            <a:r>
              <a:t>・前回（4月）以降にやってきたことを、順を追って報告する。</a:t>
            </a:r>
          </a:p>
          <a:p>
            <a:endParaRPr/>
          </a:p>
          <a:p>
            <a:r>
              <a:t>[ ★強調（自分用） ]</a:t>
            </a:r>
          </a:p>
          <a:p>
            <a:r>
              <a:t>★ 最初の一言で『制御の手数（操舵）を最小限にする研究です』と一言で言い切る。</a:t>
            </a:r>
          </a:p>
          <a:p>
            <a:r>
              <a:t>★ 聴衆は他分野の学生もいる前提で、専門用語はこの後ていねいに説明すると予告する。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《スライド2》目次  （目安 0:20）</a:t>
            </a:r>
          </a:p>
          <a:p>
            <a:endParaRPr/>
          </a:p>
          <a:p>
            <a:r>
              <a:t>[ 話す ]</a:t>
            </a:r>
          </a:p>
          <a:p>
            <a:r>
              <a:t>・話の流れは3部構成。まず背景と目的、つぎに実際にやったこと、最後にまとめ。</a:t>
            </a:r>
          </a:p>
          <a:p>
            <a:r>
              <a:t>・今日は『何をやったか』を中心に話す。理論の詳細は最小限にする。</a:t>
            </a:r>
          </a:p>
          <a:p>
            <a:endParaRPr/>
          </a:p>
          <a:p>
            <a:r>
              <a:t>[ ★強調（自分用） ]</a:t>
            </a:r>
          </a:p>
          <a:p>
            <a:r>
              <a:t>★ 『経過報告がメイン』と伝え、聴衆の期待値を合わせる。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《スライド3》論文解説（章扉）  （目安 0:25）</a:t>
            </a:r>
          </a:p>
          <a:p>
            <a:endParaRPr/>
          </a:p>
          <a:p>
            <a:r>
              <a:t>[ 話す ]</a:t>
            </a:r>
          </a:p>
          <a:p>
            <a:r>
              <a:t>・ここから研究の土台になっている論文を解説する（永原先生）。理論と自作コードを結びつけ、はじめての人にも分かるように話す。</a:t>
            </a:r>
          </a:p>
          <a:p>
            <a:r>
              <a:t>・自分もまだ勉強中で、実装しながら理解している最中、と正直に前置きしてよい。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《スライド4》論文① 位置づけ  （目安 1:00）</a:t>
            </a:r>
          </a:p>
          <a:p>
            <a:endParaRPr/>
          </a:p>
          <a:p>
            <a:r>
              <a:t>[ 話す ]</a:t>
            </a:r>
          </a:p>
          <a:p>
            <a:r>
              <a:t>・永原先生は『最大ハンズオフ制御』の第一人者。本研究のテーマそのもの。</a:t>
            </a:r>
          </a:p>
          <a:p>
            <a:r>
              <a:t>・ざっくり『できるだけ手を放す（モータを止める）』制御。出どころは信号処理の圧縮センシング＝制御の“外”から来た点が面白い。</a:t>
            </a:r>
          </a:p>
          <a:p>
            <a:r>
              <a:t>・なぜ今かというと省エネ。論文冒頭も震災後の電力問題に言及。止める＝電気も燃料も使わない、が効きどころ。</a:t>
            </a:r>
          </a:p>
          <a:p>
            <a:r>
              <a:t>・右の流れ：信号処理→制御→本研究。自分の予備実装 sim（操舵78%ゼロ）はこの離散版そのもの、と繋ぐ。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《スライド5》論文② 違い  （目安 1:10）</a:t>
            </a:r>
          </a:p>
          <a:p>
            <a:endParaRPr/>
          </a:p>
          <a:p>
            <a:r>
              <a:t>[ 話す ]</a:t>
            </a:r>
          </a:p>
          <a:p>
            <a:r>
              <a:t>・従来(L2)は『なめらかに常に少し動かす』、スパース(L1)は『ほとんど止めて要所だけ』。手ぶりで対比すると伝わる。</a:t>
            </a:r>
          </a:p>
          <a:p>
            <a:r>
              <a:t>・問いの立て方が逆＝『うまく動かす』ではなく『動かさずに済ます』。</a:t>
            </a:r>
          </a:p>
          <a:p>
            <a:r>
              <a:t>・右図はイメージ図と断る（実データは後で）。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《スライド6》論文③ L0  （目安 1:10）</a:t>
            </a:r>
          </a:p>
          <a:p>
            <a:endParaRPr/>
          </a:p>
          <a:p>
            <a:r>
              <a:t>[ 話す ]</a:t>
            </a:r>
          </a:p>
          <a:p>
            <a:r>
              <a:t>・測りたいのは“動かした時間(回数)”＝L0ノルム。最小化＝止まっている時間を最大化＝最大ハンズオフ。</a:t>
            </a:r>
          </a:p>
          <a:p>
            <a:r>
              <a:t>・右図で罰し方の形を説明：L2は0付近なめらかで0にしない、L1は0で折れて0が出る、L0は理想。</a:t>
            </a:r>
          </a:p>
          <a:p>
            <a:r>
              <a:t>・『L0は理想だが…』で次（解けない問題）へ引っぱる。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《スライド7》論文④ 緩和  （目安 1:10）</a:t>
            </a:r>
          </a:p>
          <a:p>
            <a:endParaRPr/>
          </a:p>
          <a:p>
            <a:r>
              <a:t>[ 話す ]</a:t>
            </a:r>
          </a:p>
          <a:p>
            <a:r>
              <a:t>・L0は総当たりで爆発＝ほぼ解けない(NP困難)。だから圧縮センシングと同じくL1に緩和。</a:t>
            </a:r>
          </a:p>
          <a:p>
            <a:r>
              <a:t>・なぜL1で0が増えるか＝制約に一番近い点がL1だと“角”＝軸上で当たるから、と図でなぞる。</a:t>
            </a:r>
          </a:p>
          <a:p>
            <a:r>
              <a:t>・数学的には不感帯。論文の図5に当たる、と一言。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《スライド8》論文⑤ 定理  （目安 1:10）</a:t>
            </a:r>
          </a:p>
          <a:p>
            <a:endParaRPr/>
          </a:p>
          <a:p>
            <a:r>
              <a:t>[ 話す ]</a:t>
            </a:r>
          </a:p>
          <a:p>
            <a:r>
              <a:t>・一番大事な結果：正規性のもとでL1最適＝L0最適。解ける凸問題(L1)で本当に一番疎な制御が手に入る、と言い切る。</a:t>
            </a:r>
          </a:p>
          <a:p>
            <a:r>
              <a:t>・解の形はbang-off-bang(＋最大/0/−最大)。0の区間が手放し。</a:t>
            </a:r>
          </a:p>
          <a:p>
            <a:r>
              <a:t>・『止めるか振り切るか』が最適、という直感を添える。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《スライド9》論文⑥ コード  （目安 1:20）</a:t>
            </a:r>
          </a:p>
          <a:p>
            <a:endParaRPr/>
          </a:p>
          <a:p>
            <a:r>
              <a:t>[ 話す ]</a:t>
            </a:r>
          </a:p>
          <a:p>
            <a:r>
              <a:t>・数式はΦz=ζに書けて min‖z‖₁ を解くだけ。cvxpyでほぼ数式のまま書いた(★がL1)。</a:t>
            </a:r>
          </a:p>
          <a:p>
            <a:r>
              <a:t>・右が結果。操舵は±最大か0だけ＝bang-off-bang、78%が0＝hands-off。論文の理論をローバーで再現できた、と強調。</a:t>
            </a:r>
          </a:p>
          <a:p>
            <a:r>
              <a:t>・右図の±1と0だけを指さす。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《スライド10》論文⑦ MPCへ  （目安 1:10）</a:t>
            </a:r>
          </a:p>
          <a:p>
            <a:endParaRPr/>
          </a:p>
          <a:p>
            <a:r>
              <a:t>[ 話す ]</a:t>
            </a:r>
          </a:p>
          <a:p>
            <a:r>
              <a:t>・論文はオープンループで外乱に弱い。本研究は毎周期解き直すMPCに発展させ、補正δuのL1を最小化(★の1行)。</a:t>
            </a:r>
          </a:p>
          <a:p>
            <a:r>
              <a:t>・理論と実装の往復で分かったこと：simでは78%ゼロを再現できたが、実機ではL1が遅延でチャタった。理想と現実の差は実装して初めて見えた。</a:t>
            </a:r>
          </a:p>
          <a:p>
            <a:r>
              <a:t>・締めは『実装して初めて分かった』。本編まとめ(スライド15)とも響き合う。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《スライド11》経過報告（章扉）  （目安 0:20）</a:t>
            </a:r>
          </a:p>
          <a:p>
            <a:endParaRPr/>
          </a:p>
          <a:p>
            <a:r>
              <a:t>[ 話す ]</a:t>
            </a:r>
          </a:p>
          <a:p>
            <a:r>
              <a:t>・ここからは経過報告。研究の背景・目的から、実機での実装と3手法（Kanayama／L2／L1）の比較・評価までを順に説明する。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《スライド12》研究の背景  （目安 1:10）</a:t>
            </a:r>
          </a:p>
          <a:p>
            <a:endParaRPr/>
          </a:p>
          <a:p>
            <a:r>
              <a:t>[ 話す ]</a:t>
            </a:r>
          </a:p>
          <a:p>
            <a:r>
              <a:t>・まず『なぜこの研究か』。農業は人手不足で、自動走行ロボットが求められている。</a:t>
            </a:r>
          </a:p>
          <a:p>
            <a:r>
              <a:t>・その基礎が経路追従＝決めた道をなぞる制御。</a:t>
            </a:r>
          </a:p>
          <a:p>
            <a:r>
              <a:t>・普通の制御は常時こまめに操舵するが、モータが消耗し、電気も食い、滑りやすい畑では小刻みな操舵が逆に乱れを生む。</a:t>
            </a:r>
          </a:p>
          <a:p>
            <a:r>
              <a:t>・だから『必要な時だけ操舵する＝スパース制御』に注目した、という流れで話す。</a:t>
            </a:r>
          </a:p>
          <a:p>
            <a:endParaRPr/>
          </a:p>
          <a:p>
            <a:r>
              <a:t>[ ★強調（自分用） ]</a:t>
            </a:r>
          </a:p>
          <a:p>
            <a:r>
              <a:t>★ “スパース＝時間的にスカスカ”を、身ぶりで（ハンドルをほとんど切らないイメージで）伝えると他分野でも伝わる。</a:t>
            </a:r>
          </a:p>
          <a:p>
            <a:r>
              <a:t>★ ここで聴衆の『なぜ？』を解消しておくと、後半の専門的な話がスッと入る。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《スライド13》研究の目的と進め方  （目安 1:10）</a:t>
            </a:r>
          </a:p>
          <a:p>
            <a:endParaRPr/>
          </a:p>
          <a:p>
            <a:r>
              <a:t>[ 話す ]</a:t>
            </a:r>
          </a:p>
          <a:p>
            <a:r>
              <a:t>・目的は、操舵を時間的に疎にする手法を“実機で”評価すること。</a:t>
            </a:r>
          </a:p>
          <a:p>
            <a:r>
              <a:t>・手法の中心はMPCとL1。MPCは『少し先を予測して最適な入力を毎周期計算する』制御だと一言で説明する。</a:t>
            </a:r>
          </a:p>
          <a:p>
            <a:r>
              <a:t>・そのコスト関数にL1を足すと入力が0に張り付きやすくなる＝hands-off。</a:t>
            </a:r>
          </a:p>
          <a:p>
            <a:r>
              <a:t>・比べるのは3つ：古典のKanayama、標準のL2-MPC、提案のL1-MPC。同じMPCでコスト関数だけ変えてL1の効果を見る。</a:t>
            </a:r>
          </a:p>
          <a:p>
            <a:r>
              <a:t>・指標は4つ（精度・エネルギー・スパース性・計算負荷）。</a:t>
            </a:r>
          </a:p>
          <a:p>
            <a:endParaRPr/>
          </a:p>
          <a:p>
            <a:r>
              <a:t>[ ★強調（自分用） ]</a:t>
            </a:r>
          </a:p>
          <a:p>
            <a:r>
              <a:t>★ 『同じMPCでコスト関数だけ変える』＝L1の効果を“フェアに”分離する工夫だ、と一言添える（手法の妥当性アピール）。</a:t>
            </a:r>
          </a:p>
          <a:p>
            <a:r>
              <a:t>★ 指標は4つを口頭で1つずつ。特に“計算負荷”は後で効いてくる伏線。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《スライド14》全体の流れ  （目安 0:50）</a:t>
            </a:r>
          </a:p>
          <a:p>
            <a:endParaRPr/>
          </a:p>
          <a:p>
            <a:r>
              <a:t>[ 話す ]</a:t>
            </a:r>
          </a:p>
          <a:p>
            <a:r>
              <a:t>・この1枚で全体像を見せる。左から右へ時間順。</a:t>
            </a:r>
          </a:p>
          <a:p>
            <a:r>
              <a:t>・机上のsim→実機の基盤づくり→古典制御で自立走行→MPC実装→実機で3者比較、という5ステップ。</a:t>
            </a:r>
          </a:p>
          <a:p>
            <a:r>
              <a:t>・『実機の基盤が思ったより早く整ったので、計画を前倒しして実機実験まで進めた』と補足。</a:t>
            </a:r>
          </a:p>
          <a:p>
            <a:endParaRPr/>
          </a:p>
          <a:p>
            <a:r>
              <a:t>[ ★強調（自分用） ]</a:t>
            </a:r>
          </a:p>
          <a:p>
            <a:r>
              <a:t>★ ここで“全体地図”を頭に入れてもらう。以降のスライドが今どこの話かを各スライド冒頭のラベルで示す。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《スライド15》机上のシミュレーション  （目安 1:10）</a:t>
            </a:r>
          </a:p>
          <a:p>
            <a:endParaRPr/>
          </a:p>
          <a:p>
            <a:r>
              <a:t>[ 話す ]</a:t>
            </a:r>
          </a:p>
          <a:p>
            <a:r>
              <a:t>・最初に机上で原理を確認した話。運動モデルを作り、『目標に着く入力のうち操舵を一番使わないもの』を最適化で探した。</a:t>
            </a:r>
          </a:p>
          <a:p>
            <a:r>
              <a:t>・右の図がポイント。左は誤差が0に収束＝ちゃんと到達。右が操舵入力で、78%の時間は棒がゼロ＝操舵していない。</a:t>
            </a:r>
          </a:p>
          <a:p>
            <a:r>
              <a:t>・つまり“要所だけ動かして、あとは手放し”でも到達できる、という原理確認。</a:t>
            </a:r>
          </a:p>
          <a:p>
            <a:r>
              <a:t>・ただし一度きりの計算なので外乱に弱い。だから次はMPC、と繋ぐ。</a:t>
            </a:r>
          </a:p>
          <a:p>
            <a:endParaRPr/>
          </a:p>
          <a:p>
            <a:r>
              <a:t>[ ★強調（自分用） ]</a:t>
            </a:r>
          </a:p>
          <a:p>
            <a:r>
              <a:t>★ 右図の『棒が立っていない時間＝操舵していない』を指さして説明すると一発で伝わる。</a:t>
            </a:r>
          </a:p>
          <a:p>
            <a:r>
              <a:t>★ 78%という数字を強調。『これがhands-offの正体です』。</a:t>
            </a:r>
          </a:p>
          <a:p>
            <a:r>
              <a:t>★ オープンループの限界（外乱で誤差が溜まる）を必ず言い、MPCへ自然につなぐ。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《スライド16》実機の基盤づくり  （目安 1:00）</a:t>
            </a:r>
          </a:p>
          <a:p>
            <a:endParaRPr/>
          </a:p>
          <a:p>
            <a:r>
              <a:t>[ 話す ]</a:t>
            </a:r>
          </a:p>
          <a:p>
            <a:r>
              <a:t>・地味だが重要な土台づくり。市販ロボットLiteRoverに、自分の制御を載せて走らせる環境を整えた。</a:t>
            </a:r>
          </a:p>
          <a:p>
            <a:r>
              <a:t>・LiDARを付けてSLAMで地図も作成（右図）。自己位置と地図を同時に作る技術だと一言補足。</a:t>
            </a:r>
          </a:p>
          <a:p>
            <a:r>
              <a:t>・PCとロボットの無線通信が不安定だったので、全部ロボット上で動かす方式に切り替えて回避した。</a:t>
            </a:r>
          </a:p>
          <a:p>
            <a:r>
              <a:t>・設計の工夫として、制御の計算部分と通信部分を分け、あとでL1に差し替えても使い回せるようにした。</a:t>
            </a:r>
          </a:p>
          <a:p>
            <a:endParaRPr/>
          </a:p>
          <a:p>
            <a:r>
              <a:t>[ ★強調（自分用） ]</a:t>
            </a:r>
          </a:p>
          <a:p>
            <a:r>
              <a:t>★ 『ここは“何をやったか”の自立性アピール。Claude Codeも使いつつ自分で環境を作った』点に軽く触れてよい。</a:t>
            </a:r>
          </a:p>
          <a:p>
            <a:r>
              <a:t>★ 通信を“あえて捨てて回避”した判断は、研究を前に進める工学的判断としてプラスに語る。</a:t>
            </a:r>
          </a:p>
          <a:p>
            <a:r>
              <a:t>★ 地図の図は『ちゃんと動く実機がある』証拠として見せる。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《スライド17》実機で自立走行（古典制御）  （目安 1:00）</a:t>
            </a:r>
          </a:p>
          <a:p>
            <a:endParaRPr/>
          </a:p>
          <a:p>
            <a:r>
              <a:t>[ 話す ]</a:t>
            </a:r>
          </a:p>
          <a:p>
            <a:r>
              <a:t>・比較の基準になる古典制御（Kanayama法）をまず実装して、実機で床を走らせた。</a:t>
            </a:r>
          </a:p>
          <a:p>
            <a:r>
              <a:t>・Kanayama法は『経路からのずれを見て操舵を決める』素直なフィードバックだと一言で説明。</a:t>
            </a:r>
          </a:p>
          <a:p>
            <a:r>
              <a:t>・直線3本とL字を完走。ただしL字で旋回角が10°足りなかった。</a:t>
            </a:r>
          </a:p>
          <a:p>
            <a:r>
              <a:t>・原因は車輪の滑りと車輪間隔の設定ずれ。定数を補正してほぼ90°に直した、と話す。</a:t>
            </a:r>
          </a:p>
          <a:p>
            <a:endParaRPr/>
          </a:p>
          <a:p>
            <a:r>
              <a:t>[ ★強調（自分用） ]</a:t>
            </a:r>
          </a:p>
          <a:p>
            <a:r>
              <a:t>★ 『実機を動かすと、理論では出ない誤差が出る』ことの最初の具体例。後半のチャタの伏線になる。</a:t>
            </a:r>
          </a:p>
          <a:p>
            <a:r>
              <a:t>★ 回転オドメトリの弱さは、後で“真値は外部計測が必要”の話に繋がる。ここで軽く種をまく。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《スライド18》計算が間に合うかの確認  （目安 1:00）</a:t>
            </a:r>
          </a:p>
          <a:p>
            <a:endParaRPr/>
          </a:p>
          <a:p>
            <a:r>
              <a:t>[ 話す ]</a:t>
            </a:r>
          </a:p>
          <a:p>
            <a:r>
              <a:t>・MPCは毎周期、最適化を解く。非力なRaspberry Piで0.1秒以内に解けないとリアルタイムに動かない。</a:t>
            </a:r>
          </a:p>
          <a:p>
            <a:r>
              <a:t>・だから本格実装の前に“そもそも解けるか”を確認した。これが通らないと研究が成立しない最初の関門。</a:t>
            </a:r>
          </a:p>
          <a:p>
            <a:r>
              <a:t>・予測の長さNを変えて求解時間を測った結果、N=30まで余裕で周期内、電圧低下もなし。通過。</a:t>
            </a:r>
          </a:p>
          <a:p>
            <a:r>
              <a:t>・提案のL1はL2より重いが、それでも間に合う。</a:t>
            </a:r>
          </a:p>
          <a:p>
            <a:endParaRPr/>
          </a:p>
          <a:p>
            <a:r>
              <a:t>[ ★強調（自分用） ]</a:t>
            </a:r>
          </a:p>
          <a:p>
            <a:r>
              <a:t>★ 『L1は操舵を減らすが、計算は増える』というトレードオフを、ここで数字で初出しする。</a:t>
            </a:r>
          </a:p>
          <a:p>
            <a:r>
              <a:t>★ この“計算負荷”は本研究の貢献の柱の一つ。後の3者比較でもう一度回収する。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《スライド19》MPCの実装(1) L2-MPC  （目安 1:00）</a:t>
            </a:r>
          </a:p>
          <a:p>
            <a:endParaRPr/>
          </a:p>
          <a:p>
            <a:r>
              <a:t>[ 話す ]</a:t>
            </a:r>
          </a:p>
          <a:p>
            <a:r>
              <a:t>・ここからMPC本体。まずMPCを一言で：1.5秒先まで予測して経路に一番沿う入力を計算し、先頭だけ実行、を毎周期繰り返す。</a:t>
            </a:r>
          </a:p>
          <a:p>
            <a:r>
              <a:t>・その骨格を実装してシミュレーションで検証。5ケース全部で到達した。</a:t>
            </a:r>
          </a:p>
          <a:p>
            <a:r>
              <a:t>・結果、経路からのずれRMSEが基準のKanayamaを全ケースで下回った。</a:t>
            </a:r>
          </a:p>
          <a:p>
            <a:r>
              <a:t>・“予測して最適化する”分だけ上手、という話。この標準形L2をまず土台にする。</a:t>
            </a:r>
          </a:p>
          <a:p>
            <a:endParaRPr/>
          </a:p>
          <a:p>
            <a:r>
              <a:t>[ ★強調（自分用） ]</a:t>
            </a:r>
          </a:p>
          <a:p>
            <a:r>
              <a:t>★ L1の効果を測る“ものさし”を先に作る、という研究の組み立てを強調。</a:t>
            </a:r>
          </a:p>
          <a:p>
            <a:r>
              <a:t>★ 数字（特にL字 11.6→2.2cm）を1つ口に出すと説得力が出る。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《スライド20》MPCの実装(2) L1で疎にする  （目安 1:10）</a:t>
            </a:r>
          </a:p>
          <a:p>
            <a:endParaRPr/>
          </a:p>
          <a:p>
            <a:r>
              <a:t>[ 話す ]</a:t>
            </a:r>
          </a:p>
          <a:p>
            <a:r>
              <a:t>・L2とL1の違いを直感で：L2は二乗で罰するので小さな操舵を満遍なく使いなめらか。L1は絶対値で罰するので多くがピタッと0になり疎。</a:t>
            </a:r>
          </a:p>
          <a:p>
            <a:r>
              <a:t>・コスト関数を1行変えるだけで切替できる＝同じ条件で公平に比べられる。</a:t>
            </a:r>
          </a:p>
          <a:p>
            <a:r>
              <a:t>・重みλを振って調べた。λを上げると操舵は減るが追従は甘くなるトレードオフ。</a:t>
            </a:r>
          </a:p>
          <a:p>
            <a:r>
              <a:t>・右の図、左下が良い領域。λ≈0.25あたりでL2より少し良い所に入る。</a:t>
            </a:r>
          </a:p>
          <a:p>
            <a:endParaRPr/>
          </a:p>
          <a:p>
            <a:r>
              <a:t>[ ★強調（自分用） ]</a:t>
            </a:r>
          </a:p>
          <a:p>
            <a:r>
              <a:t>★ 『二乗 vs 絶対値』のイメージは他分野でも刺さる。手で“満遍なく”と“ピタッと0”を表現するとよい。</a:t>
            </a:r>
          </a:p>
          <a:p>
            <a:r>
              <a:t>★ ただし正直に：無外乱のシミュレーションだとL2との差は小さい。差が本当に出るのは外乱下や曲線、という見立てを述べておく（次のスライドの伏線）。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《スライド21》実機で3者比較(1) 直線  （目安 1:10）</a:t>
            </a:r>
          </a:p>
          <a:p>
            <a:endParaRPr/>
          </a:p>
          <a:p>
            <a:r>
              <a:t>[ 話す ]</a:t>
            </a:r>
          </a:p>
          <a:p>
            <a:r>
              <a:t>・いよいよ実機で3者を比べた。直線2m。1本ごとにメジャーで実測して“真の精度”を取った。</a:t>
            </a:r>
          </a:p>
          <a:p>
            <a:r>
              <a:t>・結果、提案のL1が一番正確で横ずれ0cm。L2が4cm、古典のKanayamaが14〜15cm。</a:t>
            </a:r>
          </a:p>
          <a:p>
            <a:r>
              <a:t>・計算負荷はKanayama≒0＜L2＜L1。3つとも周期内。</a:t>
            </a:r>
          </a:p>
          <a:p>
            <a:r>
              <a:t>・大事な注意：ロボット自身の自己位置“だけ”だとL2が良く見える。でもそれは滑りを見られないから。本当の精度は外から測らないと分からない、と気づいた。</a:t>
            </a:r>
          </a:p>
          <a:p>
            <a:endParaRPr/>
          </a:p>
          <a:p>
            <a:r>
              <a:t>[ ★強調（自分用） ]</a:t>
            </a:r>
          </a:p>
          <a:p>
            <a:r>
              <a:t>★ 『提案手法が実機の真値で一番良かった』はポジティブな山。ただし次のL字で話が変わる、と引きを作る。</a:t>
            </a:r>
          </a:p>
          <a:p>
            <a:r>
              <a:t>★ “自己位置では分からない・外部計測が要る”は方法論的に効く気づき。研究の丁寧さとしてアピール。</a:t>
            </a:r>
          </a:p>
          <a:p>
            <a:r>
              <a:t>★ n=1（1本ずつ）なので『L1≳L2は今後反復して確かめたい』と正直に添える（過剰主張を避ける）。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《スライド22》実機で3者比較(2) L字  （目安 1:20）</a:t>
            </a:r>
          </a:p>
          <a:p>
            <a:endParaRPr/>
          </a:p>
          <a:p>
            <a:r>
              <a:t>[ 話す ]</a:t>
            </a:r>
          </a:p>
          <a:p>
            <a:r>
              <a:t>・直線では差が小さかったので、操舵が要るL字でも比べた。</a:t>
            </a:r>
          </a:p>
          <a:p>
            <a:r>
              <a:t>・ここが今日いちばんの見どころ。実機では提案のL1が、曲がり角で操舵を左右に激しく振動させた＝チャタリング。</a:t>
            </a:r>
          </a:p>
          <a:p>
            <a:r>
              <a:t>・数字で：操舵総量がL2の4.5倍、向きの反転が15回。中央の図、赤が上限の間を何度も往復しているのが見える。</a:t>
            </a:r>
          </a:p>
          <a:p>
            <a:r>
              <a:t>・L2はきれいに1回で曲がれた。L1は蛇行して最終的な向きがずれた。</a:t>
            </a:r>
          </a:p>
          <a:p>
            <a:endParaRPr/>
          </a:p>
          <a:p>
            <a:r>
              <a:t>[ ★強調（自分用） ]</a:t>
            </a:r>
          </a:p>
          <a:p>
            <a:r>
              <a:t>★ ここを一番強く：『スパース制御が活きると思った曲線で、逆にL1だけが破綻した』という“予想と逆”の結果。</a:t>
            </a:r>
          </a:p>
          <a:p>
            <a:r>
              <a:t>★ そして『これはシミュレーションでは起きず、実機で初めて見えた』点を強調。これが今回の最大の学び。</a:t>
            </a:r>
          </a:p>
          <a:p>
            <a:r>
              <a:t>★ ただしスライドでは断定的に言いすぎない。口頭で温度感を出す（驚き→なぜ？と引っぱって次へ）。</a:t>
            </a:r>
          </a:p>
          <a:p>
            <a:r>
              <a:t>★ 図の赤い往復を指で追うと聴衆に伝わる。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《スライド23》原因の特定と対策  （目安 1:20）</a:t>
            </a:r>
          </a:p>
          <a:p>
            <a:endParaRPr/>
          </a:p>
          <a:p>
            <a:r>
              <a:t>[ 話す ]</a:t>
            </a:r>
          </a:p>
          <a:p>
            <a:r>
              <a:t>・なぜ振動したのかを突き止めた。理想のシミュレーションでは起きないので、実機だけにある“遅れ”を疑った。</a:t>
            </a:r>
          </a:p>
          <a:p>
            <a:r>
              <a:t>・計算と通信で約0.2秒の遅れがある。これをシミュレーションに足すと、L1だけが実機そっくりに振動した。数値もほぼ一致。</a:t>
            </a:r>
          </a:p>
          <a:p>
            <a:r>
              <a:t>・仕組みは、L1は“ゼロか最大か”の切替的操舵になりやすく、反応が遅れると行き過ぎ→戻し過ぎで振動する。L2はなめらかなので平気。</a:t>
            </a:r>
          </a:p>
          <a:p>
            <a:r>
              <a:t>・対策として『操舵を急に変えすぎない』項をMPCに足した。シミュレーション上は振動がほぼ消え、しかも疎さは保てた。</a:t>
            </a:r>
          </a:p>
          <a:p>
            <a:endParaRPr/>
          </a:p>
          <a:p>
            <a:r>
              <a:t>[ ★強調（自分用） ]</a:t>
            </a:r>
          </a:p>
          <a:p>
            <a:r>
              <a:t>★ 『問題を見つけて終わり』ではなく、原因まで突き止めて対策まで示した、という“研究としての完結度”を強調。</a:t>
            </a:r>
          </a:p>
          <a:p>
            <a:r>
              <a:t>★ 『シミュレーションと実機の数値が一致』＝原因特定が確かだ、という根拠を丁寧に。</a:t>
            </a:r>
          </a:p>
          <a:p>
            <a:r>
              <a:t>★ 実機での対策検証は“これから”だが、日程の話はしない（聞かれたら口頭で『次にやる』程度）。</a:t>
            </a:r>
          </a:p>
          <a:p>
            <a:r>
              <a:t>★ 他分野向けに『遅れがあると切替制御は振動しやすい』は一般性のある教訓として話すと響く。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《スライド24》まとめ  （目安 1:00）</a:t>
            </a:r>
          </a:p>
          <a:p>
            <a:endParaRPr/>
          </a:p>
          <a:p>
            <a:r>
              <a:t>[ 話す ]</a:t>
            </a:r>
          </a:p>
          <a:p>
            <a:r>
              <a:t>・最後にまとめ。やったことは6ステップ（机上sim→基盤→古典で走行→MPC実装→実機3者比較→原因と対策）。</a:t>
            </a:r>
          </a:p>
          <a:p>
            <a:r>
              <a:t>・分かったことは4つ。MPCは古典より正確。提案L1の効きは条件しだい（直線で最良・曲線で振動）。その振動は実機の遅れが原因で対策の見込みも得た。そして操舵減と計算増のトレードオフを実機で数値化した。</a:t>
            </a:r>
          </a:p>
          <a:p>
            <a:r>
              <a:t>・現時点で安定して良いのはL2。提案のL1は条件しだいで、引き続き実機で検証中、という整理で締める。</a:t>
            </a:r>
          </a:p>
          <a:p>
            <a:endParaRPr/>
          </a:p>
          <a:p>
            <a:r>
              <a:t>[ ★強調（自分用） ]</a:t>
            </a:r>
          </a:p>
          <a:p>
            <a:r>
              <a:t>★ ここでは断定や強い言葉を避け、淡々と。『L1が一番』とは言わない。条件しだい・検証中、と誠実に。</a:t>
            </a:r>
          </a:p>
          <a:p>
            <a:r>
              <a:t>★ 一番伝えたい一文は『シミュレーションでは見えず、実機で初めて分かった』。最後にもう一度だけ口頭で言う。</a:t>
            </a:r>
          </a:p>
          <a:p>
            <a:r>
              <a:t>★ 質問が来やすいのは“なぜL2が良いのにL1を研究するのか”。→ 省エネや外乱への強さは条件で出るはずで、それを見極めるのが目的、と答える準備。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《スライド25》補足の入口  （目安 0:15）</a:t>
            </a:r>
          </a:p>
          <a:p>
            <a:endParaRPr/>
          </a:p>
          <a:p>
            <a:r>
              <a:t>[ 話す ]</a:t>
            </a:r>
          </a:p>
          <a:p>
            <a:r>
              <a:t>・ここからは補足。研究で実際に書いたプログラムと、その考え方を説明する。</a:t>
            </a:r>
          </a:p>
          <a:p>
            <a:r>
              <a:t>・時間や質問に応じて、見せる枚数は調整する。</a:t>
            </a:r>
          </a:p>
          <a:p>
            <a:endParaRPr/>
          </a:p>
          <a:p>
            <a:r>
              <a:t>[ ★強調（自分用） ]</a:t>
            </a:r>
          </a:p>
          <a:p>
            <a:r>
              <a:t>★ 『制御の中身を自分で実装した』ことが伝わればよい。深入りしすぎない。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《スライド26》プログラム全体の構成  （目安 1:00）</a:t>
            </a:r>
          </a:p>
          <a:p>
            <a:endParaRPr/>
          </a:p>
          <a:p>
            <a:r>
              <a:t>[ 話す ]</a:t>
            </a:r>
          </a:p>
          <a:p>
            <a:r>
              <a:t>・全体の流れ。自己位置odom → follower_coreで参照点と誤差 → mpc_coreで最適化して速度 → ロボットへ。</a:t>
            </a:r>
          </a:p>
          <a:p>
            <a:r>
              <a:t>・中核は自作のfollower_coreとmpc_core。ほかに検証・解析のスクリプトも自作した。</a:t>
            </a:r>
          </a:p>
          <a:p>
            <a:r>
              <a:t>・言語はPython、最適化はcvxpyとOSQP、ROSはROS2。</a:t>
            </a:r>
          </a:p>
          <a:p>
            <a:endParaRPr/>
          </a:p>
          <a:p>
            <a:r>
              <a:t>[ ★強調（自分用） ]</a:t>
            </a:r>
          </a:p>
          <a:p>
            <a:r>
              <a:t>★ 『制御の中身も検証ツールも自分で実装した』ことを伝える。</a:t>
            </a:r>
          </a:p>
          <a:p>
            <a:r>
              <a:t>★ “線形MPCはQPとして解ける／将来CasADiで非線形も”は質問が来たら補足。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《スライド27》コード解説 follower_core  （目安 1:00）</a:t>
            </a:r>
          </a:p>
          <a:p>
            <a:endParaRPr/>
          </a:p>
          <a:p>
            <a:r>
              <a:t>[ 話す ]</a:t>
            </a:r>
          </a:p>
          <a:p>
            <a:r>
              <a:t>・土台のfollower_core。経路上の目標点に対するずれを、ロボットから見た誤差に直す関数。</a:t>
            </a:r>
          </a:p>
          <a:p>
            <a:r>
              <a:t>・Kanayama法は、その誤差に比例ゲインを掛けて速度と角速度を決める素直な制御。予測はしない。</a:t>
            </a:r>
          </a:p>
          <a:p>
            <a:r>
              <a:t>・この誤差計算はMPCでもそのまま使い回す共通土台。</a:t>
            </a:r>
          </a:p>
          <a:p>
            <a:endParaRPr/>
          </a:p>
          <a:p>
            <a:r>
              <a:t>[ ★強調（自分用） ]</a:t>
            </a:r>
          </a:p>
          <a:p>
            <a:r>
              <a:t>★ 『古典制御は今のずれだけで決める＝予測なし』を一言。次のMPCとの対比になる。</a:t>
            </a:r>
          </a:p>
          <a:p>
            <a:r>
              <a:t>★ コードは雰囲気が伝わればOK。1行ずつ読まない。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《スライド28》コード解説 オープンループ  （目安 1:00）</a:t>
            </a:r>
          </a:p>
          <a:p>
            <a:endParaRPr/>
          </a:p>
          <a:p>
            <a:r>
              <a:t>[ 話す ]</a:t>
            </a:r>
          </a:p>
          <a:p>
            <a:r>
              <a:t>・予備実装のスパース制御の最小実装。cvxpyで『目標に着く入力のうち操舵の総量が最小のもの』を、数式そのままに書ける。</a:t>
            </a:r>
          </a:p>
          <a:p>
            <a:r>
              <a:t>・L1ノルムを最小化すると多くの入力が厳密に0になるのが数学的な性質。結果、操舵の78%が0。</a:t>
            </a:r>
          </a:p>
          <a:p>
            <a:endParaRPr/>
          </a:p>
          <a:p>
            <a:r>
              <a:t>[ ★強調（自分用） ]</a:t>
            </a:r>
          </a:p>
          <a:p>
            <a:r>
              <a:t>★ 『L1＝絶対値の和を最小化すると0が増える』が、スパース制御の核。ここは少し丁寧に。</a:t>
            </a:r>
          </a:p>
          <a:p>
            <a:r>
              <a:t>★ cvxpyだと数式に近い形で書ける利点も一言。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《スライド29》コード解説 MPC本体  （目安 1:10）</a:t>
            </a:r>
          </a:p>
          <a:p>
            <a:endParaRPr/>
          </a:p>
          <a:p>
            <a:r>
              <a:t>[ 話す ]</a:t>
            </a:r>
          </a:p>
          <a:p>
            <a:r>
              <a:t>・提案手法の心臓部、MPC本体。Nステップ先まで予測して『経路ずれ＋操舵ペナルティ』の合計を最小化する。</a:t>
            </a:r>
          </a:p>
          <a:p>
            <a:r>
              <a:t>・赤の1行だけがL1とL2の違い。norm1ならL1（疎）、quad_formならL2（なめらか）。</a:t>
            </a:r>
          </a:p>
          <a:p>
            <a:r>
              <a:t>・同じ骨格でこの1行だけ変えるので、L1の効果をフェアに比べられる。毎周期、係数だけ差し替えて高速に解き直す。</a:t>
            </a:r>
          </a:p>
          <a:p>
            <a:endParaRPr/>
          </a:p>
          <a:p>
            <a:r>
              <a:t>[ ★強調（自分用） ]</a:t>
            </a:r>
          </a:p>
          <a:p>
            <a:r>
              <a:t>★ 『違いはこの1行だけ』が一番の見せ場。指さして言う。</a:t>
            </a:r>
          </a:p>
          <a:p>
            <a:r>
              <a:t>★ “同じ枠組みで公平に比較”という研究設計の妥当性をここで主張。</a:t>
            </a:r>
          </a:p>
          <a:p>
            <a:r>
              <a:t>★ self.等はスライドでは省略している、と一言断る。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《スライド30》コード解説 移動抑制  （目安 0:50）</a:t>
            </a:r>
          </a:p>
          <a:p>
            <a:endParaRPr/>
          </a:p>
          <a:p>
            <a:r>
              <a:t>[ 話す ]</a:t>
            </a:r>
          </a:p>
          <a:p>
            <a:r>
              <a:t>・L字で見つかった振動への対策コード。1つ前の操舵との差を二乗で罰する＝急な操舵変化を抑える項を足しただけ。</a:t>
            </a:r>
          </a:p>
          <a:p>
            <a:r>
              <a:t>・既定は0で、足さなければ今までと完全に同じ（後方互換）。simでは振動が反転19回→1回に減った。</a:t>
            </a:r>
          </a:p>
          <a:p>
            <a:endParaRPr/>
          </a:p>
          <a:p>
            <a:r>
              <a:t>[ ★強調（自分用） ]</a:t>
            </a:r>
          </a:p>
          <a:p>
            <a:r>
              <a:t>★ 『問題を見つけて、対策コードまで書いた』完結度を示す。</a:t>
            </a:r>
          </a:p>
          <a:p>
            <a:r>
              <a:t>★ 実機での対策確認はこれから、と正直に（日程は触れない）。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《スライド31》コード解説 制御ループ  （目安 1:00）</a:t>
            </a:r>
          </a:p>
          <a:p>
            <a:endParaRPr/>
          </a:p>
          <a:p>
            <a:r>
              <a:t>[ 話す ]</a:t>
            </a:r>
          </a:p>
          <a:p>
            <a:r>
              <a:t>・実機で毎周期回している制御ループ。0.1秒ごとに、自己位置→参照点→誤差→MPCで速度→ロボットへ、を実行。</a:t>
            </a:r>
          </a:p>
          <a:p>
            <a:r>
              <a:t>・★の1行をkanayama_cmdに変えるだけでKanayama版になる。だから3者を同じ枠組みで比較できる。</a:t>
            </a:r>
          </a:p>
          <a:p>
            <a:r>
              <a:t>・odomが途切れたり求解に失敗したら止まる安全機構も入れた。</a:t>
            </a:r>
          </a:p>
          <a:p>
            <a:endParaRPr/>
          </a:p>
          <a:p>
            <a:r>
              <a:t>[ ★強調（自分用） ]</a:t>
            </a:r>
          </a:p>
          <a:p>
            <a:r>
              <a:t>★ 『この1行を差し替えるだけ』＝比較の公平性をもう一度強調。</a:t>
            </a:r>
          </a:p>
          <a:p>
            <a:r>
              <a:t>★ 安全機構に触れると“実機をちゃんと扱っている”印象になる。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《スライド32》コード解説 検証・解析ツール  （目安 0:50）</a:t>
            </a:r>
          </a:p>
          <a:p>
            <a:endParaRPr/>
          </a:p>
          <a:p>
            <a:r>
              <a:t>[ 話す ]</a:t>
            </a:r>
          </a:p>
          <a:p>
            <a:r>
              <a:t>・実機に載せる前後で使った検証・解析ツール。解けるか測るbench、simで確かめるtest、λを振るsweep、遅延でチャタを再現するdelay_probe、実走データを数値化するanalyze_bag。</a:t>
            </a:r>
          </a:p>
          <a:p>
            <a:r>
              <a:t>・“いきなり実機”ではなく、simで確かめてから実機、実機の結果を数値で評価、というサイクルを回した。</a:t>
            </a:r>
          </a:p>
          <a:p>
            <a:endParaRPr/>
          </a:p>
          <a:p>
            <a:r>
              <a:t>[ ★強調（自分用） ]</a:t>
            </a:r>
          </a:p>
          <a:p>
            <a:r>
              <a:t>★ 『simと実機を行き来して検証した』丁寧さをアピール。</a:t>
            </a:r>
          </a:p>
          <a:p>
            <a:r>
              <a:t>★ delay_probeが“原因特定”の決め手だった点に触れてもよい。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1246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914400" y="2286000"/>
            <a:ext cx="1554480" cy="109728"/>
          </a:xfrm>
          <a:prstGeom prst="rect">
            <a:avLst/>
          </a:prstGeom>
          <a:solidFill>
            <a:srgbClr val="E07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2514600"/>
            <a:ext cx="10332720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農業用ロボットの経路追従における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sz="29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スパース最適制御 (Maximum Hands-off Control)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E3F0F5"/>
                </a:solidFill>
                <a:latin typeface="Meiryo"/>
                <a:ea typeface="Meiryo"/>
                <a:cs typeface="Meiryo"/>
              </a:rPr>
              <a:t>第2回研究会発表 ― 論文解説と経過報告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166360"/>
            <a:ext cx="100584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922086  向川 航平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10637215" y="6455664"/>
            <a:ext cx="9144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53606A"/>
                </a:solidFill>
                <a:latin typeface="Meiryo"/>
                <a:ea typeface="Meiryo"/>
                <a:cs typeface="Meiryo"/>
              </a:rP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828800"/>
            <a:ext cx="548640" cy="548640"/>
          </a:xfrm>
          <a:prstGeom prst="roundRect">
            <a:avLst>
              <a:gd name="adj" fmla="val 18000"/>
            </a:avLst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99616" y="1810512"/>
            <a:ext cx="9960559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222A30"/>
                </a:solidFill>
                <a:latin typeface="Meiryo"/>
                <a:ea typeface="Meiryo"/>
                <a:cs typeface="Meiryo"/>
              </a:rPr>
              <a:t>論文解説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53606A"/>
                </a:solidFill>
                <a:latin typeface="Meiryo"/>
                <a:ea typeface="Meiryo"/>
                <a:cs typeface="Meiryo"/>
              </a:rPr>
              <a:t>スパース最適制御の理論 ― 永原(2017)『最適制御とスパースモデリング』の解説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944368"/>
            <a:ext cx="548640" cy="548640"/>
          </a:xfrm>
          <a:prstGeom prst="roundRect">
            <a:avLst>
              <a:gd name="adj" fmla="val 18000"/>
            </a:avLst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99616" y="2926079"/>
            <a:ext cx="9960559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222A30"/>
                </a:solidFill>
                <a:latin typeface="Meiryo"/>
                <a:ea typeface="Meiryo"/>
                <a:cs typeface="Meiryo"/>
              </a:rPr>
              <a:t>経過報告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53606A"/>
                </a:solidFill>
                <a:latin typeface="Meiryo"/>
                <a:ea typeface="Meiryo"/>
                <a:cs typeface="Meiryo"/>
              </a:rPr>
              <a:t>研究の背景・目的から、実機での実装と 3 手法（Kanayama／L2／L1）の比較・評価まで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4059935"/>
            <a:ext cx="548640" cy="548640"/>
          </a:xfrm>
          <a:prstGeom prst="roundRect">
            <a:avLst>
              <a:gd name="adj" fmla="val 18000"/>
            </a:avLst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99616" y="4041648"/>
            <a:ext cx="9960559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222A30"/>
                </a:solidFill>
                <a:latin typeface="Meiryo"/>
                <a:ea typeface="Meiryo"/>
                <a:cs typeface="Meiryo"/>
              </a:rPr>
              <a:t>まとめ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53606A"/>
                </a:solidFill>
                <a:latin typeface="Meiryo"/>
                <a:ea typeface="Meiryo"/>
                <a:cs typeface="Meiryo"/>
              </a:rPr>
              <a:t>分かったことと現時点の整理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5175503"/>
            <a:ext cx="548640" cy="548640"/>
          </a:xfrm>
          <a:prstGeom prst="roundRect">
            <a:avLst>
              <a:gd name="adj" fmla="val 18000"/>
            </a:avLst>
          </a:prstGeom>
          <a:solidFill>
            <a:srgbClr val="4F5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99616" y="5157216"/>
            <a:ext cx="9960559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222A30"/>
                </a:solidFill>
                <a:latin typeface="Meiryo"/>
                <a:ea typeface="Meiryo"/>
                <a:cs typeface="Meiryo"/>
              </a:rPr>
              <a:t>使用したプログラムと解説（補足）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53606A"/>
                </a:solidFill>
                <a:latin typeface="Meiryo"/>
                <a:ea typeface="Meiryo"/>
                <a:cs typeface="Meiryo"/>
              </a:rPr>
              <a:t>中核コードと役割の説明（時間に応じて取捨選択）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75488"/>
            <a:ext cx="1051560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1F6F8B"/>
                </a:solidFill>
                <a:latin typeface="Meiryo"/>
                <a:ea typeface="Meiryo"/>
                <a:cs typeface="Meiryo"/>
              </a:rPr>
              <a:t>OUTLINE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222A30"/>
                </a:solidFill>
                <a:latin typeface="Meiryo"/>
                <a:ea typeface="Meiryo"/>
                <a:cs typeface="Meiryo"/>
              </a:rPr>
              <a:t>本日の内容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41248" y="1335024"/>
            <a:ext cx="786384" cy="45720"/>
          </a:xfrm>
          <a:prstGeom prst="rect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246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914400" y="2743200"/>
            <a:ext cx="1371600" cy="91440"/>
          </a:xfrm>
          <a:prstGeom prst="rect">
            <a:avLst/>
          </a:prstGeom>
          <a:solidFill>
            <a:srgbClr val="E07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2971800"/>
            <a:ext cx="10332720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>
                <a:solidFill>
                  <a:srgbClr val="E3F0F5"/>
                </a:solidFill>
                <a:latin typeface="Meiryo"/>
                <a:ea typeface="Meiryo"/>
                <a:cs typeface="Meiryo"/>
              </a:rPr>
              <a:t>THEORY ／ 論文解説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32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スパース最適制御とは何か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E3F0F5"/>
                </a:solidFill>
                <a:latin typeface="Meiryo"/>
                <a:ea typeface="Meiryo"/>
                <a:cs typeface="Meiryo"/>
              </a:rPr>
              <a:t>提案手法の土台となる論文を、理論と実装（コード）の両面から解説する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760720"/>
            <a:ext cx="10332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E3F0F5"/>
                </a:solidFill>
                <a:latin typeface="Meiryo"/>
                <a:ea typeface="Meiryo"/>
                <a:cs typeface="Meiryo"/>
              </a:rPr>
              <a:t>永原 正章「最適制御とスパースモデリング」　電子情報通信学会 Fundamentals Review, Vol.10, No.3 (2017)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475488"/>
            <a:ext cx="1051560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1F6F8B"/>
                </a:solidFill>
                <a:latin typeface="Meiryo"/>
                <a:ea typeface="Meiryo"/>
                <a:cs typeface="Meiryo"/>
              </a:rPr>
              <a:t>論文解説 01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222A30"/>
                </a:solidFill>
                <a:latin typeface="Meiryo"/>
                <a:ea typeface="Meiryo"/>
                <a:cs typeface="Meiryo"/>
              </a:rPr>
              <a:t>最大ハンズオフ制御の概要と位置づけ</a:t>
            </a:r>
          </a:p>
        </p:txBody>
      </p:sp>
      <p:sp>
        <p:nvSpPr>
          <p:cNvPr id="3" name="Rectangle 2"/>
          <p:cNvSpPr/>
          <p:nvPr/>
        </p:nvSpPr>
        <p:spPr>
          <a:xfrm>
            <a:off x="841248" y="1335024"/>
            <a:ext cx="786384" cy="45720"/>
          </a:xfrm>
          <a:prstGeom prst="rect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PageNo"/>
          <p:cNvSpPr txBox="1"/>
          <p:nvPr/>
        </p:nvSpPr>
        <p:spPr>
          <a:xfrm>
            <a:off x="10561320" y="6446520"/>
            <a:ext cx="9601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53606A"/>
                </a:solidFill>
                <a:latin typeface="Meiryo"/>
                <a:ea typeface="Meiryo"/>
                <a:cs typeface="Meiryo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6035040" cy="4480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600"/>
              </a:spcAft>
            </a:pPr>
            <a:r>
              <a:rPr sz="1680" b="1">
                <a:solidFill>
                  <a:srgbClr val="222A30"/>
                </a:solidFill>
                <a:latin typeface="Meiryo"/>
                <a:ea typeface="Meiryo"/>
                <a:cs typeface="Meiryo"/>
              </a:rPr>
              <a:t>著者 ― 永原 正章 氏。</a:t>
            </a:r>
            <a:r>
              <a:rPr sz="1680" b="0">
                <a:solidFill>
                  <a:srgbClr val="222A30"/>
                </a:solidFill>
                <a:latin typeface="Meiryo"/>
                <a:ea typeface="Meiryo"/>
                <a:cs typeface="Meiryo"/>
              </a:rPr>
              <a:t>最大ハンズオフ制御（Maximum Hands-off Control）の提唱者。</a:t>
            </a:r>
          </a:p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600"/>
              </a:spcAft>
            </a:pPr>
            <a:r>
              <a:rPr sz="1680" b="1">
                <a:solidFill>
                  <a:srgbClr val="222A30"/>
                </a:solidFill>
                <a:latin typeface="Meiryo"/>
                <a:ea typeface="Meiryo"/>
                <a:cs typeface="Meiryo"/>
              </a:rPr>
              <a:t>要旨：</a:t>
            </a:r>
            <a:r>
              <a:rPr sz="1680" b="0">
                <a:solidFill>
                  <a:srgbClr val="222A30"/>
                </a:solidFill>
                <a:latin typeface="Meiryo"/>
                <a:ea typeface="Meiryo"/>
                <a:cs typeface="Meiryo"/>
              </a:rPr>
              <a:t>制御入力を可能な限りゼロに保つ（アクチュエータを止める）ことを目的とする最適制御。</a:t>
            </a:r>
          </a:p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600"/>
              </a:spcAft>
            </a:pPr>
            <a:r>
              <a:rPr sz="1680" b="1">
                <a:solidFill>
                  <a:srgbClr val="222A30"/>
                </a:solidFill>
                <a:latin typeface="Meiryo"/>
                <a:ea typeface="Meiryo"/>
                <a:cs typeface="Meiryo"/>
              </a:rPr>
              <a:t>起源：</a:t>
            </a:r>
            <a:r>
              <a:rPr sz="1680" b="0">
                <a:solidFill>
                  <a:srgbClr val="222A30"/>
                </a:solidFill>
                <a:latin typeface="Meiryo"/>
                <a:ea typeface="Meiryo"/>
                <a:cs typeface="Meiryo"/>
              </a:rPr>
              <a:t>信号処理の圧縮センシング／スパースモデリングの考え方を、制御へ展開したもの。</a:t>
            </a:r>
          </a:p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600"/>
              </a:spcAft>
            </a:pPr>
            <a:r>
              <a:rPr sz="1680" b="1">
                <a:solidFill>
                  <a:srgbClr val="222A30"/>
                </a:solidFill>
                <a:latin typeface="Meiryo"/>
                <a:ea typeface="Meiryo"/>
                <a:cs typeface="Meiryo"/>
              </a:rPr>
              <a:t>意義：</a:t>
            </a:r>
            <a:r>
              <a:rPr sz="1680" b="0">
                <a:solidFill>
                  <a:srgbClr val="222A30"/>
                </a:solidFill>
                <a:latin typeface="Meiryo"/>
                <a:ea typeface="Meiryo"/>
                <a:cs typeface="Meiryo"/>
              </a:rPr>
              <a:t>停止区間ではエネルギーを消費しない → 省エネルギー・機器保護に直結。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50608" y="1773936"/>
            <a:ext cx="4434840" cy="950976"/>
          </a:xfrm>
          <a:prstGeom prst="roundRect">
            <a:avLst/>
          </a:prstGeom>
          <a:solidFill>
            <a:srgbClr val="F6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0" y="1828800"/>
            <a:ext cx="4114800" cy="84124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9050">
            <a:solidFill>
              <a:srgbClr val="1F6F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1F6F8B"/>
                </a:solidFill>
                <a:latin typeface="Meiryo"/>
                <a:ea typeface="Meiryo"/>
                <a:cs typeface="Meiryo"/>
              </a:rPr>
              <a:t>信号処理：スパースモデリング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98280" y="267004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4F5A63"/>
                </a:solidFill>
                <a:latin typeface="Meiryo"/>
                <a:ea typeface="Meiryo"/>
                <a:cs typeface="Meiryo"/>
              </a:rPr>
              <a:t>▼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50608" y="2990088"/>
            <a:ext cx="4434840" cy="950976"/>
          </a:xfrm>
          <a:prstGeom prst="roundRect">
            <a:avLst/>
          </a:prstGeom>
          <a:solidFill>
            <a:srgbClr val="F6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315200" y="3044952"/>
            <a:ext cx="4114800" cy="84124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9050">
            <a:solidFill>
              <a:srgbClr val="E07A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E07A3F"/>
                </a:solidFill>
                <a:latin typeface="Meiryo"/>
                <a:ea typeface="Meiryo"/>
                <a:cs typeface="Meiryo"/>
              </a:rPr>
              <a:t>制御：スパース最適制御（hands-off）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98280" y="388620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4F5A63"/>
                </a:solidFill>
                <a:latin typeface="Meiryo"/>
                <a:ea typeface="Meiryo"/>
                <a:cs typeface="Meiryo"/>
              </a:rPr>
              <a:t>▼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50608" y="4206240"/>
            <a:ext cx="4434840" cy="950976"/>
          </a:xfrm>
          <a:prstGeom prst="roundRect">
            <a:avLst/>
          </a:prstGeom>
          <a:solidFill>
            <a:srgbClr val="F6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315200" y="4261104"/>
            <a:ext cx="4114800" cy="84124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9050">
            <a:solidFill>
              <a:srgbClr val="1246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124659"/>
                </a:solidFill>
                <a:latin typeface="Meiryo"/>
                <a:ea typeface="Meiryo"/>
                <a:cs typeface="Meiryo"/>
              </a:rPr>
              <a:t>本研究：農業ロボットで実機検証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5074920"/>
            <a:ext cx="5120640" cy="914400"/>
          </a:xfrm>
          <a:prstGeom prst="roundRect">
            <a:avLst/>
          </a:prstGeom>
          <a:solidFill>
            <a:srgbClr val="EE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22960" y="5074920"/>
            <a:ext cx="91440" cy="914400"/>
          </a:xfrm>
          <a:prstGeom prst="rect">
            <a:avLst/>
          </a:prstGeom>
          <a:solidFill>
            <a:srgbClr val="E07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115568" y="5175504"/>
            <a:ext cx="480060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E07A3F"/>
                </a:solidFill>
                <a:latin typeface="Meiryo"/>
                <a:ea typeface="Meiryo"/>
                <a:cs typeface="Meiryo"/>
              </a:rPr>
              <a:t>本研究との接続　</a:t>
            </a:r>
          </a:p>
          <a:p>
            <a:pPr algn="l">
              <a:lnSpc>
                <a:spcPct val="120000"/>
              </a:lnSpc>
            </a:pPr>
            <a:r>
              <a:rPr sz="1350" b="0">
                <a:solidFill>
                  <a:srgbClr val="23292F"/>
                </a:solidFill>
                <a:latin typeface="Meiryo"/>
                <a:ea typeface="Meiryo"/>
                <a:cs typeface="Meiryo"/>
              </a:rPr>
              <a:t>予備実装（操舵 78% が 0）は本理論の離散時間版に相当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475488"/>
            <a:ext cx="1051560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1F6F8B"/>
                </a:solidFill>
                <a:latin typeface="Meiryo"/>
                <a:ea typeface="Meiryo"/>
                <a:cs typeface="Meiryo"/>
              </a:rPr>
              <a:t>論文解説 02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222A30"/>
                </a:solidFill>
                <a:latin typeface="Meiryo"/>
                <a:ea typeface="Meiryo"/>
                <a:cs typeface="Meiryo"/>
              </a:rPr>
              <a:t>従来の最適制御との差異</a:t>
            </a:r>
          </a:p>
        </p:txBody>
      </p:sp>
      <p:sp>
        <p:nvSpPr>
          <p:cNvPr id="3" name="Rectangle 2"/>
          <p:cNvSpPr/>
          <p:nvPr/>
        </p:nvSpPr>
        <p:spPr>
          <a:xfrm>
            <a:off x="841248" y="1335024"/>
            <a:ext cx="786384" cy="45720"/>
          </a:xfrm>
          <a:prstGeom prst="rect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PageNo"/>
          <p:cNvSpPr txBox="1"/>
          <p:nvPr/>
        </p:nvSpPr>
        <p:spPr>
          <a:xfrm>
            <a:off x="10561320" y="6446520"/>
            <a:ext cx="9601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53606A"/>
                </a:solidFill>
                <a:latin typeface="Meiryo"/>
                <a:ea typeface="Meiryo"/>
                <a:cs typeface="Meiryo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4846320" cy="4480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F6F8B"/>
                </a:solidFill>
                <a:latin typeface="Meiryo"/>
                <a:ea typeface="Meiryo"/>
                <a:cs typeface="Meiryo"/>
              </a:rPr>
              <a:t>従来の最適制御（L2）：</a:t>
            </a:r>
            <a:r>
              <a:rPr sz="1500" b="0">
                <a:solidFill>
                  <a:srgbClr val="222A30"/>
                </a:solidFill>
                <a:latin typeface="Meiryo"/>
                <a:ea typeface="Meiryo"/>
                <a:cs typeface="Meiryo"/>
              </a:rPr>
              <a:t>入力エネルギー（2乗）を最小化。</a:t>
            </a:r>
          </a:p>
          <a:p>
            <a:pPr marL="384048" indent="0" algn="l">
              <a:lnSpc>
                <a:spcPct val="122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53606A"/>
                </a:solidFill>
                <a:latin typeface="Meiryo"/>
                <a:ea typeface="Meiryo"/>
                <a:cs typeface="Meiryo"/>
              </a:rPr>
              <a:t>入力は滑らかで、常時わずかに駆動し続ける。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E07A3F"/>
                </a:solidFill>
                <a:latin typeface="Meiryo"/>
                <a:ea typeface="Meiryo"/>
                <a:cs typeface="Meiryo"/>
              </a:rPr>
              <a:t>スパース最適制御（L1/L0）：</a:t>
            </a:r>
            <a:r>
              <a:rPr sz="1500" b="0">
                <a:solidFill>
                  <a:srgbClr val="222A30"/>
                </a:solidFill>
                <a:latin typeface="Meiryo"/>
                <a:ea typeface="Meiryo"/>
                <a:cs typeface="Meiryo"/>
              </a:rPr>
              <a:t>入力の「手数」を最小化。</a:t>
            </a:r>
          </a:p>
          <a:p>
            <a:pPr marL="384048" indent="0" algn="l">
              <a:lnSpc>
                <a:spcPct val="122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53606A"/>
                </a:solidFill>
                <a:latin typeface="Meiryo"/>
                <a:ea typeface="Meiryo"/>
                <a:cs typeface="Meiryo"/>
              </a:rPr>
              <a:t>大半の区間で完全に停止し、要所のみ駆動する。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222A30"/>
                </a:solidFill>
                <a:latin typeface="Meiryo"/>
                <a:ea typeface="Meiryo"/>
                <a:cs typeface="Meiryo"/>
              </a:rPr>
              <a:t>評価軸の転換：</a:t>
            </a:r>
            <a:r>
              <a:rPr sz="1500" b="0">
                <a:solidFill>
                  <a:srgbClr val="222A30"/>
                </a:solidFill>
                <a:latin typeface="Meiryo"/>
                <a:ea typeface="Meiryo"/>
                <a:cs typeface="Meiryo"/>
              </a:rPr>
              <a:t>「いかに上手く動かすか」から「いかに動かさずに済ませるか」へ。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>
                <a:solidFill>
                  <a:srgbClr val="4F5A63"/>
                </a:solidFill>
                <a:latin typeface="Meiryo"/>
                <a:ea typeface="Meiryo"/>
                <a:cs typeface="Meiryo"/>
              </a:rPr>
              <a:t>▸ </a:t>
            </a:r>
            <a:r>
              <a:rPr sz="1500" b="1">
                <a:solidFill>
                  <a:srgbClr val="222A30"/>
                </a:solidFill>
                <a:latin typeface="Meiryo"/>
                <a:ea typeface="Meiryo"/>
                <a:cs typeface="Meiryo"/>
              </a:rPr>
              <a:t>いずれも目標へ到達するが、入力の使い方が本質的に異なる。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0" y="1783080"/>
            <a:ext cx="5760720" cy="357408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760720" y="5989320"/>
            <a:ext cx="57607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4F5A63"/>
                </a:solidFill>
                <a:latin typeface="Meiryo"/>
                <a:ea typeface="Meiryo"/>
                <a:cs typeface="Meiryo"/>
              </a:rPr>
              <a:t>上：従来（常時駆動）／下：スパース（大半は停止・要所のみ）　模式図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475488"/>
            <a:ext cx="1051560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1F6F8B"/>
                </a:solidFill>
                <a:latin typeface="Meiryo"/>
                <a:ea typeface="Meiryo"/>
                <a:cs typeface="Meiryo"/>
              </a:rPr>
              <a:t>論文解説 03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222A30"/>
                </a:solidFill>
                <a:latin typeface="Meiryo"/>
                <a:ea typeface="Meiryo"/>
                <a:cs typeface="Meiryo"/>
              </a:rPr>
              <a:t>入力の疎性と L0 ノルム</a:t>
            </a:r>
          </a:p>
        </p:txBody>
      </p:sp>
      <p:sp>
        <p:nvSpPr>
          <p:cNvPr id="3" name="Rectangle 2"/>
          <p:cNvSpPr/>
          <p:nvPr/>
        </p:nvSpPr>
        <p:spPr>
          <a:xfrm>
            <a:off x="841248" y="1335024"/>
            <a:ext cx="786384" cy="45720"/>
          </a:xfrm>
          <a:prstGeom prst="rect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PageNo"/>
          <p:cNvSpPr txBox="1"/>
          <p:nvPr/>
        </p:nvSpPr>
        <p:spPr>
          <a:xfrm>
            <a:off x="10561320" y="6446520"/>
            <a:ext cx="9601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53606A"/>
                </a:solidFill>
                <a:latin typeface="Meiryo"/>
                <a:ea typeface="Meiryo"/>
                <a:cs typeface="Meiryo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4846320" cy="4480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222A30"/>
                </a:solidFill>
                <a:latin typeface="Meiryo"/>
                <a:ea typeface="Meiryo"/>
                <a:cs typeface="Meiryo"/>
              </a:rPr>
              <a:t>着目量：</a:t>
            </a:r>
            <a:r>
              <a:rPr sz="1500" b="0">
                <a:solidFill>
                  <a:srgbClr val="222A30"/>
                </a:solidFill>
                <a:latin typeface="Meiryo"/>
                <a:ea typeface="Meiryo"/>
                <a:cs typeface="Meiryo"/>
              </a:rPr>
              <a:t>入力の大きさではなく「非ゼロである時間（回数）」＝ L0 ノルム。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222A30"/>
                </a:solidFill>
                <a:latin typeface="Meiryo"/>
                <a:ea typeface="Meiryo"/>
                <a:cs typeface="Meiryo"/>
              </a:rPr>
              <a:t>L0 最小化 ＝ 停止時間の最大化 ＝ </a:t>
            </a:r>
            <a:r>
              <a:rPr sz="1500" b="1">
                <a:solidFill>
                  <a:srgbClr val="E07A3F"/>
                </a:solidFill>
                <a:latin typeface="Meiryo"/>
                <a:ea typeface="Meiryo"/>
                <a:cs typeface="Meiryo"/>
              </a:rPr>
              <a:t>最大ハンズオフ制御。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>
                <a:solidFill>
                  <a:srgbClr val="222A30"/>
                </a:solidFill>
                <a:latin typeface="Meiryo"/>
                <a:ea typeface="Meiryo"/>
                <a:cs typeface="Meiryo"/>
              </a:rPr>
              <a:t>罰則関数の形状が結果を決める（右図）：</a:t>
            </a:r>
          </a:p>
          <a:p>
            <a:pPr marL="384048" indent="0" algn="l">
              <a:lnSpc>
                <a:spcPct val="122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8B"/>
                </a:solidFill>
                <a:latin typeface="Meiryo"/>
                <a:ea typeface="Meiryo"/>
                <a:cs typeface="Meiryo"/>
              </a:rPr>
              <a:t>L2（2乗）</a:t>
            </a:r>
            <a:r>
              <a:rPr sz="1300" b="0">
                <a:solidFill>
                  <a:srgbClr val="53606A"/>
                </a:solidFill>
                <a:latin typeface="Meiryo"/>
                <a:ea typeface="Meiryo"/>
                <a:cs typeface="Meiryo"/>
              </a:rPr>
              <a:t>：原点近傍が滑らか → 完全な 0 を選ばない。</a:t>
            </a:r>
          </a:p>
          <a:p>
            <a:pPr marL="384048" indent="0" algn="l">
              <a:lnSpc>
                <a:spcPct val="122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E07A3F"/>
                </a:solidFill>
                <a:latin typeface="Meiryo"/>
                <a:ea typeface="Meiryo"/>
                <a:cs typeface="Meiryo"/>
              </a:rPr>
              <a:t>L1（絶対値）</a:t>
            </a:r>
            <a:r>
              <a:rPr sz="1300" b="0">
                <a:solidFill>
                  <a:srgbClr val="53606A"/>
                </a:solidFill>
                <a:latin typeface="Meiryo"/>
                <a:ea typeface="Meiryo"/>
                <a:cs typeface="Meiryo"/>
              </a:rPr>
              <a:t>：原点で非平滑 → 厳密な 0 が現れる。</a:t>
            </a:r>
          </a:p>
          <a:p>
            <a:pPr marL="384048" indent="0" algn="l">
              <a:lnSpc>
                <a:spcPct val="122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4F5A63"/>
                </a:solidFill>
                <a:latin typeface="Meiryo"/>
                <a:ea typeface="Meiryo"/>
                <a:cs typeface="Meiryo"/>
              </a:rPr>
              <a:t>L0</a:t>
            </a:r>
            <a:r>
              <a:rPr sz="1300" b="0">
                <a:solidFill>
                  <a:srgbClr val="53606A"/>
                </a:solidFill>
                <a:latin typeface="Meiryo"/>
                <a:ea typeface="Meiryo"/>
                <a:cs typeface="Meiryo"/>
              </a:rPr>
              <a:t>：駆動の有無のみを評価する理想形。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124659"/>
                </a:solidFill>
                <a:latin typeface="Meiryo"/>
                <a:ea typeface="Meiryo"/>
                <a:cs typeface="Meiryo"/>
              </a:rPr>
              <a:t>省エネルギーの根拠：</a:t>
            </a:r>
            <a:r>
              <a:rPr sz="1500" b="0">
                <a:solidFill>
                  <a:srgbClr val="222A30"/>
                </a:solidFill>
                <a:latin typeface="Meiryo"/>
                <a:ea typeface="Meiryo"/>
                <a:cs typeface="Meiryo"/>
              </a:rPr>
              <a:t>停止区間ではエネルギーを消費しない。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0" y="1874519"/>
            <a:ext cx="5669280" cy="314660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852160" y="5852160"/>
            <a:ext cx="56692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4F5A63"/>
                </a:solidFill>
                <a:latin typeface="Meiryo"/>
                <a:ea typeface="Meiryo"/>
                <a:cs typeface="Meiryo"/>
              </a:rPr>
              <a:t>「動かすこと」への罰則の形 ― L0／L1／L2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475488"/>
            <a:ext cx="1051560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1F6F8B"/>
                </a:solidFill>
                <a:latin typeface="Meiryo"/>
                <a:ea typeface="Meiryo"/>
                <a:cs typeface="Meiryo"/>
              </a:rPr>
              <a:t>論文解説 04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222A30"/>
                </a:solidFill>
                <a:latin typeface="Meiryo"/>
                <a:ea typeface="Meiryo"/>
                <a:cs typeface="Meiryo"/>
              </a:rPr>
              <a:t>L0 最小化の緩和 ― L1 ノルムの利用</a:t>
            </a:r>
          </a:p>
        </p:txBody>
      </p:sp>
      <p:sp>
        <p:nvSpPr>
          <p:cNvPr id="3" name="Rectangle 2"/>
          <p:cNvSpPr/>
          <p:nvPr/>
        </p:nvSpPr>
        <p:spPr>
          <a:xfrm>
            <a:off x="841248" y="1335024"/>
            <a:ext cx="786384" cy="45720"/>
          </a:xfrm>
          <a:prstGeom prst="rect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PageNo"/>
          <p:cNvSpPr txBox="1"/>
          <p:nvPr/>
        </p:nvSpPr>
        <p:spPr>
          <a:xfrm>
            <a:off x="10561320" y="6446520"/>
            <a:ext cx="9601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53606A"/>
                </a:solidFill>
                <a:latin typeface="Meiryo"/>
                <a:ea typeface="Meiryo"/>
                <a:cs typeface="Meiryo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4754880" cy="3340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dirty="0">
                <a:solidFill>
                  <a:srgbClr val="222A30"/>
                </a:solidFill>
                <a:latin typeface="Meiryo"/>
                <a:ea typeface="Meiryo"/>
                <a:cs typeface="Meiryo"/>
              </a:rPr>
              <a:t>L0 </a:t>
            </a:r>
            <a:r>
              <a:rPr sz="1500" b="0" dirty="0" err="1">
                <a:solidFill>
                  <a:srgbClr val="222A30"/>
                </a:solidFill>
                <a:latin typeface="Meiryo"/>
                <a:ea typeface="Meiryo"/>
                <a:cs typeface="Meiryo"/>
              </a:rPr>
              <a:t>最小化は</a:t>
            </a:r>
            <a:r>
              <a:rPr sz="1500" b="0" dirty="0">
                <a:solidFill>
                  <a:srgbClr val="222A30"/>
                </a:solidFill>
                <a:latin typeface="Meiryo"/>
                <a:ea typeface="Meiryo"/>
                <a:cs typeface="Meiryo"/>
              </a:rPr>
              <a:t> </a:t>
            </a:r>
            <a:r>
              <a:rPr sz="1500" b="1" dirty="0" err="1">
                <a:solidFill>
                  <a:srgbClr val="E07A3F"/>
                </a:solidFill>
                <a:latin typeface="Meiryo"/>
                <a:ea typeface="Meiryo"/>
                <a:cs typeface="Meiryo"/>
              </a:rPr>
              <a:t>組合せ最適化（NP困難）</a:t>
            </a:r>
            <a:r>
              <a:rPr sz="1500" b="0" dirty="0" err="1">
                <a:solidFill>
                  <a:srgbClr val="222A30"/>
                </a:solidFill>
                <a:latin typeface="Meiryo"/>
                <a:ea typeface="Meiryo"/>
                <a:cs typeface="Meiryo"/>
              </a:rPr>
              <a:t>で、規模が増えると求解が困難</a:t>
            </a:r>
            <a:r>
              <a:rPr sz="1500" b="0" dirty="0">
                <a:solidFill>
                  <a:srgbClr val="222A30"/>
                </a:solidFill>
                <a:latin typeface="Meiryo"/>
                <a:ea typeface="Meiryo"/>
                <a:cs typeface="Meiryo"/>
              </a:rPr>
              <a:t>。</a:t>
            </a:r>
            <a:endParaRPr lang="en-US" sz="1500" b="0" dirty="0">
              <a:solidFill>
                <a:srgbClr val="222A30"/>
              </a:solidFill>
              <a:latin typeface="Meiryo"/>
              <a:ea typeface="Meiryo"/>
              <a:cs typeface="Meiryo"/>
            </a:endParaRP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600"/>
              </a:spcAft>
            </a:pPr>
            <a:endParaRPr sz="1500" b="0" dirty="0">
              <a:solidFill>
                <a:srgbClr val="222A30"/>
              </a:solidFill>
              <a:latin typeface="Meiryo"/>
              <a:ea typeface="Meiryo"/>
              <a:cs typeface="Meiryo"/>
            </a:endParaRP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dirty="0">
                <a:solidFill>
                  <a:srgbClr val="222A30"/>
                </a:solidFill>
                <a:latin typeface="Meiryo"/>
                <a:ea typeface="Meiryo"/>
                <a:cs typeface="Meiryo"/>
              </a:rPr>
              <a:t>圧縮センシングの知見：</a:t>
            </a:r>
            <a:r>
              <a:rPr sz="1500" b="0" dirty="0">
                <a:solidFill>
                  <a:srgbClr val="222A30"/>
                </a:solidFill>
                <a:latin typeface="Meiryo"/>
                <a:ea typeface="Meiryo"/>
                <a:cs typeface="Meiryo"/>
              </a:rPr>
              <a:t>L0 を L1 </a:t>
            </a:r>
            <a:r>
              <a:rPr sz="1500" b="0" dirty="0" err="1">
                <a:solidFill>
                  <a:srgbClr val="222A30"/>
                </a:solidFill>
                <a:latin typeface="Meiryo"/>
                <a:ea typeface="Meiryo"/>
                <a:cs typeface="Meiryo"/>
              </a:rPr>
              <a:t>に緩和すると凸最適化となり、安定に求解できる</a:t>
            </a:r>
            <a:r>
              <a:rPr sz="1500" b="0" dirty="0">
                <a:solidFill>
                  <a:srgbClr val="222A30"/>
                </a:solidFill>
                <a:latin typeface="Meiryo"/>
                <a:ea typeface="Meiryo"/>
                <a:cs typeface="Meiryo"/>
              </a:rPr>
              <a:t>。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 dirty="0">
                <a:solidFill>
                  <a:srgbClr val="222A30"/>
                </a:solidFill>
                <a:latin typeface="Meiryo"/>
                <a:ea typeface="Meiryo"/>
                <a:cs typeface="Meiryo"/>
              </a:rPr>
              <a:t>L1 </a:t>
            </a:r>
            <a:r>
              <a:rPr sz="1500" b="0" dirty="0" err="1">
                <a:solidFill>
                  <a:srgbClr val="222A30"/>
                </a:solidFill>
                <a:latin typeface="Meiryo"/>
                <a:ea typeface="Meiryo"/>
                <a:cs typeface="Meiryo"/>
              </a:rPr>
              <a:t>が疎な解を与える理由（右図</a:t>
            </a:r>
            <a:r>
              <a:rPr sz="1500" b="0" dirty="0">
                <a:solidFill>
                  <a:srgbClr val="222A30"/>
                </a:solidFill>
                <a:latin typeface="Meiryo"/>
                <a:ea typeface="Meiryo"/>
                <a:cs typeface="Meiryo"/>
              </a:rPr>
              <a:t>）：</a:t>
            </a:r>
          </a:p>
          <a:p>
            <a:pPr marL="384048" indent="0"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dirty="0">
                <a:solidFill>
                  <a:srgbClr val="53606A"/>
                </a:solidFill>
                <a:latin typeface="Meiryo"/>
                <a:ea typeface="Meiryo"/>
                <a:cs typeface="Meiryo"/>
              </a:rPr>
              <a:t>目標到達の制約に最も近い点が、L1 </a:t>
            </a:r>
            <a:r>
              <a:rPr sz="1300" b="0" dirty="0" err="1">
                <a:solidFill>
                  <a:srgbClr val="53606A"/>
                </a:solidFill>
                <a:latin typeface="Meiryo"/>
                <a:ea typeface="Meiryo"/>
                <a:cs typeface="Meiryo"/>
              </a:rPr>
              <a:t>では座標軸上（角）に来る</a:t>
            </a:r>
            <a:r>
              <a:rPr sz="1300" b="0" dirty="0">
                <a:solidFill>
                  <a:srgbClr val="53606A"/>
                </a:solidFill>
                <a:latin typeface="Meiryo"/>
                <a:ea typeface="Meiryo"/>
                <a:cs typeface="Meiryo"/>
              </a:rPr>
              <a:t> </a:t>
            </a:r>
            <a:endParaRPr lang="en-US" sz="1300" b="0" dirty="0">
              <a:solidFill>
                <a:srgbClr val="53606A"/>
              </a:solidFill>
              <a:latin typeface="Meiryo"/>
              <a:ea typeface="Meiryo"/>
              <a:cs typeface="Meiryo"/>
            </a:endParaRPr>
          </a:p>
          <a:p>
            <a:pPr marL="384048" indent="0"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lang="en-US" sz="1300" dirty="0">
                <a:solidFill>
                  <a:srgbClr val="53606A"/>
                </a:solidFill>
                <a:latin typeface="Meiryo"/>
                <a:ea typeface="Meiryo"/>
                <a:cs typeface="Meiryo"/>
              </a:rPr>
              <a:t>		</a:t>
            </a:r>
            <a:r>
              <a:rPr sz="1300" b="0" dirty="0">
                <a:solidFill>
                  <a:srgbClr val="53606A"/>
                </a:solidFill>
                <a:latin typeface="Meiryo"/>
                <a:ea typeface="Meiryo"/>
                <a:cs typeface="Meiryo"/>
              </a:rPr>
              <a:t>→ </a:t>
            </a:r>
            <a:r>
              <a:rPr sz="1300" b="0" dirty="0" err="1">
                <a:solidFill>
                  <a:srgbClr val="53606A"/>
                </a:solidFill>
                <a:latin typeface="Meiryo"/>
                <a:ea typeface="Meiryo"/>
                <a:cs typeface="Meiryo"/>
              </a:rPr>
              <a:t>ある成分が厳密に</a:t>
            </a:r>
            <a:r>
              <a:rPr sz="1300" b="0" dirty="0">
                <a:solidFill>
                  <a:srgbClr val="53606A"/>
                </a:solidFill>
                <a:latin typeface="Meiryo"/>
                <a:ea typeface="Meiryo"/>
                <a:cs typeface="Meiryo"/>
              </a:rPr>
              <a:t> 0。</a:t>
            </a:r>
          </a:p>
          <a:p>
            <a:pPr marL="384048" indent="0" algn="l">
              <a:lnSpc>
                <a:spcPct val="122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dirty="0">
                <a:solidFill>
                  <a:srgbClr val="4F5A63"/>
                </a:solidFill>
                <a:latin typeface="Meiryo"/>
                <a:ea typeface="Meiryo"/>
                <a:cs typeface="Meiryo"/>
              </a:rPr>
              <a:t>▸ </a:t>
            </a:r>
            <a:r>
              <a:rPr sz="1300" b="0" dirty="0" err="1">
                <a:solidFill>
                  <a:srgbClr val="222A30"/>
                </a:solidFill>
                <a:latin typeface="Meiryo"/>
                <a:ea typeface="Meiryo"/>
                <a:cs typeface="Meiryo"/>
              </a:rPr>
              <a:t>数学的には軟しきい値（不感帯）として現れる（論文</a:t>
            </a:r>
            <a:r>
              <a:rPr sz="1300" b="0" dirty="0">
                <a:solidFill>
                  <a:srgbClr val="222A30"/>
                </a:solidFill>
                <a:latin typeface="Meiryo"/>
                <a:ea typeface="Meiryo"/>
                <a:cs typeface="Meiryo"/>
              </a:rPr>
              <a:t> 図5）。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0" y="1828800"/>
            <a:ext cx="5852160" cy="300822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69280" y="5852160"/>
            <a:ext cx="58521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4F5A63"/>
                </a:solidFill>
                <a:latin typeface="Meiryo"/>
                <a:ea typeface="Meiryo"/>
                <a:cs typeface="Meiryo"/>
              </a:rPr>
              <a:t>最も近い点が、L1 では座標軸上（角）で接する → 成分が 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475488"/>
            <a:ext cx="1051560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1F6F8B"/>
                </a:solidFill>
                <a:latin typeface="Meiryo"/>
                <a:ea typeface="Meiryo"/>
                <a:cs typeface="Meiryo"/>
              </a:rPr>
              <a:t>論文解説 05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222A30"/>
                </a:solidFill>
                <a:latin typeface="Meiryo"/>
                <a:ea typeface="Meiryo"/>
                <a:cs typeface="Meiryo"/>
              </a:rPr>
              <a:t>主要結果 ― L1 最適性と L0 最適性の一致</a:t>
            </a:r>
          </a:p>
        </p:txBody>
      </p:sp>
      <p:sp>
        <p:nvSpPr>
          <p:cNvPr id="3" name="Rectangle 2"/>
          <p:cNvSpPr/>
          <p:nvPr/>
        </p:nvSpPr>
        <p:spPr>
          <a:xfrm>
            <a:off x="841248" y="1335024"/>
            <a:ext cx="786384" cy="45720"/>
          </a:xfrm>
          <a:prstGeom prst="rect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PageNo"/>
          <p:cNvSpPr txBox="1"/>
          <p:nvPr/>
        </p:nvSpPr>
        <p:spPr>
          <a:xfrm>
            <a:off x="10561320" y="6446520"/>
            <a:ext cx="9601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53606A"/>
                </a:solidFill>
                <a:latin typeface="Meiryo"/>
                <a:ea typeface="Meiryo"/>
                <a:cs typeface="Meiryo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4846320" cy="3523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dirty="0" err="1">
                <a:solidFill>
                  <a:srgbClr val="E07A3F"/>
                </a:solidFill>
                <a:latin typeface="Meiryo"/>
                <a:ea typeface="Meiryo"/>
                <a:cs typeface="Meiryo"/>
              </a:rPr>
              <a:t>主要結果：</a:t>
            </a:r>
            <a:r>
              <a:rPr sz="1500" b="0" dirty="0" err="1">
                <a:solidFill>
                  <a:srgbClr val="222A30"/>
                </a:solidFill>
                <a:latin typeface="Meiryo"/>
                <a:ea typeface="Meiryo"/>
                <a:cs typeface="Meiryo"/>
              </a:rPr>
              <a:t>正規性条件の下で</a:t>
            </a:r>
            <a:r>
              <a:rPr sz="1500" b="0" dirty="0">
                <a:solidFill>
                  <a:srgbClr val="222A30"/>
                </a:solidFill>
                <a:latin typeface="Meiryo"/>
                <a:ea typeface="Meiryo"/>
                <a:cs typeface="Meiryo"/>
              </a:rPr>
              <a:t>、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dirty="0">
                <a:solidFill>
                  <a:srgbClr val="E07A3F"/>
                </a:solidFill>
                <a:latin typeface="Meiryo"/>
                <a:ea typeface="Meiryo"/>
                <a:cs typeface="Meiryo"/>
              </a:rPr>
              <a:t>　L1 </a:t>
            </a:r>
            <a:r>
              <a:rPr sz="1500" b="1" dirty="0" err="1">
                <a:solidFill>
                  <a:srgbClr val="E07A3F"/>
                </a:solidFill>
                <a:latin typeface="Meiryo"/>
                <a:ea typeface="Meiryo"/>
                <a:cs typeface="Meiryo"/>
              </a:rPr>
              <a:t>最適制御</a:t>
            </a:r>
            <a:r>
              <a:rPr sz="1500" b="1" dirty="0">
                <a:solidFill>
                  <a:srgbClr val="E07A3F"/>
                </a:solidFill>
                <a:latin typeface="Meiryo"/>
                <a:ea typeface="Meiryo"/>
                <a:cs typeface="Meiryo"/>
              </a:rPr>
              <a:t> ＝ L0 </a:t>
            </a:r>
            <a:r>
              <a:rPr sz="1500" b="1" dirty="0" err="1">
                <a:solidFill>
                  <a:srgbClr val="E07A3F"/>
                </a:solidFill>
                <a:latin typeface="Meiryo"/>
                <a:ea typeface="Meiryo"/>
                <a:cs typeface="Meiryo"/>
              </a:rPr>
              <a:t>最適（最大ハンズオフ）制御</a:t>
            </a:r>
            <a:endParaRPr lang="en-US" sz="1500" b="1" dirty="0">
              <a:solidFill>
                <a:srgbClr val="E07A3F"/>
              </a:solidFill>
              <a:latin typeface="Meiryo"/>
              <a:ea typeface="Meiryo"/>
              <a:cs typeface="Meiryo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endParaRPr sz="1500" b="1" dirty="0">
              <a:solidFill>
                <a:srgbClr val="E07A3F"/>
              </a:solidFill>
              <a:latin typeface="Meiryo"/>
              <a:ea typeface="Meiryo"/>
              <a:cs typeface="Meiryo"/>
            </a:endParaRP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dirty="0">
                <a:solidFill>
                  <a:srgbClr val="222A30"/>
                </a:solidFill>
                <a:latin typeface="Meiryo"/>
                <a:ea typeface="Meiryo"/>
                <a:cs typeface="Meiryo"/>
              </a:rPr>
              <a:t>含意：</a:t>
            </a:r>
            <a:r>
              <a:rPr sz="1500" b="0" dirty="0">
                <a:solidFill>
                  <a:srgbClr val="222A30"/>
                </a:solidFill>
                <a:latin typeface="Meiryo"/>
                <a:ea typeface="Meiryo"/>
                <a:cs typeface="Meiryo"/>
              </a:rPr>
              <a:t>凸問題（L1）の求解で、</a:t>
            </a:r>
            <a:r>
              <a:rPr sz="1500" b="1" dirty="0">
                <a:solidFill>
                  <a:srgbClr val="E07A3F"/>
                </a:solidFill>
                <a:latin typeface="Meiryo"/>
                <a:ea typeface="Meiryo"/>
                <a:cs typeface="Meiryo"/>
              </a:rPr>
              <a:t>最も疎な制御を厳密に得られる。</a:t>
            </a:r>
            <a:endParaRPr lang="en-US" sz="1500" b="1" dirty="0">
              <a:solidFill>
                <a:srgbClr val="E07A3F"/>
              </a:solidFill>
              <a:latin typeface="Meiryo"/>
              <a:ea typeface="Meiryo"/>
              <a:cs typeface="Meiryo"/>
            </a:endParaRP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600"/>
              </a:spcAft>
            </a:pPr>
            <a:endParaRPr sz="1500" b="1" dirty="0">
              <a:solidFill>
                <a:srgbClr val="E07A3F"/>
              </a:solidFill>
              <a:latin typeface="Meiryo"/>
              <a:ea typeface="Meiryo"/>
              <a:cs typeface="Meiryo"/>
            </a:endParaRP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dirty="0" err="1">
                <a:solidFill>
                  <a:srgbClr val="222A30"/>
                </a:solidFill>
                <a:latin typeface="Meiryo"/>
                <a:ea typeface="Meiryo"/>
                <a:cs typeface="Meiryo"/>
              </a:rPr>
              <a:t>最適解の構造：</a:t>
            </a:r>
            <a:r>
              <a:rPr sz="1500" b="0" dirty="0" err="1">
                <a:solidFill>
                  <a:srgbClr val="222A30"/>
                </a:solidFill>
                <a:latin typeface="Meiryo"/>
                <a:ea typeface="Meiryo"/>
                <a:cs typeface="Meiryo"/>
              </a:rPr>
              <a:t>bang-off-bang</a:t>
            </a:r>
            <a:r>
              <a:rPr sz="1500" b="0" dirty="0">
                <a:solidFill>
                  <a:srgbClr val="222A30"/>
                </a:solidFill>
                <a:latin typeface="Meiryo"/>
                <a:ea typeface="Meiryo"/>
                <a:cs typeface="Meiryo"/>
              </a:rPr>
              <a:t>（＋最大／0／−</a:t>
            </a:r>
            <a:r>
              <a:rPr sz="1500" b="0" dirty="0" err="1">
                <a:solidFill>
                  <a:srgbClr val="222A30"/>
                </a:solidFill>
                <a:latin typeface="Meiryo"/>
                <a:ea typeface="Meiryo"/>
                <a:cs typeface="Meiryo"/>
              </a:rPr>
              <a:t>最大</a:t>
            </a:r>
            <a:r>
              <a:rPr sz="1500" b="0" dirty="0">
                <a:solidFill>
                  <a:srgbClr val="222A30"/>
                </a:solidFill>
                <a:latin typeface="Meiryo"/>
                <a:ea typeface="Meiryo"/>
                <a:cs typeface="Meiryo"/>
              </a:rPr>
              <a:t> の3値）。</a:t>
            </a:r>
          </a:p>
          <a:p>
            <a:pPr marL="384048" indent="0" algn="l">
              <a:lnSpc>
                <a:spcPct val="122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dirty="0">
                <a:solidFill>
                  <a:srgbClr val="53606A"/>
                </a:solidFill>
                <a:latin typeface="Meiryo"/>
                <a:ea typeface="Meiryo"/>
                <a:cs typeface="Meiryo"/>
              </a:rPr>
              <a:t>0 </a:t>
            </a:r>
            <a:r>
              <a:rPr sz="1300" b="0" dirty="0" err="1">
                <a:solidFill>
                  <a:srgbClr val="53606A"/>
                </a:solidFill>
                <a:latin typeface="Meiryo"/>
                <a:ea typeface="Meiryo"/>
                <a:cs typeface="Meiryo"/>
              </a:rPr>
              <a:t>の区間が</a:t>
            </a:r>
            <a:r>
              <a:rPr sz="1300" b="0" dirty="0">
                <a:solidFill>
                  <a:srgbClr val="53606A"/>
                </a:solidFill>
                <a:latin typeface="Meiryo"/>
                <a:ea typeface="Meiryo"/>
                <a:cs typeface="Meiryo"/>
              </a:rPr>
              <a:t> </a:t>
            </a:r>
            <a:r>
              <a:rPr sz="1300" b="1" dirty="0" err="1">
                <a:solidFill>
                  <a:srgbClr val="124659"/>
                </a:solidFill>
                <a:latin typeface="Meiryo"/>
                <a:ea typeface="Meiryo"/>
                <a:cs typeface="Meiryo"/>
              </a:rPr>
              <a:t>手放し（hands-off）区間</a:t>
            </a:r>
            <a:r>
              <a:rPr sz="1300" b="1" dirty="0">
                <a:solidFill>
                  <a:srgbClr val="124659"/>
                </a:solidFill>
                <a:latin typeface="Meiryo"/>
                <a:ea typeface="Meiryo"/>
                <a:cs typeface="Meiryo"/>
              </a:rPr>
              <a:t>。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dirty="0">
                <a:solidFill>
                  <a:srgbClr val="4F5A63"/>
                </a:solidFill>
                <a:latin typeface="Meiryo"/>
                <a:ea typeface="Meiryo"/>
                <a:cs typeface="Meiryo"/>
              </a:rPr>
              <a:t>▸ </a:t>
            </a:r>
            <a:r>
              <a:rPr sz="1500" b="0" dirty="0">
                <a:solidFill>
                  <a:srgbClr val="222A30"/>
                </a:solidFill>
                <a:latin typeface="Meiryo"/>
                <a:ea typeface="Meiryo"/>
                <a:cs typeface="Meiryo"/>
              </a:rPr>
              <a:t>「</a:t>
            </a:r>
            <a:r>
              <a:rPr sz="1500" b="0" dirty="0" err="1">
                <a:solidFill>
                  <a:srgbClr val="222A30"/>
                </a:solidFill>
                <a:latin typeface="Meiryo"/>
                <a:ea typeface="Meiryo"/>
                <a:cs typeface="Meiryo"/>
              </a:rPr>
              <a:t>滑らかに微調整」ではなく「停止か飽和か」が最適となる</a:t>
            </a:r>
            <a:r>
              <a:rPr sz="1500" b="0" dirty="0">
                <a:solidFill>
                  <a:srgbClr val="222A30"/>
                </a:solidFill>
                <a:latin typeface="Meiryo"/>
                <a:ea typeface="Meiryo"/>
                <a:cs typeface="Meiryo"/>
              </a:rPr>
              <a:t>。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6440" y="2011680"/>
            <a:ext cx="5715000" cy="277177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806440" y="5852160"/>
            <a:ext cx="57150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4F5A63"/>
                </a:solidFill>
                <a:latin typeface="Meiryo"/>
                <a:ea typeface="Meiryo"/>
                <a:cs typeface="Meiryo"/>
              </a:rPr>
              <a:t>最適なスパース制御 ＝ ±最大 か 0 の3値（bang-off-bang）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475488"/>
            <a:ext cx="1051560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1F6F8B"/>
                </a:solidFill>
                <a:latin typeface="Meiryo"/>
                <a:ea typeface="Meiryo"/>
                <a:cs typeface="Meiryo"/>
              </a:rPr>
              <a:t>論文解説 06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222A30"/>
                </a:solidFill>
                <a:latin typeface="Meiryo"/>
                <a:ea typeface="Meiryo"/>
                <a:cs typeface="Meiryo"/>
              </a:rPr>
              <a:t>離散時間定式化と実装</a:t>
            </a:r>
          </a:p>
        </p:txBody>
      </p:sp>
      <p:sp>
        <p:nvSpPr>
          <p:cNvPr id="3" name="Rectangle 2"/>
          <p:cNvSpPr/>
          <p:nvPr/>
        </p:nvSpPr>
        <p:spPr>
          <a:xfrm>
            <a:off x="841248" y="1335024"/>
            <a:ext cx="786384" cy="45720"/>
          </a:xfrm>
          <a:prstGeom prst="rect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PageNo"/>
          <p:cNvSpPr txBox="1"/>
          <p:nvPr/>
        </p:nvSpPr>
        <p:spPr>
          <a:xfrm>
            <a:off x="10561320" y="6446520"/>
            <a:ext cx="9601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53606A"/>
                </a:solidFill>
                <a:latin typeface="Meiryo"/>
                <a:ea typeface="Meiryo"/>
                <a:cs typeface="Meiryo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612648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100"/>
              </a:spcAft>
            </a:pPr>
            <a:r>
              <a:rPr sz="1350" b="0">
                <a:solidFill>
                  <a:srgbClr val="222A30"/>
                </a:solidFill>
                <a:latin typeface="Meiryo"/>
                <a:ea typeface="Meiryo"/>
                <a:cs typeface="Meiryo"/>
              </a:rPr>
              <a:t>終端条件 x[N]=0 → </a:t>
            </a:r>
            <a:r>
              <a:rPr sz="1350" b="1">
                <a:solidFill>
                  <a:srgbClr val="E07A3F"/>
                </a:solidFill>
                <a:latin typeface="Meiryo"/>
                <a:ea typeface="Meiryo"/>
                <a:cs typeface="Meiryo"/>
              </a:rPr>
              <a:t>Φz = ζ</a:t>
            </a:r>
            <a:r>
              <a:rPr sz="1350" b="0">
                <a:solidFill>
                  <a:srgbClr val="222A30"/>
                </a:solidFill>
                <a:latin typeface="Meiryo"/>
                <a:ea typeface="Meiryo"/>
                <a:cs typeface="Meiryo"/>
              </a:rPr>
              <a:t>（線形制約）に帰着。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E07A3F"/>
                </a:solidFill>
                <a:latin typeface="Meiryo"/>
                <a:ea typeface="Meiryo"/>
                <a:cs typeface="Meiryo"/>
              </a:rPr>
              <a:t>　min ‖z‖₁   s.t.   Φz = ζ,   ‖z‖∞ ≤ 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743200"/>
            <a:ext cx="6126480" cy="2697480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 w="9525">
            <a:solidFill>
              <a:srgbClr val="DC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22960" y="2816352"/>
            <a:ext cx="64008" cy="2551176"/>
          </a:xfrm>
          <a:prstGeom prst="rect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42416" y="2862072"/>
            <a:ext cx="5760720" cy="245973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202A33"/>
                </a:solidFill>
                <a:latin typeface="MS Gothic"/>
                <a:ea typeface="MS Gothic"/>
                <a:cs typeface="MS Gothic"/>
              </a:rPr>
              <a:t>z = cp.Variable(2 * n)</a:t>
            </a:r>
            <a:r>
              <a:rPr sz="1250" b="0">
                <a:solidFill>
                  <a:srgbClr val="2E7A60"/>
                </a:solidFill>
                <a:latin typeface="MS Gothic"/>
                <a:ea typeface="MS Gothic"/>
                <a:cs typeface="MS Gothic"/>
              </a:rPr>
              <a:t>        # 全ステップ分の入力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202A33"/>
                </a:solidFill>
                <a:latin typeface="MS Gothic"/>
                <a:ea typeface="MS Gothic"/>
                <a:cs typeface="MS Gothic"/>
              </a:rPr>
              <a:t>prob = cp.Problem(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202A33"/>
                </a:solidFill>
                <a:latin typeface="MS Gothic"/>
                <a:ea typeface="MS Gothic"/>
                <a:cs typeface="MS Gothic"/>
              </a:rPr>
              <a:t>    cp.Minimize(cp.norm1(z)),</a:t>
            </a:r>
            <a:r>
              <a:rPr sz="1250" b="0">
                <a:solidFill>
                  <a:srgbClr val="2E7A60"/>
                </a:solidFill>
                <a:latin typeface="MS Gothic"/>
                <a:ea typeface="MS Gothic"/>
                <a:cs typeface="MS Gothic"/>
              </a:rPr>
              <a:t>   # ★ L1＝手数を最小化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202A33"/>
                </a:solidFill>
                <a:latin typeface="MS Gothic"/>
                <a:ea typeface="MS Gothic"/>
                <a:cs typeface="MS Gothic"/>
              </a:rPr>
              <a:t>    [Phi @ z == zeta,</a:t>
            </a:r>
            <a:r>
              <a:rPr sz="1250" b="0">
                <a:solidFill>
                  <a:srgbClr val="2E7A60"/>
                </a:solidFill>
                <a:latin typeface="MS Gothic"/>
                <a:ea typeface="MS Gothic"/>
                <a:cs typeface="MS Gothic"/>
              </a:rPr>
              <a:t>        # 目標到達（Φz=ζ）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202A33"/>
                </a:solidFill>
                <a:latin typeface="MS Gothic"/>
                <a:ea typeface="MS Gothic"/>
                <a:cs typeface="MS Gothic"/>
              </a:rPr>
              <a:t>     cp.norm_inf(z) &lt;= 1])</a:t>
            </a:r>
            <a:r>
              <a:rPr sz="1250" b="0">
                <a:solidFill>
                  <a:srgbClr val="2E7A60"/>
                </a:solidFill>
                <a:latin typeface="MS Gothic"/>
                <a:ea typeface="MS Gothic"/>
                <a:cs typeface="MS Gothic"/>
              </a:rPr>
              <a:t>   # 入力上限（飽和）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202A33"/>
                </a:solidFill>
                <a:latin typeface="MS Gothic"/>
                <a:ea typeface="MS Gothic"/>
                <a:cs typeface="MS Gothic"/>
              </a:rPr>
              <a:t>prob.solve()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513832"/>
            <a:ext cx="61264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4F5A63"/>
                </a:solidFill>
                <a:latin typeface="Meiryo"/>
                <a:ea typeface="Meiryo"/>
                <a:cs typeface="Meiryo"/>
              </a:rPr>
              <a:t>cvxpy により目的関数を数式に近い形で記述（予備実装）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040" y="1828800"/>
            <a:ext cx="4389120" cy="162259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178040" y="3703320"/>
            <a:ext cx="4389120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222A30"/>
                </a:solidFill>
                <a:latin typeface="Meiryo"/>
                <a:ea typeface="Meiryo"/>
                <a:cs typeface="Meiryo"/>
              </a:rPr>
              <a:t>結果：</a:t>
            </a:r>
            <a:r>
              <a:rPr sz="1300" b="0">
                <a:solidFill>
                  <a:srgbClr val="222A30"/>
                </a:solidFill>
                <a:latin typeface="Meiryo"/>
                <a:ea typeface="Meiryo"/>
                <a:cs typeface="Meiryo"/>
              </a:rPr>
              <a:t>操舵 δω は ±最大 と 0 のみ＝ bang-off-bang。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E07A3F"/>
                </a:solidFill>
                <a:latin typeface="Meiryo"/>
                <a:ea typeface="Meiryo"/>
                <a:cs typeface="Meiryo"/>
              </a:rPr>
              <a:t>全ステップの 78% が厳密に 0</a:t>
            </a:r>
            <a:r>
              <a:rPr sz="1300" b="0">
                <a:solidFill>
                  <a:srgbClr val="222A30"/>
                </a:solidFill>
                <a:latin typeface="Meiryo"/>
                <a:ea typeface="Meiryo"/>
                <a:cs typeface="Meiryo"/>
              </a:rPr>
              <a:t>（hands-off）。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4F5A63"/>
                </a:solidFill>
                <a:latin typeface="Meiryo"/>
                <a:ea typeface="Meiryo"/>
                <a:cs typeface="Meiryo"/>
              </a:rPr>
              <a:t>▸ </a:t>
            </a:r>
            <a:r>
              <a:rPr sz="1300" b="1">
                <a:solidFill>
                  <a:srgbClr val="222A30"/>
                </a:solidFill>
                <a:latin typeface="Meiryo"/>
                <a:ea typeface="Meiryo"/>
                <a:cs typeface="Meiryo"/>
              </a:rPr>
              <a:t>論文の理論を、ローバーの運動モデル上で再現。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475488"/>
            <a:ext cx="1051560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1F6F8B"/>
                </a:solidFill>
                <a:latin typeface="Meiryo"/>
                <a:ea typeface="Meiryo"/>
                <a:cs typeface="Meiryo"/>
              </a:rPr>
              <a:t>論文解説 07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222A30"/>
                </a:solidFill>
                <a:latin typeface="Meiryo"/>
                <a:ea typeface="Meiryo"/>
                <a:cs typeface="Meiryo"/>
              </a:rPr>
              <a:t>MPC への拡張と本研究の位置づけ</a:t>
            </a:r>
          </a:p>
        </p:txBody>
      </p:sp>
      <p:sp>
        <p:nvSpPr>
          <p:cNvPr id="3" name="Rectangle 2"/>
          <p:cNvSpPr/>
          <p:nvPr/>
        </p:nvSpPr>
        <p:spPr>
          <a:xfrm>
            <a:off x="841248" y="1335024"/>
            <a:ext cx="786384" cy="45720"/>
          </a:xfrm>
          <a:prstGeom prst="rect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PageNo"/>
          <p:cNvSpPr txBox="1"/>
          <p:nvPr/>
        </p:nvSpPr>
        <p:spPr>
          <a:xfrm>
            <a:off x="10561320" y="6446520"/>
            <a:ext cx="9601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53606A"/>
                </a:solidFill>
                <a:latin typeface="Meiryo"/>
                <a:ea typeface="Meiryo"/>
                <a:cs typeface="Meiryo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6126480" cy="37181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dirty="0" err="1">
                <a:solidFill>
                  <a:srgbClr val="222A30"/>
                </a:solidFill>
                <a:latin typeface="Meiryo"/>
                <a:ea typeface="Meiryo"/>
                <a:cs typeface="Meiryo"/>
              </a:rPr>
              <a:t>論文の定式化は</a:t>
            </a:r>
            <a:r>
              <a:rPr sz="1500" b="0" dirty="0">
                <a:solidFill>
                  <a:srgbClr val="222A30"/>
                </a:solidFill>
                <a:latin typeface="Meiryo"/>
                <a:ea typeface="Meiryo"/>
                <a:cs typeface="Meiryo"/>
              </a:rPr>
              <a:t> </a:t>
            </a:r>
            <a:r>
              <a:rPr sz="1500" b="1" dirty="0" err="1">
                <a:solidFill>
                  <a:srgbClr val="E07A3F"/>
                </a:solidFill>
                <a:latin typeface="Meiryo"/>
                <a:ea typeface="Meiryo"/>
                <a:cs typeface="Meiryo"/>
              </a:rPr>
              <a:t>オープンループ（一括最適化</a:t>
            </a:r>
            <a:r>
              <a:rPr sz="1500" b="1" dirty="0">
                <a:solidFill>
                  <a:srgbClr val="E07A3F"/>
                </a:solidFill>
                <a:latin typeface="Meiryo"/>
                <a:ea typeface="Meiryo"/>
                <a:cs typeface="Meiryo"/>
              </a:rPr>
              <a:t>）</a:t>
            </a:r>
            <a:endParaRPr lang="en-US" sz="1500" b="1" dirty="0">
              <a:solidFill>
                <a:srgbClr val="E07A3F"/>
              </a:solidFill>
              <a:latin typeface="Meiryo"/>
              <a:ea typeface="Meiryo"/>
              <a:cs typeface="Meiryo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500" b="1" dirty="0">
                <a:solidFill>
                  <a:srgbClr val="E07A3F"/>
                </a:solidFill>
                <a:latin typeface="Meiryo"/>
                <a:ea typeface="Meiryo"/>
                <a:cs typeface="Meiryo"/>
              </a:rPr>
              <a:t>	</a:t>
            </a:r>
            <a:r>
              <a:rPr sz="1500" b="0" dirty="0">
                <a:solidFill>
                  <a:srgbClr val="222A30"/>
                </a:solidFill>
                <a:latin typeface="Meiryo"/>
                <a:ea typeface="Meiryo"/>
                <a:cs typeface="Meiryo"/>
              </a:rPr>
              <a:t>→ </a:t>
            </a:r>
            <a:r>
              <a:rPr sz="1500" b="0" dirty="0" err="1">
                <a:solidFill>
                  <a:srgbClr val="222A30"/>
                </a:solidFill>
                <a:latin typeface="Meiryo"/>
                <a:ea typeface="Meiryo"/>
                <a:cs typeface="Meiryo"/>
              </a:rPr>
              <a:t>外乱に対し誤差が蓄積</a:t>
            </a:r>
            <a:r>
              <a:rPr sz="1500" b="0" dirty="0">
                <a:solidFill>
                  <a:srgbClr val="222A30"/>
                </a:solidFill>
                <a:latin typeface="Meiryo"/>
                <a:ea typeface="Meiryo"/>
                <a:cs typeface="Meiryo"/>
              </a:rPr>
              <a:t>。</a:t>
            </a:r>
            <a:endParaRPr lang="en-US" sz="1500" b="0" dirty="0">
              <a:solidFill>
                <a:srgbClr val="222A30"/>
              </a:solidFill>
              <a:latin typeface="Meiryo"/>
              <a:ea typeface="Meiryo"/>
              <a:cs typeface="Meiryo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endParaRPr sz="1500" b="0" dirty="0">
              <a:solidFill>
                <a:srgbClr val="222A30"/>
              </a:solidFill>
              <a:latin typeface="Meiryo"/>
              <a:ea typeface="Meiryo"/>
              <a:cs typeface="Meiryo"/>
            </a:endParaRP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dirty="0" err="1">
                <a:solidFill>
                  <a:srgbClr val="222A30"/>
                </a:solidFill>
                <a:latin typeface="Meiryo"/>
                <a:ea typeface="Meiryo"/>
                <a:cs typeface="Meiryo"/>
              </a:rPr>
              <a:t>本研究の拡張：</a:t>
            </a:r>
            <a:r>
              <a:rPr sz="1500" b="0" dirty="0" err="1">
                <a:solidFill>
                  <a:srgbClr val="222A30"/>
                </a:solidFill>
                <a:latin typeface="Meiryo"/>
                <a:ea typeface="Meiryo"/>
                <a:cs typeface="Meiryo"/>
              </a:rPr>
              <a:t>各周期で再求解する</a:t>
            </a:r>
            <a:r>
              <a:rPr sz="1500" b="0" dirty="0">
                <a:solidFill>
                  <a:srgbClr val="222A30"/>
                </a:solidFill>
                <a:latin typeface="Meiryo"/>
                <a:ea typeface="Meiryo"/>
                <a:cs typeface="Meiryo"/>
              </a:rPr>
              <a:t> MPC に L1 </a:t>
            </a:r>
            <a:r>
              <a:rPr sz="1500" b="0" dirty="0" err="1">
                <a:solidFill>
                  <a:srgbClr val="222A30"/>
                </a:solidFill>
                <a:latin typeface="Meiryo"/>
                <a:ea typeface="Meiryo"/>
                <a:cs typeface="Meiryo"/>
              </a:rPr>
              <a:t>を導入</a:t>
            </a:r>
            <a:r>
              <a:rPr sz="1500" b="0" dirty="0">
                <a:solidFill>
                  <a:srgbClr val="222A30"/>
                </a:solidFill>
                <a:latin typeface="Meiryo"/>
                <a:ea typeface="Meiryo"/>
                <a:cs typeface="Meiryo"/>
              </a:rPr>
              <a:t>。</a:t>
            </a:r>
          </a:p>
          <a:p>
            <a:pPr marL="384048" indent="0"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dirty="0" err="1">
                <a:solidFill>
                  <a:srgbClr val="53606A"/>
                </a:solidFill>
                <a:latin typeface="Meiryo"/>
                <a:ea typeface="Meiryo"/>
                <a:cs typeface="Meiryo"/>
              </a:rPr>
              <a:t>参照速度からの補正</a:t>
            </a:r>
            <a:r>
              <a:rPr sz="1300" b="0" dirty="0">
                <a:solidFill>
                  <a:srgbClr val="53606A"/>
                </a:solidFill>
                <a:latin typeface="Meiryo"/>
                <a:ea typeface="Meiryo"/>
                <a:cs typeface="Meiryo"/>
              </a:rPr>
              <a:t> </a:t>
            </a:r>
            <a:r>
              <a:rPr sz="1300" b="0" dirty="0" err="1">
                <a:solidFill>
                  <a:srgbClr val="53606A"/>
                </a:solidFill>
                <a:latin typeface="Meiryo"/>
                <a:ea typeface="Meiryo"/>
                <a:cs typeface="Meiryo"/>
              </a:rPr>
              <a:t>δu</a:t>
            </a:r>
            <a:r>
              <a:rPr sz="1300" b="0" dirty="0">
                <a:solidFill>
                  <a:srgbClr val="53606A"/>
                </a:solidFill>
                <a:latin typeface="Meiryo"/>
                <a:ea typeface="Meiryo"/>
                <a:cs typeface="Meiryo"/>
              </a:rPr>
              <a:t> の L1 </a:t>
            </a:r>
            <a:r>
              <a:rPr sz="1300" b="0" dirty="0" err="1">
                <a:solidFill>
                  <a:srgbClr val="53606A"/>
                </a:solidFill>
                <a:latin typeface="Meiryo"/>
                <a:ea typeface="Meiryo"/>
                <a:cs typeface="Meiryo"/>
              </a:rPr>
              <a:t>を最小化</a:t>
            </a:r>
            <a:endParaRPr lang="en-US" sz="1300" b="0" dirty="0">
              <a:solidFill>
                <a:srgbClr val="53606A"/>
              </a:solidFill>
              <a:latin typeface="Meiryo"/>
              <a:ea typeface="Meiryo"/>
              <a:cs typeface="Meiryo"/>
            </a:endParaRPr>
          </a:p>
          <a:p>
            <a:pPr marL="384048" indent="0"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lang="en-US" sz="1300" dirty="0">
                <a:solidFill>
                  <a:srgbClr val="53606A"/>
                </a:solidFill>
                <a:latin typeface="Meiryo"/>
                <a:ea typeface="Meiryo"/>
                <a:cs typeface="Meiryo"/>
              </a:rPr>
              <a:t>	</a:t>
            </a:r>
            <a:r>
              <a:rPr sz="1300" b="0" dirty="0">
                <a:solidFill>
                  <a:srgbClr val="53606A"/>
                </a:solidFill>
                <a:latin typeface="Meiryo"/>
                <a:ea typeface="Meiryo"/>
                <a:cs typeface="Meiryo"/>
              </a:rPr>
              <a:t> → </a:t>
            </a:r>
            <a:r>
              <a:rPr sz="1300" b="0" dirty="0" err="1">
                <a:solidFill>
                  <a:srgbClr val="53606A"/>
                </a:solidFill>
                <a:latin typeface="Meiryo"/>
                <a:ea typeface="Meiryo"/>
                <a:cs typeface="Meiryo"/>
              </a:rPr>
              <a:t>巡航を保ちつつ補正のみ疎にする</a:t>
            </a:r>
            <a:r>
              <a:rPr sz="1300" b="0" dirty="0">
                <a:solidFill>
                  <a:srgbClr val="53606A"/>
                </a:solidFill>
                <a:latin typeface="Meiryo"/>
                <a:ea typeface="Meiryo"/>
                <a:cs typeface="Meiryo"/>
              </a:rPr>
              <a:t>。</a:t>
            </a:r>
            <a:endParaRPr lang="en-US" sz="1300" b="0" dirty="0">
              <a:solidFill>
                <a:srgbClr val="53606A"/>
              </a:solidFill>
              <a:latin typeface="Meiryo"/>
              <a:ea typeface="Meiryo"/>
              <a:cs typeface="Meiryo"/>
            </a:endParaRPr>
          </a:p>
          <a:p>
            <a:pPr marL="384048" indent="0"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endParaRPr sz="1300" b="0" dirty="0">
              <a:solidFill>
                <a:srgbClr val="53606A"/>
              </a:solidFill>
              <a:latin typeface="Meiryo"/>
              <a:ea typeface="Meiryo"/>
              <a:cs typeface="Meiryo"/>
            </a:endParaRP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dirty="0" err="1">
                <a:solidFill>
                  <a:srgbClr val="124659"/>
                </a:solidFill>
                <a:latin typeface="Meiryo"/>
                <a:ea typeface="Meiryo"/>
                <a:cs typeface="Meiryo"/>
              </a:rPr>
              <a:t>理論と実装の往復から得た知見</a:t>
            </a:r>
            <a:r>
              <a:rPr sz="1500" b="1" dirty="0">
                <a:solidFill>
                  <a:srgbClr val="124659"/>
                </a:solidFill>
                <a:latin typeface="Meiryo"/>
                <a:ea typeface="Meiryo"/>
                <a:cs typeface="Meiryo"/>
              </a:rPr>
              <a:t>：</a:t>
            </a:r>
          </a:p>
          <a:p>
            <a:pPr marL="384048" indent="0" algn="l">
              <a:lnSpc>
                <a:spcPct val="122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dirty="0" err="1">
                <a:solidFill>
                  <a:srgbClr val="222A30"/>
                </a:solidFill>
                <a:latin typeface="Meiryo"/>
                <a:ea typeface="Meiryo"/>
                <a:cs typeface="Meiryo"/>
              </a:rPr>
              <a:t>シミュレーションでは</a:t>
            </a:r>
            <a:r>
              <a:rPr sz="1300" b="0" dirty="0">
                <a:solidFill>
                  <a:srgbClr val="222A30"/>
                </a:solidFill>
                <a:latin typeface="Meiryo"/>
                <a:ea typeface="Meiryo"/>
                <a:cs typeface="Meiryo"/>
              </a:rPr>
              <a:t> 78% </a:t>
            </a:r>
            <a:r>
              <a:rPr sz="1300" b="0" dirty="0" err="1">
                <a:solidFill>
                  <a:srgbClr val="222A30"/>
                </a:solidFill>
                <a:latin typeface="Meiryo"/>
                <a:ea typeface="Meiryo"/>
                <a:cs typeface="Meiryo"/>
              </a:rPr>
              <a:t>停止を再現</a:t>
            </a:r>
            <a:r>
              <a:rPr sz="1300" b="0" dirty="0">
                <a:solidFill>
                  <a:srgbClr val="222A30"/>
                </a:solidFill>
                <a:latin typeface="Meiryo"/>
                <a:ea typeface="Meiryo"/>
                <a:cs typeface="Meiryo"/>
              </a:rPr>
              <a:t>。</a:t>
            </a:r>
          </a:p>
          <a:p>
            <a:pPr marL="384048" indent="0" algn="l">
              <a:lnSpc>
                <a:spcPct val="122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dirty="0" err="1">
                <a:solidFill>
                  <a:srgbClr val="222A30"/>
                </a:solidFill>
                <a:latin typeface="Meiryo"/>
                <a:ea typeface="Meiryo"/>
                <a:cs typeface="Meiryo"/>
              </a:rPr>
              <a:t>実機では遅延により</a:t>
            </a:r>
            <a:r>
              <a:rPr sz="1300" b="0" dirty="0">
                <a:solidFill>
                  <a:srgbClr val="222A30"/>
                </a:solidFill>
                <a:latin typeface="Meiryo"/>
                <a:ea typeface="Meiryo"/>
                <a:cs typeface="Meiryo"/>
              </a:rPr>
              <a:t> L1 </a:t>
            </a:r>
            <a:r>
              <a:rPr sz="1300" b="0" dirty="0" err="1">
                <a:solidFill>
                  <a:srgbClr val="222A30"/>
                </a:solidFill>
                <a:latin typeface="Meiryo"/>
                <a:ea typeface="Meiryo"/>
                <a:cs typeface="Meiryo"/>
              </a:rPr>
              <a:t>が振動（チャタ</a:t>
            </a:r>
            <a:r>
              <a:rPr sz="1300" b="0" dirty="0">
                <a:solidFill>
                  <a:srgbClr val="222A30"/>
                </a:solidFill>
                <a:latin typeface="Meiryo"/>
                <a:ea typeface="Meiryo"/>
                <a:cs typeface="Meiryo"/>
              </a:rPr>
              <a:t>）。</a:t>
            </a:r>
            <a:r>
              <a:rPr sz="1300" b="1" dirty="0" err="1">
                <a:solidFill>
                  <a:srgbClr val="222A30"/>
                </a:solidFill>
                <a:latin typeface="Meiryo"/>
                <a:ea typeface="Meiryo"/>
                <a:cs typeface="Meiryo"/>
              </a:rPr>
              <a:t>理想と実機の差は、実装により顕在化した</a:t>
            </a:r>
            <a:r>
              <a:rPr sz="1300" b="1" dirty="0">
                <a:solidFill>
                  <a:srgbClr val="222A30"/>
                </a:solidFill>
                <a:latin typeface="Meiryo"/>
                <a:ea typeface="Meiryo"/>
                <a:cs typeface="Meiryo"/>
              </a:rPr>
              <a:t>。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dirty="0">
                <a:solidFill>
                  <a:srgbClr val="4F5A63"/>
                </a:solidFill>
                <a:latin typeface="Meiryo"/>
                <a:ea typeface="Meiryo"/>
                <a:cs typeface="Meiryo"/>
              </a:rPr>
              <a:t>▸ </a:t>
            </a:r>
            <a:r>
              <a:rPr sz="1500" b="1" dirty="0" err="1">
                <a:solidFill>
                  <a:srgbClr val="222A30"/>
                </a:solidFill>
                <a:latin typeface="Meiryo"/>
                <a:ea typeface="Meiryo"/>
                <a:cs typeface="Meiryo"/>
              </a:rPr>
              <a:t>実装を通じて理論を検証・理解する</a:t>
            </a:r>
            <a:r>
              <a:rPr sz="1500" b="1" dirty="0">
                <a:solidFill>
                  <a:srgbClr val="222A30"/>
                </a:solidFill>
                <a:latin typeface="Meiryo"/>
                <a:ea typeface="Meiryo"/>
                <a:cs typeface="Meiryo"/>
              </a:rPr>
              <a:t> ― </a:t>
            </a:r>
            <a:r>
              <a:rPr sz="1500" b="1" dirty="0" err="1">
                <a:solidFill>
                  <a:srgbClr val="222A30"/>
                </a:solidFill>
                <a:latin typeface="Meiryo"/>
                <a:ea typeface="Meiryo"/>
                <a:cs typeface="Meiryo"/>
              </a:rPr>
              <a:t>これが本研究の核</a:t>
            </a:r>
            <a:r>
              <a:rPr sz="1500" b="1" dirty="0">
                <a:solidFill>
                  <a:srgbClr val="222A30"/>
                </a:solidFill>
                <a:latin typeface="Meiryo"/>
                <a:ea typeface="Meiryo"/>
                <a:cs typeface="Meiryo"/>
              </a:rPr>
              <a:t>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040880" y="1828800"/>
            <a:ext cx="4480560" cy="2286000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 w="9525">
            <a:solidFill>
              <a:srgbClr val="DC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040880" y="1901952"/>
            <a:ext cx="64008" cy="2139696"/>
          </a:xfrm>
          <a:prstGeom prst="rect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260336" y="1947672"/>
            <a:ext cx="4114800" cy="204825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202A33"/>
                </a:solidFill>
                <a:latin typeface="MS Gothic"/>
                <a:ea typeface="MS Gothic"/>
                <a:cs typeface="MS Gothic"/>
              </a:rPr>
              <a:t>for k in range(N):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202A33"/>
                </a:solidFill>
                <a:latin typeface="MS Gothic"/>
                <a:ea typeface="MS Gothic"/>
                <a:cs typeface="MS Gothic"/>
              </a:rPr>
              <a:t>    if reg == "l1":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202A33"/>
                </a:solidFill>
                <a:latin typeface="MS Gothic"/>
                <a:ea typeface="MS Gothic"/>
                <a:cs typeface="MS Gothic"/>
              </a:rPr>
              <a:t>        cost += lam * cp.norm1(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202A33"/>
                </a:solidFill>
                <a:latin typeface="MS Gothic"/>
                <a:ea typeface="MS Gothic"/>
                <a:cs typeface="MS Gothic"/>
              </a:rPr>
              <a:t>            du[:, k])</a:t>
            </a:r>
            <a:r>
              <a:rPr sz="1250" b="0">
                <a:solidFill>
                  <a:srgbClr val="2E7A60"/>
                </a:solidFill>
                <a:latin typeface="MS Gothic"/>
                <a:ea typeface="MS Gothic"/>
                <a:cs typeface="MS Gothic"/>
              </a:rPr>
              <a:t>  # ★ 補正を疎に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202A33"/>
                </a:solidFill>
                <a:latin typeface="MS Gothic"/>
                <a:ea typeface="MS Gothic"/>
                <a:cs typeface="MS Gothic"/>
              </a:rPr>
              <a:t>    else: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202A33"/>
                </a:solidFill>
                <a:latin typeface="MS Gothic"/>
                <a:ea typeface="MS Gothic"/>
                <a:cs typeface="MS Gothic"/>
              </a:rPr>
              <a:t>        cost += cp.quad_form(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202A33"/>
                </a:solidFill>
                <a:latin typeface="MS Gothic"/>
                <a:ea typeface="MS Gothic"/>
                <a:cs typeface="MS Gothic"/>
              </a:rPr>
              <a:t>            du[:, k], R)</a:t>
            </a:r>
            <a:r>
              <a:rPr sz="1250" b="0">
                <a:solidFill>
                  <a:srgbClr val="2E7A60"/>
                </a:solidFill>
                <a:latin typeface="MS Gothic"/>
                <a:ea typeface="MS Gothic"/>
                <a:cs typeface="MS Gothic"/>
              </a:rPr>
              <a:t> # L2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0" y="4206240"/>
            <a:ext cx="44805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4F5A63"/>
                </a:solidFill>
                <a:latin typeface="Meiryo"/>
                <a:ea typeface="Meiryo"/>
                <a:cs typeface="Meiryo"/>
              </a:rPr>
              <a:t>mpc_core.py ― ★の1行で L1（疎）／L2（滑らか）を切替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246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914400" y="2743200"/>
            <a:ext cx="1371600" cy="91440"/>
          </a:xfrm>
          <a:prstGeom prst="rect">
            <a:avLst/>
          </a:prstGeom>
          <a:solidFill>
            <a:srgbClr val="E07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2971800"/>
            <a:ext cx="10332720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E3F0F5"/>
                </a:solidFill>
                <a:latin typeface="Meiryo"/>
                <a:ea typeface="Meiryo"/>
                <a:cs typeface="Meiryo"/>
              </a:rPr>
              <a:t>PROGRESS ／ 経過報告</a:t>
            </a:r>
          </a:p>
          <a:p>
            <a:pPr algn="l">
              <a:spcAft>
                <a:spcPts val="800"/>
              </a:spcAft>
            </a:pPr>
            <a:r>
              <a:rPr sz="32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実機での実装と評価</a:t>
            </a:r>
          </a:p>
          <a:p>
            <a:pPr algn="l">
              <a:lnSpc>
                <a:spcPct val="120000"/>
              </a:lnSpc>
            </a:pPr>
            <a:r>
              <a:rPr sz="1500" b="0">
                <a:solidFill>
                  <a:srgbClr val="E3F0F5"/>
                </a:solidFill>
                <a:latin typeface="Meiryo"/>
                <a:ea typeface="Meiryo"/>
                <a:cs typeface="Meiryo"/>
              </a:rPr>
              <a:t>シミュレーションによる検証から、実機での3手法（Kanayama／L2／L1）の比較・評価まで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10637215" y="6455664"/>
            <a:ext cx="9144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53606A"/>
                </a:solidFill>
                <a:latin typeface="Meiryo"/>
                <a:ea typeface="Meiryo"/>
                <a:cs typeface="Meiryo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600200"/>
            <a:ext cx="10874959" cy="4206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62000"/>
              </a:lnSpc>
              <a:spcBef>
                <a:spcPts val="0"/>
              </a:spcBef>
              <a:spcAft>
                <a:spcPts val="700"/>
              </a:spcAft>
            </a:pPr>
            <a:r>
              <a:rPr sz="1770" b="0">
                <a:solidFill>
                  <a:srgbClr val="23292F"/>
                </a:solidFill>
                <a:latin typeface="Meiryo"/>
                <a:ea typeface="Meiryo"/>
                <a:cs typeface="Meiryo"/>
              </a:rPr>
              <a:t>●  農業の現場では人手不足・高齢化が進み、自動で走行するロボットへの期待が高まっている。</a:t>
            </a:r>
          </a:p>
          <a:p>
            <a:pPr algn="l">
              <a:lnSpc>
                <a:spcPct val="162000"/>
              </a:lnSpc>
              <a:spcBef>
                <a:spcPts val="0"/>
              </a:spcBef>
              <a:spcAft>
                <a:spcPts val="700"/>
              </a:spcAft>
            </a:pPr>
            <a:r>
              <a:rPr sz="1770" b="0">
                <a:solidFill>
                  <a:srgbClr val="23292F"/>
                </a:solidFill>
                <a:latin typeface="Meiryo"/>
                <a:ea typeface="Meiryo"/>
                <a:cs typeface="Meiryo"/>
              </a:rPr>
              <a:t>●  その基礎となる技術が「経路追従制御」＝あらかじめ決めた経路を、ロボットが正確に辿る制御。</a:t>
            </a:r>
          </a:p>
          <a:p>
            <a:pPr algn="l">
              <a:lnSpc>
                <a:spcPct val="162000"/>
              </a:lnSpc>
              <a:spcBef>
                <a:spcPts val="0"/>
              </a:spcBef>
              <a:spcAft>
                <a:spcPts val="400"/>
              </a:spcAft>
            </a:pPr>
            <a:r>
              <a:rPr sz="1770" b="0">
                <a:solidFill>
                  <a:srgbClr val="23292F"/>
                </a:solidFill>
                <a:latin typeface="Meiryo"/>
                <a:ea typeface="Meiryo"/>
                <a:cs typeface="Meiryo"/>
              </a:rPr>
              <a:t>●  一般的な制御は、経路に追従するために常に細かく操舵し続ける。しかしこれには弱点がある：</a:t>
            </a:r>
          </a:p>
          <a:p>
            <a:pPr marL="384048" indent="0" algn="l">
              <a:lnSpc>
                <a:spcPct val="162000"/>
              </a:lnSpc>
              <a:spcBef>
                <a:spcPts val="0"/>
              </a:spcBef>
              <a:spcAft>
                <a:spcPts val="800"/>
              </a:spcAft>
            </a:pPr>
            <a:r>
              <a:rPr sz="1530" b="0">
                <a:solidFill>
                  <a:srgbClr val="4F5A63"/>
                </a:solidFill>
                <a:latin typeface="Meiryo"/>
                <a:ea typeface="Meiryo"/>
                <a:cs typeface="Meiryo"/>
              </a:rPr>
              <a:t>モータ（アクチュエータ）の消耗・電力消費が大きい／滑りやすい圃場では小刻みな操舵がかえって乱れ（チャタリング）を生みやすい</a:t>
            </a:r>
          </a:p>
          <a:p>
            <a:pPr algn="l">
              <a:lnSpc>
                <a:spcPct val="162000"/>
              </a:lnSpc>
              <a:spcBef>
                <a:spcPts val="0"/>
              </a:spcBef>
              <a:spcAft>
                <a:spcPts val="400"/>
              </a:spcAft>
            </a:pPr>
            <a:r>
              <a:rPr sz="1770" b="1">
                <a:solidFill>
                  <a:srgbClr val="23292F"/>
                </a:solidFill>
                <a:latin typeface="Meiryo"/>
                <a:ea typeface="Meiryo"/>
                <a:cs typeface="Meiryo"/>
              </a:rPr>
              <a:t>●  そこで本研究は「必要な瞬間だけ操舵する」制御＝スパース最適制御（Maximum Hands-off Control）に着目する。</a:t>
            </a:r>
          </a:p>
          <a:p>
            <a:pPr marL="384048" indent="0"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</a:pPr>
            <a:r>
              <a:rPr sz="1530" b="0">
                <a:solidFill>
                  <a:srgbClr val="4F5A63"/>
                </a:solidFill>
                <a:latin typeface="Meiryo"/>
                <a:ea typeface="Meiryo"/>
                <a:cs typeface="Meiryo"/>
              </a:rPr>
              <a:t>“スパース”＝入力が時間的にスカスカ（多くの時間は操舵ゼロ）の意味。「ほとんど手を放していても、ちゃんと経路を追従できるか？」が問い。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75488"/>
            <a:ext cx="1051560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1F6F8B"/>
                </a:solidFill>
                <a:latin typeface="Meiryo"/>
                <a:ea typeface="Meiryo"/>
                <a:cs typeface="Meiryo"/>
              </a:rPr>
              <a:t>研究の背景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222A30"/>
                </a:solidFill>
                <a:latin typeface="Meiryo"/>
                <a:ea typeface="Meiryo"/>
                <a:cs typeface="Meiryo"/>
              </a:rPr>
              <a:t>研究の背景と目的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1248" y="1335024"/>
            <a:ext cx="786384" cy="45720"/>
          </a:xfrm>
          <a:prstGeom prst="rect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10637215" y="6455664"/>
            <a:ext cx="9144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53606A"/>
                </a:solidFill>
                <a:latin typeface="Meiryo"/>
                <a:ea typeface="Meiryo"/>
                <a:cs typeface="Meiryo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554480"/>
            <a:ext cx="5872477" cy="4480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300"/>
              </a:spcAft>
            </a:pPr>
            <a:r>
              <a:rPr sz="1680" b="1">
                <a:solidFill>
                  <a:srgbClr val="1F6F8B"/>
                </a:solidFill>
                <a:latin typeface="Meiryo"/>
                <a:ea typeface="Meiryo"/>
                <a:cs typeface="Meiryo"/>
              </a:rPr>
              <a:t>目的</a:t>
            </a: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700"/>
              </a:spcAft>
            </a:pPr>
            <a:r>
              <a:rPr sz="1570" b="0">
                <a:solidFill>
                  <a:srgbClr val="23292F"/>
                </a:solidFill>
                <a:latin typeface="Meiryo"/>
                <a:ea typeface="Meiryo"/>
                <a:cs typeface="Meiryo"/>
              </a:rPr>
              <a:t>●  経路追従において、制御入力（操舵）を時間的に疎にする手法を実機で評価する</a:t>
            </a: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300"/>
              </a:spcAft>
            </a:pPr>
            <a:r>
              <a:rPr sz="1680" b="1">
                <a:solidFill>
                  <a:srgbClr val="1F6F8B"/>
                </a:solidFill>
                <a:latin typeface="Meiryo"/>
                <a:ea typeface="Meiryo"/>
                <a:cs typeface="Meiryo"/>
              </a:rPr>
              <a:t>手法の中心：MPC ＋ L1正則化</a:t>
            </a: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300"/>
              </a:spcAft>
            </a:pPr>
            <a:r>
              <a:rPr sz="1510" b="0">
                <a:solidFill>
                  <a:srgbClr val="4F5A63"/>
                </a:solidFill>
                <a:latin typeface="Meiryo"/>
                <a:ea typeface="Meiryo"/>
                <a:cs typeface="Meiryo"/>
              </a:rPr>
              <a:t>–  MPC（モデル予測制御）＝少し先の動きを予測し、最適な入力を毎周期計算する制御</a:t>
            </a: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700"/>
              </a:spcAft>
            </a:pPr>
            <a:r>
              <a:rPr sz="1510" b="0">
                <a:solidFill>
                  <a:srgbClr val="4F5A63"/>
                </a:solidFill>
                <a:latin typeface="Meiryo"/>
                <a:ea typeface="Meiryo"/>
                <a:cs typeface="Meiryo"/>
              </a:rPr>
              <a:t>–  その目的関数に L1正則化を足すと、入力が0に張り付きやすくなる（＝hands-off）</a:t>
            </a: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300"/>
              </a:spcAft>
            </a:pPr>
            <a:r>
              <a:rPr sz="1680" b="1">
                <a:solidFill>
                  <a:srgbClr val="1F6F8B"/>
                </a:solidFill>
                <a:latin typeface="Meiryo"/>
                <a:ea typeface="Meiryo"/>
                <a:cs typeface="Meiryo"/>
              </a:rPr>
              <a:t>評価する4つの指標</a:t>
            </a: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460" b="0">
                <a:solidFill>
                  <a:srgbClr val="4F5A63"/>
                </a:solidFill>
                <a:latin typeface="Meiryo"/>
                <a:ea typeface="Meiryo"/>
                <a:cs typeface="Meiryo"/>
              </a:rPr>
              <a:t>追従精度（経路からのずれ RMSE）／消費エネルギー（Σ|u|）／操舵のスパース性（操舵しない時間の割合）／計算負荷（1周期の求解時間）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40573" y="1517904"/>
            <a:ext cx="4892753" cy="4526280"/>
          </a:xfrm>
          <a:prstGeom prst="roundRect">
            <a:avLst>
              <a:gd name="adj" fmla="val 4000"/>
            </a:avLst>
          </a:prstGeom>
          <a:solidFill>
            <a:srgbClr val="F6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914893" y="1755648"/>
            <a:ext cx="4453841" cy="4114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23292F"/>
                </a:solidFill>
                <a:latin typeface="Meiryo"/>
                <a:ea typeface="Meiryo"/>
                <a:cs typeface="Meiryo"/>
              </a:rPr>
              <a:t>比べる3つの制御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4F5A63"/>
                </a:solidFill>
                <a:latin typeface="Meiryo"/>
                <a:ea typeface="Meiryo"/>
                <a:cs typeface="Meiryo"/>
              </a:rPr>
              <a:t>Kanayama 法</a:t>
            </a:r>
          </a:p>
          <a:p>
            <a:pPr marL="274320" indent="0" algn="l">
              <a:lnSpc>
                <a:spcPct val="132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4F5A63"/>
                </a:solidFill>
                <a:latin typeface="Meiryo"/>
                <a:ea typeface="Meiryo"/>
                <a:cs typeface="Meiryo"/>
              </a:rPr>
              <a:t>古典的な経路追従フィードバック（基準）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1F6F8B"/>
                </a:solidFill>
                <a:latin typeface="Meiryo"/>
                <a:ea typeface="Meiryo"/>
                <a:cs typeface="Meiryo"/>
              </a:rPr>
              <a:t>L2-MPC</a:t>
            </a:r>
          </a:p>
          <a:p>
            <a:pPr marL="274320" indent="0" algn="l">
              <a:lnSpc>
                <a:spcPct val="132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4F5A63"/>
                </a:solidFill>
                <a:latin typeface="Meiryo"/>
                <a:ea typeface="Meiryo"/>
                <a:cs typeface="Meiryo"/>
              </a:rPr>
              <a:t>標準的な最適制御。入力はなめらか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E07A3F"/>
                </a:solidFill>
                <a:latin typeface="Meiryo"/>
                <a:ea typeface="Meiryo"/>
                <a:cs typeface="Meiryo"/>
              </a:rPr>
              <a:t>L1-MPC （提案手法）</a:t>
            </a:r>
          </a:p>
          <a:p>
            <a:pPr marL="274320" indent="0" algn="l">
              <a:lnSpc>
                <a:spcPct val="132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4F5A63"/>
                </a:solidFill>
                <a:latin typeface="Meiryo"/>
                <a:ea typeface="Meiryo"/>
                <a:cs typeface="Meiryo"/>
              </a:rPr>
              <a:t>入力が疎（hands-off）になる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23292F"/>
                </a:solidFill>
                <a:latin typeface="Meiryo"/>
                <a:ea typeface="Meiryo"/>
                <a:cs typeface="Meiryo"/>
              </a:rPr>
              <a:t>実機：LiteRover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4F5A63"/>
                </a:solidFill>
                <a:latin typeface="Meiryo"/>
                <a:ea typeface="Meiryo"/>
                <a:cs typeface="Meiryo"/>
              </a:rPr>
              <a:t>小型ロボット（Raspberry Pi 4・ROS2）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75488"/>
            <a:ext cx="1051560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1F6F8B"/>
                </a:solidFill>
                <a:latin typeface="Meiryo"/>
                <a:ea typeface="Meiryo"/>
                <a:cs typeface="Meiryo"/>
              </a:rPr>
              <a:t>研究の目的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222A30"/>
                </a:solidFill>
                <a:latin typeface="Meiryo"/>
                <a:ea typeface="Meiryo"/>
                <a:cs typeface="Meiryo"/>
              </a:rPr>
              <a:t>研究の目的と進め方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41248" y="1335024"/>
            <a:ext cx="786384" cy="45720"/>
          </a:xfrm>
          <a:prstGeom prst="rect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10637215" y="6455664"/>
            <a:ext cx="9144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53606A"/>
                </a:solidFill>
                <a:latin typeface="Meiryo"/>
                <a:ea typeface="Meiryo"/>
                <a:cs typeface="Meiryo"/>
              </a:rPr>
              <a:t>14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3749039"/>
            <a:ext cx="10872216" cy="27432"/>
          </a:xfrm>
          <a:prstGeom prst="rect">
            <a:avLst/>
          </a:prstGeom>
          <a:solidFill>
            <a:srgbClr val="EE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548640" y="2286000"/>
            <a:ext cx="2157984" cy="2852928"/>
          </a:xfrm>
          <a:prstGeom prst="roundRect">
            <a:avLst/>
          </a:prstGeom>
          <a:solidFill>
            <a:srgbClr val="F6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48640" y="2286000"/>
            <a:ext cx="2157984" cy="91440"/>
          </a:xfrm>
          <a:prstGeom prst="rect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58368" y="2331720"/>
            <a:ext cx="1938528" cy="2788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E07A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600" b="1">
                <a:solidFill>
                  <a:srgbClr val="23292F"/>
                </a:solidFill>
                <a:latin typeface="Meiryo"/>
                <a:ea typeface="Meiryo"/>
                <a:cs typeface="Meiryo"/>
              </a:rPr>
              <a:t>スパース制御
シミュレーション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4F5A63"/>
                </a:solidFill>
                <a:latin typeface="Meiryo"/>
                <a:ea typeface="Meiryo"/>
                <a:cs typeface="Meiryo"/>
              </a:rPr>
              <a:t>机上で原理を確認</a:t>
            </a:r>
          </a:p>
        </p:txBody>
      </p:sp>
      <p:sp>
        <p:nvSpPr>
          <p:cNvPr id="11" name="Chevron 10"/>
          <p:cNvSpPr/>
          <p:nvPr/>
        </p:nvSpPr>
        <p:spPr>
          <a:xfrm>
            <a:off x="2681569" y="3611880"/>
            <a:ext cx="146304" cy="164592"/>
          </a:xfrm>
          <a:prstGeom prst="chevron">
            <a:avLst/>
          </a:prstGeom>
          <a:solidFill>
            <a:srgbClr val="6B7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2782153" y="2286000"/>
            <a:ext cx="2157984" cy="2852928"/>
          </a:xfrm>
          <a:prstGeom prst="roundRect">
            <a:avLst/>
          </a:prstGeom>
          <a:solidFill>
            <a:srgbClr val="F6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2782153" y="2286000"/>
            <a:ext cx="2157984" cy="91440"/>
          </a:xfrm>
          <a:prstGeom prst="rect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2891881" y="2331720"/>
            <a:ext cx="1938528" cy="2788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F6F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600" b="1">
                <a:solidFill>
                  <a:srgbClr val="23292F"/>
                </a:solidFill>
                <a:latin typeface="Meiryo"/>
                <a:ea typeface="Meiryo"/>
                <a:cs typeface="Meiryo"/>
              </a:rPr>
              <a:t>実機の基盤づくり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4F5A63"/>
                </a:solidFill>
                <a:latin typeface="Meiryo"/>
                <a:ea typeface="Meiryo"/>
                <a:cs typeface="Meiryo"/>
              </a:rPr>
              <a:t>ROS2 / LiDAR / SLAM</a:t>
            </a:r>
          </a:p>
        </p:txBody>
      </p:sp>
      <p:sp>
        <p:nvSpPr>
          <p:cNvPr id="14" name="Chevron 13"/>
          <p:cNvSpPr/>
          <p:nvPr/>
        </p:nvSpPr>
        <p:spPr>
          <a:xfrm>
            <a:off x="4915082" y="3611880"/>
            <a:ext cx="146304" cy="164592"/>
          </a:xfrm>
          <a:prstGeom prst="chevron">
            <a:avLst/>
          </a:prstGeom>
          <a:solidFill>
            <a:srgbClr val="6B7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5015666" y="2286000"/>
            <a:ext cx="2157984" cy="2852928"/>
          </a:xfrm>
          <a:prstGeom prst="roundRect">
            <a:avLst/>
          </a:prstGeom>
          <a:solidFill>
            <a:srgbClr val="F6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5015666" y="2286000"/>
            <a:ext cx="2157984" cy="91440"/>
          </a:xfrm>
          <a:prstGeom prst="rect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5125394" y="2331720"/>
            <a:ext cx="1938528" cy="2788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F6F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600" b="1">
                <a:solidFill>
                  <a:srgbClr val="23292F"/>
                </a:solidFill>
                <a:latin typeface="Meiryo"/>
                <a:ea typeface="Meiryo"/>
                <a:cs typeface="Meiryo"/>
              </a:rPr>
              <a:t>実機で自立走行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4F5A63"/>
                </a:solidFill>
                <a:latin typeface="Meiryo"/>
                <a:ea typeface="Meiryo"/>
                <a:cs typeface="Meiryo"/>
              </a:rPr>
              <a:t>古典制御で床を走破</a:t>
            </a:r>
          </a:p>
        </p:txBody>
      </p:sp>
      <p:sp>
        <p:nvSpPr>
          <p:cNvPr id="17" name="Chevron 16"/>
          <p:cNvSpPr/>
          <p:nvPr/>
        </p:nvSpPr>
        <p:spPr>
          <a:xfrm>
            <a:off x="7148596" y="3611880"/>
            <a:ext cx="146304" cy="164592"/>
          </a:xfrm>
          <a:prstGeom prst="chevron">
            <a:avLst/>
          </a:prstGeom>
          <a:solidFill>
            <a:srgbClr val="6B7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7249180" y="2286000"/>
            <a:ext cx="2157984" cy="2852928"/>
          </a:xfrm>
          <a:prstGeom prst="roundRect">
            <a:avLst/>
          </a:prstGeom>
          <a:solidFill>
            <a:srgbClr val="F6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7249180" y="2286000"/>
            <a:ext cx="2157984" cy="91440"/>
          </a:xfrm>
          <a:prstGeom prst="rect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7358908" y="2331720"/>
            <a:ext cx="1938528" cy="2788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F6F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600" b="1">
                <a:solidFill>
                  <a:srgbClr val="23292F"/>
                </a:solidFill>
                <a:latin typeface="Meiryo"/>
                <a:ea typeface="Meiryo"/>
                <a:cs typeface="Meiryo"/>
              </a:rPr>
              <a:t>MPCの実装
(L2 → L1)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4F5A63"/>
                </a:solidFill>
                <a:latin typeface="Meiryo"/>
                <a:ea typeface="Meiryo"/>
                <a:cs typeface="Meiryo"/>
              </a:rPr>
              <a:t>求解ベンチ / sim</a:t>
            </a:r>
          </a:p>
        </p:txBody>
      </p:sp>
      <p:sp>
        <p:nvSpPr>
          <p:cNvPr id="20" name="Chevron 19"/>
          <p:cNvSpPr/>
          <p:nvPr/>
        </p:nvSpPr>
        <p:spPr>
          <a:xfrm>
            <a:off x="9382109" y="3611880"/>
            <a:ext cx="146304" cy="164592"/>
          </a:xfrm>
          <a:prstGeom prst="chevron">
            <a:avLst/>
          </a:prstGeom>
          <a:solidFill>
            <a:srgbClr val="6B7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9482693" y="2286000"/>
            <a:ext cx="2157984" cy="2852928"/>
          </a:xfrm>
          <a:prstGeom prst="roundRect">
            <a:avLst/>
          </a:prstGeom>
          <a:solidFill>
            <a:srgbClr val="F6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9482693" y="2286000"/>
            <a:ext cx="2157984" cy="91440"/>
          </a:xfrm>
          <a:prstGeom prst="rect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9592421" y="2331720"/>
            <a:ext cx="1938528" cy="2788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E07A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600" b="1">
                <a:solidFill>
                  <a:srgbClr val="23292F"/>
                </a:solidFill>
                <a:latin typeface="Meiryo"/>
                <a:ea typeface="Meiryo"/>
                <a:cs typeface="Meiryo"/>
              </a:rPr>
              <a:t>実機で3者比較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4F5A63"/>
                </a:solidFill>
                <a:latin typeface="Meiryo"/>
                <a:ea typeface="Meiryo"/>
                <a:cs typeface="Meiryo"/>
              </a:rPr>
              <a:t>直線・L字で計測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5532120"/>
            <a:ext cx="10874959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4F5A63"/>
                </a:solidFill>
                <a:latin typeface="Meiryo"/>
                <a:ea typeface="Meiryo"/>
                <a:cs typeface="Meiryo"/>
              </a:rPr>
              <a:t>机上のシミュレーションで原理を確かめてから、実機の土台（ロボットを自分で走らせる仕組み）を整え、その上にMPCを実装して、最後に実機で3つの制御を比べた、という順番で進めた。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475488"/>
            <a:ext cx="1051560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1F6F8B"/>
                </a:solidFill>
                <a:latin typeface="Meiryo"/>
                <a:ea typeface="Meiryo"/>
                <a:cs typeface="Meiryo"/>
              </a:rPr>
              <a:t>これまでの取り組み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222A30"/>
                </a:solidFill>
                <a:latin typeface="Meiryo"/>
                <a:ea typeface="Meiryo"/>
                <a:cs typeface="Meiryo"/>
              </a:rPr>
              <a:t>全体の流れ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41248" y="1335024"/>
            <a:ext cx="786384" cy="45720"/>
          </a:xfrm>
          <a:prstGeom prst="rect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10637215" y="6455664"/>
            <a:ext cx="9144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53606A"/>
                </a:solidFill>
                <a:latin typeface="Meiryo"/>
                <a:ea typeface="Meiryo"/>
                <a:cs typeface="Meiryo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554480"/>
            <a:ext cx="5111230" cy="457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1" dirty="0" err="1">
                <a:solidFill>
                  <a:srgbClr val="1F6F8B"/>
                </a:solidFill>
                <a:latin typeface="Meiryo"/>
                <a:ea typeface="Meiryo"/>
                <a:cs typeface="Meiryo"/>
              </a:rPr>
              <a:t>やったこと</a:t>
            </a:r>
            <a:endParaRPr sz="1450" b="1" dirty="0">
              <a:solidFill>
                <a:srgbClr val="1F6F8B"/>
              </a:solidFill>
              <a:latin typeface="Meiryo"/>
              <a:ea typeface="Meiryo"/>
              <a:cs typeface="Meiryo"/>
            </a:endParaRP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 dirty="0">
                <a:solidFill>
                  <a:srgbClr val="23292F"/>
                </a:solidFill>
                <a:latin typeface="Meiryo"/>
                <a:ea typeface="Meiryo"/>
                <a:cs typeface="Meiryo"/>
              </a:rPr>
              <a:t>●  </a:t>
            </a:r>
            <a:r>
              <a:rPr sz="1350" b="0" dirty="0" err="1">
                <a:solidFill>
                  <a:srgbClr val="23292F"/>
                </a:solidFill>
                <a:latin typeface="Meiryo"/>
                <a:ea typeface="Meiryo"/>
                <a:cs typeface="Meiryo"/>
              </a:rPr>
              <a:t>ロボットの運動モデルを作り</a:t>
            </a:r>
            <a:r>
              <a:rPr sz="1350" b="0" dirty="0">
                <a:solidFill>
                  <a:srgbClr val="23292F"/>
                </a:solidFill>
                <a:latin typeface="Meiryo"/>
                <a:ea typeface="Meiryo"/>
                <a:cs typeface="Meiryo"/>
              </a:rPr>
              <a:t>、「目標に到達する入力のうち、操舵をできるだけ使わない（L1ノルム最小）もの」を最適化で求めた。</a:t>
            </a:r>
          </a:p>
          <a:p>
            <a:pPr marL="384048" indent="0"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0" dirty="0">
                <a:solidFill>
                  <a:srgbClr val="4F5A63"/>
                </a:solidFill>
                <a:latin typeface="Meiryo"/>
                <a:ea typeface="Meiryo"/>
                <a:cs typeface="Meiryo"/>
              </a:rPr>
              <a:t>min ‖u‖₁  （</a:t>
            </a:r>
            <a:r>
              <a:rPr sz="1250" b="0" dirty="0" err="1">
                <a:solidFill>
                  <a:srgbClr val="4F5A63"/>
                </a:solidFill>
                <a:latin typeface="Meiryo"/>
                <a:ea typeface="Meiryo"/>
                <a:cs typeface="Meiryo"/>
              </a:rPr>
              <a:t>操舵の総量を最小化</a:t>
            </a:r>
            <a:r>
              <a:rPr sz="1250" b="0" dirty="0">
                <a:solidFill>
                  <a:srgbClr val="4F5A63"/>
                </a:solidFill>
                <a:latin typeface="Meiryo"/>
                <a:ea typeface="Meiryo"/>
                <a:cs typeface="Meiryo"/>
              </a:rPr>
              <a:t>） </a:t>
            </a:r>
            <a:r>
              <a:rPr sz="1250" b="0" dirty="0" err="1">
                <a:solidFill>
                  <a:srgbClr val="4F5A63"/>
                </a:solidFill>
                <a:latin typeface="Meiryo"/>
                <a:ea typeface="Meiryo"/>
                <a:cs typeface="Meiryo"/>
              </a:rPr>
              <a:t>s.t.</a:t>
            </a:r>
            <a:r>
              <a:rPr sz="1250" b="0" dirty="0">
                <a:solidFill>
                  <a:srgbClr val="4F5A63"/>
                </a:solidFill>
                <a:latin typeface="Meiryo"/>
                <a:ea typeface="Meiryo"/>
                <a:cs typeface="Meiryo"/>
              </a:rPr>
              <a:t> 終端で誤差0, </a:t>
            </a:r>
            <a:r>
              <a:rPr sz="1250" b="0" dirty="0" err="1">
                <a:solidFill>
                  <a:srgbClr val="4F5A63"/>
                </a:solidFill>
                <a:latin typeface="Meiryo"/>
                <a:ea typeface="Meiryo"/>
                <a:cs typeface="Meiryo"/>
              </a:rPr>
              <a:t>入力上限</a:t>
            </a:r>
            <a:endParaRPr sz="1250" b="0" dirty="0">
              <a:solidFill>
                <a:srgbClr val="4F5A63"/>
              </a:solidFill>
              <a:latin typeface="Meiryo"/>
              <a:ea typeface="Meiryo"/>
              <a:cs typeface="Meiryo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0" dirty="0">
                <a:solidFill>
                  <a:srgbClr val="4F5A63"/>
                </a:solidFill>
                <a:latin typeface="Meiryo"/>
                <a:ea typeface="Meiryo"/>
                <a:cs typeface="Meiryo"/>
              </a:rPr>
              <a:t>–  条件：周期0.1s, 速度1.0m/s, 50ステップ, </a:t>
            </a:r>
            <a:r>
              <a:rPr sz="1250" b="0" dirty="0" err="1">
                <a:solidFill>
                  <a:srgbClr val="4F5A63"/>
                </a:solidFill>
                <a:latin typeface="Meiryo"/>
                <a:ea typeface="Meiryo"/>
                <a:cs typeface="Meiryo"/>
              </a:rPr>
              <a:t>初期ずれ</a:t>
            </a:r>
            <a:r>
              <a:rPr sz="1250" b="0" dirty="0">
                <a:solidFill>
                  <a:srgbClr val="4F5A63"/>
                </a:solidFill>
                <a:latin typeface="Meiryo"/>
                <a:ea typeface="Meiryo"/>
                <a:cs typeface="Meiryo"/>
              </a:rPr>
              <a:t>(2m,1m,30°)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1" dirty="0" err="1">
                <a:solidFill>
                  <a:srgbClr val="E07A3F"/>
                </a:solidFill>
                <a:latin typeface="Meiryo"/>
                <a:ea typeface="Meiryo"/>
                <a:cs typeface="Meiryo"/>
              </a:rPr>
              <a:t>結果</a:t>
            </a:r>
            <a:endParaRPr sz="1450" b="1" dirty="0">
              <a:solidFill>
                <a:srgbClr val="E07A3F"/>
              </a:solidFill>
              <a:latin typeface="Meiryo"/>
              <a:ea typeface="Meiryo"/>
              <a:cs typeface="Meiryo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dirty="0">
                <a:solidFill>
                  <a:srgbClr val="23292F"/>
                </a:solidFill>
                <a:latin typeface="Meiryo"/>
                <a:ea typeface="Meiryo"/>
                <a:cs typeface="Meiryo"/>
              </a:rPr>
              <a:t>●  目標へ誤差ほぼ0で到達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dirty="0">
                <a:solidFill>
                  <a:srgbClr val="23292F"/>
                </a:solidFill>
                <a:latin typeface="Meiryo"/>
                <a:ea typeface="Meiryo"/>
                <a:cs typeface="Meiryo"/>
              </a:rPr>
              <a:t>●  </a:t>
            </a:r>
            <a:r>
              <a:rPr sz="1350" b="1" dirty="0" err="1">
                <a:solidFill>
                  <a:srgbClr val="23292F"/>
                </a:solidFill>
                <a:latin typeface="Meiryo"/>
                <a:ea typeface="Meiryo"/>
                <a:cs typeface="Meiryo"/>
              </a:rPr>
              <a:t>操舵入力の</a:t>
            </a:r>
            <a:r>
              <a:rPr sz="1350" b="1" dirty="0">
                <a:solidFill>
                  <a:srgbClr val="23292F"/>
                </a:solidFill>
                <a:latin typeface="Meiryo"/>
                <a:ea typeface="Meiryo"/>
                <a:cs typeface="Meiryo"/>
              </a:rPr>
              <a:t> 78% </a:t>
            </a:r>
            <a:r>
              <a:rPr sz="1350" b="1" dirty="0" err="1">
                <a:solidFill>
                  <a:srgbClr val="23292F"/>
                </a:solidFill>
                <a:latin typeface="Meiryo"/>
                <a:ea typeface="Meiryo"/>
                <a:cs typeface="Meiryo"/>
              </a:rPr>
              <a:t>が厳密にゼロ（ほとんどの時間は操舵せず、要所だけ動かす</a:t>
            </a:r>
            <a:r>
              <a:rPr sz="1350" b="1" dirty="0">
                <a:solidFill>
                  <a:srgbClr val="23292F"/>
                </a:solidFill>
                <a:latin typeface="Meiryo"/>
                <a:ea typeface="Meiryo"/>
                <a:cs typeface="Meiryo"/>
              </a:rPr>
              <a:t>）</a:t>
            </a:r>
          </a:p>
        </p:txBody>
      </p:sp>
      <p:pic>
        <p:nvPicPr>
          <p:cNvPr id="9" name="Picture 8" descr="sparse_openlo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1038" y="1691640"/>
            <a:ext cx="5672288" cy="209696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769598" y="5074920"/>
            <a:ext cx="576372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4F5A63"/>
                </a:solidFill>
                <a:latin typeface="Meiryo"/>
                <a:ea typeface="Meiryo"/>
                <a:cs typeface="Meiryo"/>
              </a:rPr>
              <a:t>左：誤差が0へ収束（到達）／右：操舵δωの78%が厳密に0（スパース）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61038" y="5440680"/>
            <a:ext cx="5672288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4F5A63"/>
                </a:solidFill>
                <a:latin typeface="Meiryo"/>
                <a:ea typeface="Meiryo"/>
                <a:cs typeface="Meiryo"/>
              </a:rPr>
              <a:t>ただしこれは一度きりの計算（オープンループ）。外乱があると誤差が積み重なる→ 毎周期やり直す制御（MPC）が必要、という次への橋渡し。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75488"/>
            <a:ext cx="1051560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1F6F8B"/>
                </a:solidFill>
                <a:latin typeface="Meiryo"/>
                <a:ea typeface="Meiryo"/>
                <a:cs typeface="Meiryo"/>
              </a:rPr>
              <a:t>取り組み 01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222A30"/>
                </a:solidFill>
                <a:latin typeface="Meiryo"/>
                <a:ea typeface="Meiryo"/>
                <a:cs typeface="Meiryo"/>
              </a:rPr>
              <a:t>机上シミュレーション ― 原理の確認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41248" y="1335024"/>
            <a:ext cx="786384" cy="45720"/>
          </a:xfrm>
          <a:prstGeom prst="rect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10637215" y="6455664"/>
            <a:ext cx="9144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53606A"/>
                </a:solidFill>
                <a:latin typeface="Meiryo"/>
                <a:ea typeface="Meiryo"/>
                <a:cs typeface="Meiryo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554480"/>
            <a:ext cx="6524975" cy="26128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450" b="0" dirty="0">
                <a:solidFill>
                  <a:srgbClr val="23292F"/>
                </a:solidFill>
                <a:latin typeface="Meiryo"/>
                <a:ea typeface="Meiryo"/>
                <a:cs typeface="Meiryo"/>
              </a:rPr>
              <a:t>●  </a:t>
            </a:r>
            <a:r>
              <a:rPr sz="1450" b="0" dirty="0" err="1">
                <a:solidFill>
                  <a:srgbClr val="23292F"/>
                </a:solidFill>
                <a:latin typeface="Meiryo"/>
                <a:ea typeface="Meiryo"/>
                <a:cs typeface="Meiryo"/>
              </a:rPr>
              <a:t>LiteRover（Raspberry</a:t>
            </a:r>
            <a:r>
              <a:rPr sz="1450" b="0" dirty="0">
                <a:solidFill>
                  <a:srgbClr val="23292F"/>
                </a:solidFill>
                <a:latin typeface="Meiryo"/>
                <a:ea typeface="Meiryo"/>
                <a:cs typeface="Meiryo"/>
              </a:rPr>
              <a:t> Pi 4・ROS2）の公式サンプルを土台に、実験できる環境を整えた。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dirty="0">
                <a:solidFill>
                  <a:srgbClr val="23292F"/>
                </a:solidFill>
                <a:latin typeface="Meiryo"/>
                <a:ea typeface="Meiryo"/>
                <a:cs typeface="Meiryo"/>
              </a:rPr>
              <a:t>●  </a:t>
            </a:r>
            <a:r>
              <a:rPr sz="1400" b="0" dirty="0" err="1">
                <a:solidFill>
                  <a:srgbClr val="23292F"/>
                </a:solidFill>
                <a:latin typeface="Meiryo"/>
                <a:ea typeface="Meiryo"/>
                <a:cs typeface="Meiryo"/>
              </a:rPr>
              <a:t>LiDAR（レーザ距離センサ）を接続し、SLAM</a:t>
            </a:r>
            <a:r>
              <a:rPr sz="1400" b="0" dirty="0">
                <a:solidFill>
                  <a:srgbClr val="23292F"/>
                </a:solidFill>
                <a:latin typeface="Meiryo"/>
                <a:ea typeface="Meiryo"/>
                <a:cs typeface="Meiryo"/>
              </a:rPr>
              <a:t> </a:t>
            </a:r>
            <a:r>
              <a:rPr sz="1400" b="0" dirty="0" err="1">
                <a:solidFill>
                  <a:srgbClr val="23292F"/>
                </a:solidFill>
                <a:latin typeface="Meiryo"/>
                <a:ea typeface="Meiryo"/>
                <a:cs typeface="Meiryo"/>
              </a:rPr>
              <a:t>で周囲の地図を作成（自己位置と地図を同時に推定する技術</a:t>
            </a:r>
            <a:r>
              <a:rPr sz="1400" b="0" dirty="0">
                <a:solidFill>
                  <a:srgbClr val="23292F"/>
                </a:solidFill>
                <a:latin typeface="Meiryo"/>
                <a:ea typeface="Meiryo"/>
                <a:cs typeface="Meiryo"/>
              </a:rPr>
              <a:t>）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dirty="0">
                <a:solidFill>
                  <a:srgbClr val="23292F"/>
                </a:solidFill>
                <a:latin typeface="Meiryo"/>
                <a:ea typeface="Meiryo"/>
                <a:cs typeface="Meiryo"/>
              </a:rPr>
              <a:t>●  </a:t>
            </a:r>
            <a:r>
              <a:rPr sz="1400" b="0" dirty="0" err="1">
                <a:solidFill>
                  <a:srgbClr val="23292F"/>
                </a:solidFill>
                <a:latin typeface="Meiryo"/>
                <a:ea typeface="Meiryo"/>
                <a:cs typeface="Meiryo"/>
              </a:rPr>
              <a:t>ノート</a:t>
            </a:r>
            <a:r>
              <a:rPr sz="1400" b="0" dirty="0">
                <a:solidFill>
                  <a:srgbClr val="23292F"/>
                </a:solidFill>
                <a:latin typeface="Meiryo"/>
                <a:ea typeface="Meiryo"/>
                <a:cs typeface="Meiryo"/>
              </a:rPr>
              <a:t> PC </a:t>
            </a:r>
            <a:r>
              <a:rPr sz="1400" b="0" dirty="0" err="1">
                <a:solidFill>
                  <a:srgbClr val="23292F"/>
                </a:solidFill>
                <a:latin typeface="Meiryo"/>
                <a:ea typeface="Meiryo"/>
                <a:cs typeface="Meiryo"/>
              </a:rPr>
              <a:t>とロボット間の無線通信（DDS）は安定せず</a:t>
            </a:r>
            <a:endParaRPr sz="1400" b="0" dirty="0">
              <a:solidFill>
                <a:srgbClr val="23292F"/>
              </a:solidFill>
              <a:latin typeface="Meiryo"/>
              <a:ea typeface="Meiryo"/>
              <a:cs typeface="Meiryo"/>
            </a:endParaRPr>
          </a:p>
          <a:p>
            <a:pPr marL="384048" indent="0" algn="l"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0" dirty="0">
                <a:solidFill>
                  <a:srgbClr val="4F5A63"/>
                </a:solidFill>
                <a:latin typeface="Meiryo"/>
                <a:ea typeface="Meiryo"/>
                <a:cs typeface="Meiryo"/>
              </a:rPr>
              <a:t>→ </a:t>
            </a:r>
            <a:r>
              <a:rPr sz="1250" b="0" dirty="0" err="1">
                <a:solidFill>
                  <a:srgbClr val="4F5A63"/>
                </a:solidFill>
                <a:latin typeface="Meiryo"/>
                <a:ea typeface="Meiryo"/>
                <a:cs typeface="Meiryo"/>
              </a:rPr>
              <a:t>全プログラムをロボット上で動かし、結果だけ後で回収する方式に切り替えて回避</a:t>
            </a:r>
            <a:endParaRPr sz="1250" b="0" dirty="0">
              <a:solidFill>
                <a:srgbClr val="4F5A63"/>
              </a:solidFill>
              <a:latin typeface="Meiryo"/>
              <a:ea typeface="Meiryo"/>
              <a:cs typeface="Meiryo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dirty="0">
                <a:solidFill>
                  <a:srgbClr val="23292F"/>
                </a:solidFill>
                <a:latin typeface="Meiryo"/>
                <a:ea typeface="Meiryo"/>
                <a:cs typeface="Meiryo"/>
              </a:rPr>
              <a:t>●  </a:t>
            </a:r>
            <a:r>
              <a:rPr sz="1400" b="0" dirty="0" err="1">
                <a:solidFill>
                  <a:srgbClr val="23292F"/>
                </a:solidFill>
                <a:latin typeface="Meiryo"/>
                <a:ea typeface="Meiryo"/>
                <a:cs typeface="Meiryo"/>
              </a:rPr>
              <a:t>設計の工夫：制御の中身（純粋な計算部分）と</a:t>
            </a:r>
            <a:r>
              <a:rPr sz="1400" b="0" dirty="0">
                <a:solidFill>
                  <a:srgbClr val="23292F"/>
                </a:solidFill>
                <a:latin typeface="Meiryo"/>
                <a:ea typeface="Meiryo"/>
                <a:cs typeface="Meiryo"/>
              </a:rPr>
              <a:t> ROS </a:t>
            </a:r>
            <a:r>
              <a:rPr sz="1400" b="0" dirty="0" err="1">
                <a:solidFill>
                  <a:srgbClr val="23292F"/>
                </a:solidFill>
                <a:latin typeface="Meiryo"/>
                <a:ea typeface="Meiryo"/>
                <a:cs typeface="Meiryo"/>
              </a:rPr>
              <a:t>の通信部分を分離</a:t>
            </a:r>
            <a:endParaRPr sz="1400" b="0" dirty="0">
              <a:solidFill>
                <a:srgbClr val="23292F"/>
              </a:solidFill>
              <a:latin typeface="Meiryo"/>
              <a:ea typeface="Meiryo"/>
              <a:cs typeface="Meiryo"/>
            </a:endParaRPr>
          </a:p>
          <a:p>
            <a:pPr marL="384048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dirty="0">
                <a:solidFill>
                  <a:srgbClr val="4F5A63"/>
                </a:solidFill>
                <a:latin typeface="Meiryo"/>
                <a:ea typeface="Meiryo"/>
                <a:cs typeface="Meiryo"/>
              </a:rPr>
              <a:t>→ </a:t>
            </a:r>
            <a:r>
              <a:rPr sz="1250" b="0" dirty="0" err="1">
                <a:solidFill>
                  <a:srgbClr val="4F5A63"/>
                </a:solidFill>
                <a:latin typeface="Meiryo"/>
                <a:ea typeface="Meiryo"/>
                <a:cs typeface="Meiryo"/>
              </a:rPr>
              <a:t>制御則を後から</a:t>
            </a:r>
            <a:r>
              <a:rPr sz="1250" b="0" dirty="0">
                <a:solidFill>
                  <a:srgbClr val="4F5A63"/>
                </a:solidFill>
                <a:latin typeface="Meiryo"/>
                <a:ea typeface="Meiryo"/>
                <a:cs typeface="Meiryo"/>
              </a:rPr>
              <a:t> L1-MPC </a:t>
            </a:r>
            <a:r>
              <a:rPr sz="1250" b="0" dirty="0" err="1">
                <a:solidFill>
                  <a:srgbClr val="4F5A63"/>
                </a:solidFill>
                <a:latin typeface="Meiryo"/>
                <a:ea typeface="Meiryo"/>
                <a:cs typeface="Meiryo"/>
              </a:rPr>
              <a:t>に差し替えても、経路や誤差の計算をそのまま再利用できる</a:t>
            </a:r>
            <a:endParaRPr sz="1250" b="0" dirty="0">
              <a:solidFill>
                <a:srgbClr val="4F5A63"/>
              </a:solidFill>
              <a:latin typeface="Meiryo"/>
              <a:ea typeface="Meiryo"/>
              <a:cs typeface="Meiryo"/>
            </a:endParaRPr>
          </a:p>
        </p:txBody>
      </p:sp>
      <p:pic>
        <p:nvPicPr>
          <p:cNvPr id="9" name="Picture 8" descr="map_room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0503" y="1837282"/>
            <a:ext cx="4212823" cy="327487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183343" y="5257800"/>
            <a:ext cx="4349983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4F5A63"/>
                </a:solidFill>
                <a:latin typeface="Meiryo"/>
                <a:ea typeface="Meiryo"/>
                <a:cs typeface="Meiryo"/>
              </a:rPr>
              <a:t>作成した周囲の地図（SLAM・約7×8.6m）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75488"/>
            <a:ext cx="1051560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1F6F8B"/>
                </a:solidFill>
                <a:latin typeface="Meiryo"/>
                <a:ea typeface="Meiryo"/>
                <a:cs typeface="Meiryo"/>
              </a:rPr>
              <a:t>取り組み 02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222A30"/>
                </a:solidFill>
                <a:latin typeface="Meiryo"/>
                <a:ea typeface="Meiryo"/>
                <a:cs typeface="Meiryo"/>
              </a:rPr>
              <a:t>実機の基盤づくり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41248" y="1335024"/>
            <a:ext cx="786384" cy="45720"/>
          </a:xfrm>
          <a:prstGeom prst="rect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10637215" y="6455664"/>
            <a:ext cx="9144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53606A"/>
                </a:solidFill>
                <a:latin typeface="Meiryo"/>
                <a:ea typeface="Meiryo"/>
                <a:cs typeface="Meiryo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741932"/>
            <a:ext cx="10874959" cy="5364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dirty="0" err="1">
                <a:solidFill>
                  <a:srgbClr val="23292F"/>
                </a:solidFill>
                <a:latin typeface="Meiryo"/>
                <a:ea typeface="Meiryo"/>
                <a:cs typeface="Meiryo"/>
              </a:rPr>
              <a:t>比較の基準となる古典制御（Kanayama</a:t>
            </a:r>
            <a:r>
              <a:rPr sz="1400" b="0" dirty="0">
                <a:solidFill>
                  <a:srgbClr val="23292F"/>
                </a:solidFill>
                <a:latin typeface="Meiryo"/>
                <a:ea typeface="Meiryo"/>
                <a:cs typeface="Meiryo"/>
              </a:rPr>
              <a:t> </a:t>
            </a:r>
            <a:r>
              <a:rPr sz="1400" b="0" dirty="0" err="1">
                <a:solidFill>
                  <a:srgbClr val="23292F"/>
                </a:solidFill>
                <a:latin typeface="Meiryo"/>
                <a:ea typeface="Meiryo"/>
                <a:cs typeface="Meiryo"/>
              </a:rPr>
              <a:t>法：経路からのずれを見て操舵量を決めるフィードバック制御）を実装し</a:t>
            </a:r>
            <a:r>
              <a:rPr sz="1400" b="0" dirty="0">
                <a:solidFill>
                  <a:srgbClr val="23292F"/>
                </a:solidFill>
                <a:latin typeface="Meiryo"/>
                <a:ea typeface="Meiryo"/>
                <a:cs typeface="Meiryo"/>
              </a:rPr>
              <a:t>、</a:t>
            </a:r>
            <a:endParaRPr lang="en-US" sz="1400" b="0" dirty="0">
              <a:solidFill>
                <a:srgbClr val="23292F"/>
              </a:solidFill>
              <a:latin typeface="Meiryo"/>
              <a:ea typeface="Meiryo"/>
              <a:cs typeface="Meiryo"/>
            </a:endParaRP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dirty="0">
                <a:solidFill>
                  <a:srgbClr val="23292F"/>
                </a:solidFill>
                <a:latin typeface="Meiryo"/>
                <a:ea typeface="Meiryo"/>
                <a:cs typeface="Meiryo"/>
              </a:rPr>
              <a:t>ロボットの自己位置だけを頼りに床を自立走行させた。直線2m を3本と、L字（90°旋回入り）を完走した。</a:t>
            </a:r>
          </a:p>
        </p:txBody>
      </p:sp>
      <p:sp>
        <p:nvSpPr>
          <p:cNvPr id="9" name="Round Same Side Corner Rectangle 8"/>
          <p:cNvSpPr/>
          <p:nvPr/>
        </p:nvSpPr>
        <p:spPr>
          <a:xfrm>
            <a:off x="658367" y="3022092"/>
            <a:ext cx="3411626" cy="457200"/>
          </a:xfrm>
          <a:prstGeom prst="round2Same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8367" y="3022092"/>
            <a:ext cx="3411626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dirty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直線2m ×3本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7" y="3479292"/>
            <a:ext cx="3411626" cy="1234440"/>
          </a:xfrm>
          <a:prstGeom prst="rect">
            <a:avLst/>
          </a:prstGeom>
          <a:solidFill>
            <a:srgbClr val="F6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58" y="3479292"/>
            <a:ext cx="3082442" cy="12344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292F"/>
                </a:solidFill>
                <a:latin typeface="Meiryo"/>
                <a:ea typeface="Meiryo"/>
                <a:cs typeface="Meiryo"/>
              </a:rPr>
              <a:t>完走・自動停止
ほぼ真っ直ぐ走行</a:t>
            </a:r>
          </a:p>
        </p:txBody>
      </p:sp>
      <p:sp>
        <p:nvSpPr>
          <p:cNvPr id="13" name="Round Same Side Corner Rectangle 12"/>
          <p:cNvSpPr/>
          <p:nvPr/>
        </p:nvSpPr>
        <p:spPr>
          <a:xfrm>
            <a:off x="4390033" y="3022092"/>
            <a:ext cx="3411626" cy="457200"/>
          </a:xfrm>
          <a:prstGeom prst="round2SameRect">
            <a:avLst/>
          </a:prstGeom>
          <a:solidFill>
            <a:srgbClr val="E07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390033" y="3022092"/>
            <a:ext cx="3411626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L字（90°旋回）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90033" y="3479292"/>
            <a:ext cx="3411626" cy="1234440"/>
          </a:xfrm>
          <a:prstGeom prst="rect">
            <a:avLst/>
          </a:prstGeom>
          <a:solidFill>
            <a:srgbClr val="F6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54625" y="3479292"/>
            <a:ext cx="3082442" cy="12344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292F"/>
                </a:solidFill>
                <a:latin typeface="Meiryo"/>
                <a:ea typeface="Meiryo"/>
                <a:cs typeface="Meiryo"/>
              </a:rPr>
              <a:t>完走。ただし旋回角が
実測80°（10°不足）</a:t>
            </a:r>
          </a:p>
        </p:txBody>
      </p:sp>
      <p:sp>
        <p:nvSpPr>
          <p:cNvPr id="17" name="Round Same Side Corner Rectangle 16"/>
          <p:cNvSpPr/>
          <p:nvPr/>
        </p:nvSpPr>
        <p:spPr>
          <a:xfrm>
            <a:off x="8121699" y="3022092"/>
            <a:ext cx="3411626" cy="457200"/>
          </a:xfrm>
          <a:prstGeom prst="round2SameRect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121699" y="3022092"/>
            <a:ext cx="3411626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回転の誤差を補正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21699" y="3479292"/>
            <a:ext cx="3411626" cy="1234440"/>
          </a:xfrm>
          <a:prstGeom prst="rect">
            <a:avLst/>
          </a:prstGeom>
          <a:solidFill>
            <a:srgbClr val="F6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86291" y="3479292"/>
            <a:ext cx="3082442" cy="12344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292F"/>
                </a:solidFill>
                <a:latin typeface="Meiryo"/>
                <a:ea typeface="Meiryo"/>
                <a:cs typeface="Meiryo"/>
              </a:rPr>
              <a:t>車輪間隔の定数を調整
→ ほぼ90°に改善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7" y="5033772"/>
            <a:ext cx="10874959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4F5A63"/>
                </a:solidFill>
                <a:latin typeface="Meiryo"/>
                <a:ea typeface="Meiryo"/>
                <a:cs typeface="Meiryo"/>
              </a:rPr>
              <a:t>分かったこと：旋回の角度に系統的な誤差（約11%多く回ったと誤認）。原因は旋回時の車輪の滑りと、車輪間隔の設定値のずれ。設定値を補正してほぼ90°に改善した。</a:t>
            </a:r>
          </a:p>
          <a:p>
            <a:pPr algn="l">
              <a:lnSpc>
                <a:spcPct val="128000"/>
              </a:lnSpc>
              <a:spcBef>
                <a:spcPts val="200"/>
              </a:spcBef>
              <a:spcAft>
                <a:spcPts val="600"/>
              </a:spcAft>
            </a:pPr>
            <a:r>
              <a:rPr sz="1250" b="0">
                <a:solidFill>
                  <a:srgbClr val="4F5A63"/>
                </a:solidFill>
                <a:latin typeface="Meiryo"/>
                <a:ea typeface="Meiryo"/>
                <a:cs typeface="Meiryo"/>
              </a:rPr>
              <a:t>→ ロボット自身の位置推定（オドメトリ）は『回転』に弱い、と把握。実機ならではの学び。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475488"/>
            <a:ext cx="1051560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1F6F8B"/>
                </a:solidFill>
                <a:latin typeface="Meiryo"/>
                <a:ea typeface="Meiryo"/>
                <a:cs typeface="Meiryo"/>
              </a:rPr>
              <a:t>取り組み 03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222A30"/>
                </a:solidFill>
                <a:latin typeface="Meiryo"/>
                <a:ea typeface="Meiryo"/>
                <a:cs typeface="Meiryo"/>
              </a:rPr>
              <a:t>実機で自立走行（古典制御）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41248" y="1335024"/>
            <a:ext cx="786384" cy="45720"/>
          </a:xfrm>
          <a:prstGeom prst="rect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10637215" y="6455664"/>
            <a:ext cx="9144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53606A"/>
                </a:solidFill>
                <a:latin typeface="Meiryo"/>
                <a:ea typeface="Meiryo"/>
                <a:cs typeface="Meiryo"/>
              </a:rP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554480"/>
            <a:ext cx="5111230" cy="457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1">
                <a:solidFill>
                  <a:srgbClr val="1F6F8B"/>
                </a:solidFill>
                <a:latin typeface="Meiryo"/>
                <a:ea typeface="Meiryo"/>
                <a:cs typeface="Meiryo"/>
              </a:rPr>
              <a:t>なぜ必要か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>
                <a:solidFill>
                  <a:srgbClr val="23292F"/>
                </a:solidFill>
                <a:latin typeface="Meiryo"/>
                <a:ea typeface="Meiryo"/>
                <a:cs typeface="Meiryo"/>
              </a:rPr>
              <a:t>●  MPC は毎周期“最適化計算”を解く。非力な Raspberry Pi で、制御周期 0.1秒 以内に解き終わらないと、リアルタイムの制御が成立しない。</a:t>
            </a:r>
          </a:p>
          <a:p>
            <a:pPr marL="384048" indent="0" algn="l"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0">
                <a:solidFill>
                  <a:srgbClr val="4F5A63"/>
                </a:solidFill>
                <a:latin typeface="Meiryo"/>
                <a:ea typeface="Meiryo"/>
                <a:cs typeface="Meiryo"/>
              </a:rPr>
              <a:t>そこで本格実装の前に、解けるかどうかを最初に確認した。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1">
                <a:solidFill>
                  <a:srgbClr val="1F6F8B"/>
                </a:solidFill>
                <a:latin typeface="Meiryo"/>
                <a:ea typeface="Meiryo"/>
                <a:cs typeface="Meiryo"/>
              </a:rPr>
              <a:t>方法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0">
                <a:solidFill>
                  <a:srgbClr val="23292F"/>
                </a:solidFill>
                <a:latin typeface="Meiryo"/>
                <a:ea typeface="Meiryo"/>
                <a:cs typeface="Meiryo"/>
              </a:rPr>
              <a:t>●  予測の長さ N を変えて求解時間を計測（p95＝95%がこの時間以内）。電源の電圧低下も同時に監視。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1">
                <a:solidFill>
                  <a:srgbClr val="E07A3F"/>
                </a:solidFill>
                <a:latin typeface="Meiryo"/>
                <a:ea typeface="Meiryo"/>
                <a:cs typeface="Meiryo"/>
              </a:rPr>
              <a:t>結果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23292F"/>
                </a:solidFill>
                <a:latin typeface="Meiryo"/>
                <a:ea typeface="Meiryo"/>
                <a:cs typeface="Meiryo"/>
              </a:rPr>
              <a:t>●  N＝30 まで 0.1秒以内・電圧低下なし → 通過</a:t>
            </a:r>
          </a:p>
          <a:p>
            <a:pPr marL="384048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4F5A63"/>
                </a:solidFill>
                <a:latin typeface="Meiryo"/>
                <a:ea typeface="Meiryo"/>
                <a:cs typeface="Meiryo"/>
              </a:rPr>
              <a:t>実際の実験では余裕をみて N＝15 を主に使う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43918" y="2148840"/>
            <a:ext cx="530652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4F5A63"/>
                </a:solidFill>
                <a:latin typeface="Meiryo"/>
                <a:ea typeface="Meiryo"/>
                <a:cs typeface="Meiryo"/>
              </a:rPr>
              <a:t>Raspberry Pi 4 実測 ― 求解時間 p95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043918" y="2514600"/>
          <a:ext cx="5306526" cy="19659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980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35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735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13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9149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予測長 N</a:t>
                      </a:r>
                    </a:p>
                  </a:txBody>
                  <a:tcPr marL="109728" marR="54864" marT="18288" marB="18288" anchor="ctr">
                    <a:solidFill>
                      <a:srgbClr val="1F6F8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L2  p95</a:t>
                      </a:r>
                    </a:p>
                  </a:txBody>
                  <a:tcPr marL="109728" marR="54864" marT="18288" marB="18288" anchor="ctr">
                    <a:solidFill>
                      <a:srgbClr val="1F6F8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L1  p95</a:t>
                      </a:r>
                    </a:p>
                  </a:txBody>
                  <a:tcPr marL="109728" marR="54864" marT="18288" marB="18288" anchor="ctr">
                    <a:solidFill>
                      <a:srgbClr val="1F6F8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間に合う?</a:t>
                      </a:r>
                    </a:p>
                  </a:txBody>
                  <a:tcPr marL="109728" marR="54864" marT="18288" marB="18288" anchor="ctr">
                    <a:solidFill>
                      <a:srgbClr val="1F6F8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23292F"/>
                          </a:solidFill>
                          <a:latin typeface="Meiryo"/>
                          <a:ea typeface="Meiryo"/>
                          <a:cs typeface="Meiryo"/>
                        </a:rPr>
                        <a:t>15</a:t>
                      </a:r>
                    </a:p>
                  </a:txBody>
                  <a:tcPr marL="109728" marR="54864" marT="18288" marB="18288" anchor="ctr"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3292F"/>
                          </a:solidFill>
                          <a:latin typeface="Meiryo"/>
                          <a:ea typeface="Meiryo"/>
                          <a:cs typeface="Meiryo"/>
                        </a:rPr>
                        <a:t>16.6 ms</a:t>
                      </a:r>
                    </a:p>
                  </a:txBody>
                  <a:tcPr marL="109728" marR="54864" marT="18288" marB="18288" anchor="ctr"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3292F"/>
                          </a:solidFill>
                          <a:latin typeface="Meiryo"/>
                          <a:ea typeface="Meiryo"/>
                          <a:cs typeface="Meiryo"/>
                        </a:rPr>
                        <a:t>18.0 ms</a:t>
                      </a:r>
                    </a:p>
                  </a:txBody>
                  <a:tcPr marL="109728" marR="54864" marT="18288" marB="18288" anchor="ctr"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3292F"/>
                          </a:solidFill>
                          <a:latin typeface="Meiryo"/>
                          <a:ea typeface="Meiryo"/>
                          <a:cs typeface="Meiryo"/>
                        </a:rPr>
                        <a:t>○</a:t>
                      </a:r>
                    </a:p>
                  </a:txBody>
                  <a:tcPr marL="109728" marR="54864" marT="18288" marB="18288" anchor="ctr">
                    <a:solidFill>
                      <a:srgbClr val="F6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23292F"/>
                          </a:solidFill>
                          <a:latin typeface="Meiryo"/>
                          <a:ea typeface="Meiryo"/>
                          <a:cs typeface="Meiryo"/>
                        </a:rPr>
                        <a:t>20</a:t>
                      </a:r>
                    </a:p>
                  </a:txBody>
                  <a:tcPr marL="109728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3292F"/>
                          </a:solidFill>
                          <a:latin typeface="Meiryo"/>
                          <a:ea typeface="Meiryo"/>
                          <a:cs typeface="Meiryo"/>
                        </a:rPr>
                        <a:t>14.3 ms</a:t>
                      </a:r>
                    </a:p>
                  </a:txBody>
                  <a:tcPr marL="109728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3292F"/>
                          </a:solidFill>
                          <a:latin typeface="Meiryo"/>
                          <a:ea typeface="Meiryo"/>
                          <a:cs typeface="Meiryo"/>
                        </a:rPr>
                        <a:t>21.6 ms</a:t>
                      </a:r>
                    </a:p>
                  </a:txBody>
                  <a:tcPr marL="109728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3292F"/>
                          </a:solidFill>
                          <a:latin typeface="Meiryo"/>
                          <a:ea typeface="Meiryo"/>
                          <a:cs typeface="Meiryo"/>
                        </a:rPr>
                        <a:t>○</a:t>
                      </a:r>
                    </a:p>
                  </a:txBody>
                  <a:tcPr marL="109728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23292F"/>
                          </a:solidFill>
                          <a:latin typeface="Meiryo"/>
                          <a:ea typeface="Meiryo"/>
                          <a:cs typeface="Meiryo"/>
                        </a:rPr>
                        <a:t>30</a:t>
                      </a:r>
                    </a:p>
                  </a:txBody>
                  <a:tcPr marL="109728" marR="54864" marT="18288" marB="18288" anchor="ctr"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3292F"/>
                          </a:solidFill>
                          <a:latin typeface="Meiryo"/>
                          <a:ea typeface="Meiryo"/>
                          <a:cs typeface="Meiryo"/>
                        </a:rPr>
                        <a:t>17.7 ms</a:t>
                      </a:r>
                    </a:p>
                  </a:txBody>
                  <a:tcPr marL="109728" marR="54864" marT="18288" marB="18288" anchor="ctr"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3292F"/>
                          </a:solidFill>
                          <a:latin typeface="Meiryo"/>
                          <a:ea typeface="Meiryo"/>
                          <a:cs typeface="Meiryo"/>
                        </a:rPr>
                        <a:t>29.2 ms</a:t>
                      </a:r>
                    </a:p>
                  </a:txBody>
                  <a:tcPr marL="109728" marR="54864" marT="18288" marB="18288" anchor="ctr"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3292F"/>
                          </a:solidFill>
                          <a:latin typeface="Meiryo"/>
                          <a:ea typeface="Meiryo"/>
                          <a:cs typeface="Meiryo"/>
                        </a:rPr>
                        <a:t>○</a:t>
                      </a:r>
                    </a:p>
                  </a:txBody>
                  <a:tcPr marL="109728" marR="54864" marT="18288" marB="18288" anchor="ctr">
                    <a:solidFill>
                      <a:srgbClr val="F6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043918" y="4572000"/>
            <a:ext cx="5306528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4F5A63"/>
                </a:solidFill>
                <a:latin typeface="Meiryo"/>
                <a:ea typeface="Meiryo"/>
                <a:cs typeface="Meiryo"/>
              </a:rPr>
              <a:t>提案手法 L1 は計算が重い（L2 の約1.5倍）が、それでも周期内に収まる。「L1は操舵を減らすが計算は増える」というトレードオフの最初の数値。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75488"/>
            <a:ext cx="1051560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1F6F8B"/>
                </a:solidFill>
                <a:latin typeface="Meiryo"/>
                <a:ea typeface="Meiryo"/>
                <a:cs typeface="Meiryo"/>
              </a:rPr>
              <a:t>取り組み 04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222A30"/>
                </a:solidFill>
                <a:latin typeface="Meiryo"/>
                <a:ea typeface="Meiryo"/>
                <a:cs typeface="Meiryo"/>
              </a:rPr>
              <a:t>計算が間に合うかの確認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41248" y="1335024"/>
            <a:ext cx="786384" cy="45720"/>
          </a:xfrm>
          <a:prstGeom prst="rect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10637215" y="6455664"/>
            <a:ext cx="9144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53606A"/>
                </a:solidFill>
                <a:latin typeface="Meiryo"/>
                <a:ea typeface="Meiryo"/>
                <a:cs typeface="Meiryo"/>
              </a:rPr>
              <a:t>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554480"/>
            <a:ext cx="5437479" cy="37453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1" dirty="0">
                <a:solidFill>
                  <a:srgbClr val="1F6F8B"/>
                </a:solidFill>
                <a:latin typeface="Meiryo"/>
                <a:ea typeface="Meiryo"/>
                <a:cs typeface="Meiryo"/>
              </a:rPr>
              <a:t>MPC </a:t>
            </a:r>
            <a:r>
              <a:rPr sz="1450" b="1" dirty="0" err="1">
                <a:solidFill>
                  <a:srgbClr val="1F6F8B"/>
                </a:solidFill>
                <a:latin typeface="Meiryo"/>
                <a:ea typeface="Meiryo"/>
                <a:cs typeface="Meiryo"/>
              </a:rPr>
              <a:t>とは（おさらい</a:t>
            </a:r>
            <a:r>
              <a:rPr sz="1450" b="1" dirty="0">
                <a:solidFill>
                  <a:srgbClr val="1F6F8B"/>
                </a:solidFill>
                <a:latin typeface="Meiryo"/>
                <a:ea typeface="Meiryo"/>
                <a:cs typeface="Meiryo"/>
              </a:rPr>
              <a:t>）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700"/>
              </a:spcAft>
            </a:pPr>
            <a:r>
              <a:rPr sz="1350" b="0" dirty="0">
                <a:solidFill>
                  <a:srgbClr val="23292F"/>
                </a:solidFill>
                <a:latin typeface="Meiryo"/>
                <a:ea typeface="Meiryo"/>
                <a:cs typeface="Meiryo"/>
              </a:rPr>
              <a:t>●  少し先（今回は1.5秒先）までの動きを予測し、経路に最もよく沿う入力列を計算。その先頭だけ実行し、次の周期でまた計算し直す。</a:t>
            </a:r>
            <a:endParaRPr lang="en-US" sz="1350" b="0" dirty="0">
              <a:solidFill>
                <a:srgbClr val="23292F"/>
              </a:solidFill>
              <a:latin typeface="Meiryo"/>
              <a:ea typeface="Meiryo"/>
              <a:cs typeface="Meiryo"/>
            </a:endParaRP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700"/>
              </a:spcAft>
            </a:pPr>
            <a:endParaRPr sz="1350" b="0" dirty="0">
              <a:solidFill>
                <a:srgbClr val="23292F"/>
              </a:solidFill>
              <a:latin typeface="Meiryo"/>
              <a:ea typeface="Meiryo"/>
              <a:cs typeface="Meiryo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1" dirty="0" err="1">
                <a:solidFill>
                  <a:srgbClr val="1F6F8B"/>
                </a:solidFill>
                <a:latin typeface="Meiryo"/>
                <a:ea typeface="Meiryo"/>
                <a:cs typeface="Meiryo"/>
              </a:rPr>
              <a:t>やったこと</a:t>
            </a:r>
            <a:endParaRPr sz="1450" b="1" dirty="0">
              <a:solidFill>
                <a:srgbClr val="1F6F8B"/>
              </a:solidFill>
              <a:latin typeface="Meiryo"/>
              <a:ea typeface="Meiryo"/>
              <a:cs typeface="Meiryo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 dirty="0">
                <a:solidFill>
                  <a:srgbClr val="23292F"/>
                </a:solidFill>
                <a:latin typeface="Meiryo"/>
                <a:ea typeface="Meiryo"/>
                <a:cs typeface="Meiryo"/>
              </a:rPr>
              <a:t>●  </a:t>
            </a:r>
            <a:r>
              <a:rPr sz="1350" b="0" dirty="0" err="1">
                <a:solidFill>
                  <a:srgbClr val="23292F"/>
                </a:solidFill>
                <a:latin typeface="Meiryo"/>
                <a:ea typeface="Meiryo"/>
                <a:cs typeface="Meiryo"/>
              </a:rPr>
              <a:t>この</a:t>
            </a:r>
            <a:r>
              <a:rPr sz="1350" b="0" dirty="0">
                <a:solidFill>
                  <a:srgbClr val="23292F"/>
                </a:solidFill>
                <a:latin typeface="Meiryo"/>
                <a:ea typeface="Meiryo"/>
                <a:cs typeface="Meiryo"/>
              </a:rPr>
              <a:t> MPC </a:t>
            </a:r>
            <a:r>
              <a:rPr sz="1350" b="0" dirty="0" err="1">
                <a:solidFill>
                  <a:srgbClr val="23292F"/>
                </a:solidFill>
                <a:latin typeface="Meiryo"/>
                <a:ea typeface="Meiryo"/>
                <a:cs typeface="Meiryo"/>
              </a:rPr>
              <a:t>の骨格を実装し、ロボットの運動を模したシミュレーションで検証</a:t>
            </a:r>
            <a:endParaRPr sz="1350" b="0" dirty="0">
              <a:solidFill>
                <a:srgbClr val="23292F"/>
              </a:solidFill>
              <a:latin typeface="Meiryo"/>
              <a:ea typeface="Meiryo"/>
              <a:cs typeface="Meiryo"/>
            </a:endParaRPr>
          </a:p>
          <a:p>
            <a:pPr marL="384048" indent="0" algn="l"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0" dirty="0" err="1">
                <a:solidFill>
                  <a:srgbClr val="4F5A63"/>
                </a:solidFill>
                <a:latin typeface="Meiryo"/>
                <a:ea typeface="Meiryo"/>
                <a:cs typeface="Meiryo"/>
              </a:rPr>
              <a:t>入力の上限や、無理のない終端条件などを組み込み</a:t>
            </a:r>
            <a:r>
              <a:rPr sz="1250" b="0" dirty="0">
                <a:solidFill>
                  <a:srgbClr val="4F5A63"/>
                </a:solidFill>
                <a:latin typeface="Meiryo"/>
                <a:ea typeface="Meiryo"/>
                <a:cs typeface="Meiryo"/>
              </a:rPr>
              <a:t>、</a:t>
            </a:r>
            <a:endParaRPr lang="en-US" sz="1250" b="0" dirty="0">
              <a:solidFill>
                <a:srgbClr val="4F5A63"/>
              </a:solidFill>
              <a:latin typeface="Meiryo"/>
              <a:ea typeface="Meiryo"/>
              <a:cs typeface="Meiryo"/>
            </a:endParaRPr>
          </a:p>
          <a:p>
            <a:pPr marL="384048" indent="0" algn="l"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0" dirty="0">
                <a:solidFill>
                  <a:srgbClr val="4F5A63"/>
                </a:solidFill>
                <a:latin typeface="Meiryo"/>
                <a:ea typeface="Meiryo"/>
                <a:cs typeface="Meiryo"/>
              </a:rPr>
              <a:t>5ケースすべてで到達</a:t>
            </a:r>
            <a:endParaRPr lang="en-US" sz="1250" b="0" dirty="0">
              <a:solidFill>
                <a:srgbClr val="4F5A63"/>
              </a:solidFill>
              <a:latin typeface="Meiryo"/>
              <a:ea typeface="Meiryo"/>
              <a:cs typeface="Meiryo"/>
            </a:endParaRPr>
          </a:p>
          <a:p>
            <a:pPr marL="384048" indent="0" algn="l"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</a:pPr>
            <a:endParaRPr sz="1250" b="0" dirty="0">
              <a:solidFill>
                <a:srgbClr val="4F5A63"/>
              </a:solidFill>
              <a:latin typeface="Meiryo"/>
              <a:ea typeface="Meiryo"/>
              <a:cs typeface="Meiryo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1" dirty="0" err="1">
                <a:solidFill>
                  <a:srgbClr val="E07A3F"/>
                </a:solidFill>
                <a:latin typeface="Meiryo"/>
                <a:ea typeface="Meiryo"/>
                <a:cs typeface="Meiryo"/>
              </a:rPr>
              <a:t>結果</a:t>
            </a:r>
            <a:endParaRPr sz="1450" b="1" dirty="0">
              <a:solidFill>
                <a:srgbClr val="E07A3F"/>
              </a:solidFill>
              <a:latin typeface="Meiryo"/>
              <a:ea typeface="Meiryo"/>
              <a:cs typeface="Meiryo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dirty="0">
                <a:solidFill>
                  <a:srgbClr val="23292F"/>
                </a:solidFill>
                <a:latin typeface="Meiryo"/>
                <a:ea typeface="Meiryo"/>
                <a:cs typeface="Meiryo"/>
              </a:rPr>
              <a:t>●  </a:t>
            </a:r>
            <a:r>
              <a:rPr sz="1350" b="1" dirty="0" err="1">
                <a:solidFill>
                  <a:srgbClr val="23292F"/>
                </a:solidFill>
                <a:latin typeface="Meiryo"/>
                <a:ea typeface="Meiryo"/>
                <a:cs typeface="Meiryo"/>
              </a:rPr>
              <a:t>経路からのずれ（RMSE）が、基準の</a:t>
            </a:r>
            <a:r>
              <a:rPr sz="1350" b="1" dirty="0">
                <a:solidFill>
                  <a:srgbClr val="23292F"/>
                </a:solidFill>
                <a:latin typeface="Meiryo"/>
                <a:ea typeface="Meiryo"/>
                <a:cs typeface="Meiryo"/>
              </a:rPr>
              <a:t> Kanayama </a:t>
            </a:r>
            <a:r>
              <a:rPr sz="1350" b="1" dirty="0" err="1">
                <a:solidFill>
                  <a:srgbClr val="23292F"/>
                </a:solidFill>
                <a:latin typeface="Meiryo"/>
                <a:ea typeface="Meiryo"/>
                <a:cs typeface="Meiryo"/>
              </a:rPr>
              <a:t>を全ケースで下回った</a:t>
            </a:r>
            <a:endParaRPr sz="1350" b="1" dirty="0">
              <a:solidFill>
                <a:srgbClr val="23292F"/>
              </a:solidFill>
              <a:latin typeface="Meiryo"/>
              <a:ea typeface="Meiryo"/>
              <a:cs typeface="Meiryo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732117" y="1645920"/>
            <a:ext cx="498027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dirty="0" err="1">
                <a:solidFill>
                  <a:srgbClr val="4F5A63"/>
                </a:solidFill>
                <a:latin typeface="Meiryo"/>
                <a:ea typeface="Meiryo"/>
                <a:cs typeface="Meiryo"/>
              </a:rPr>
              <a:t>経路からのずれ</a:t>
            </a:r>
            <a:r>
              <a:rPr sz="1250" b="0" dirty="0">
                <a:solidFill>
                  <a:srgbClr val="4F5A63"/>
                </a:solidFill>
                <a:latin typeface="Meiryo"/>
                <a:ea typeface="Meiryo"/>
                <a:cs typeface="Meiryo"/>
              </a:rPr>
              <a:t> </a:t>
            </a:r>
            <a:r>
              <a:rPr sz="1250" b="0" dirty="0" err="1">
                <a:solidFill>
                  <a:srgbClr val="4F5A63"/>
                </a:solidFill>
                <a:latin typeface="Meiryo"/>
                <a:ea typeface="Meiryo"/>
                <a:cs typeface="Meiryo"/>
              </a:rPr>
              <a:t>RMSE（小さいほど良い</a:t>
            </a:r>
            <a:r>
              <a:rPr sz="1250" b="0" dirty="0">
                <a:solidFill>
                  <a:srgbClr val="4F5A63"/>
                </a:solidFill>
                <a:latin typeface="Meiryo"/>
                <a:ea typeface="Meiryo"/>
                <a:cs typeface="Meiryo"/>
              </a:rPr>
              <a:t>）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0492094"/>
              </p:ext>
            </p:extLst>
          </p:nvPr>
        </p:nvGraphicFramePr>
        <p:xfrm>
          <a:off x="6732117" y="2011680"/>
          <a:ext cx="4980278" cy="16824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909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4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446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250" b="1" dirty="0" err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ケース</a:t>
                      </a:r>
                      <a:endParaRPr sz="1250" b="1" dirty="0">
                        <a:solidFill>
                          <a:srgbClr val="FFFFFF"/>
                        </a:solidFill>
                        <a:latin typeface="Meiryo"/>
                        <a:ea typeface="Meiryo"/>
                        <a:cs typeface="Meiryo"/>
                      </a:endParaRPr>
                    </a:p>
                  </a:txBody>
                  <a:tcPr marL="109728" marR="54864" marT="18288" marB="18288" anchor="ctr">
                    <a:solidFill>
                      <a:srgbClr val="1F6F8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Kanayama</a:t>
                      </a:r>
                    </a:p>
                  </a:txBody>
                  <a:tcPr marL="109728" marR="54864" marT="18288" marB="18288" anchor="ctr">
                    <a:solidFill>
                      <a:srgbClr val="1F6F8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L2-MPC</a:t>
                      </a:r>
                    </a:p>
                  </a:txBody>
                  <a:tcPr marL="109728" marR="54864" marT="18288" marB="18288" anchor="ctr">
                    <a:solidFill>
                      <a:srgbClr val="1F6F8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23292F"/>
                          </a:solidFill>
                          <a:latin typeface="Meiryo"/>
                          <a:ea typeface="Meiryo"/>
                          <a:cs typeface="Meiryo"/>
                        </a:rPr>
                        <a:t>直線（横20cmずれ）</a:t>
                      </a:r>
                    </a:p>
                  </a:txBody>
                  <a:tcPr marL="109728" marR="54864" marT="18288" marB="18288" anchor="ctr"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3292F"/>
                          </a:solidFill>
                          <a:latin typeface="Meiryo"/>
                          <a:ea typeface="Meiryo"/>
                          <a:cs typeface="Meiryo"/>
                        </a:rPr>
                        <a:t>16.9 cm</a:t>
                      </a:r>
                    </a:p>
                  </a:txBody>
                  <a:tcPr marL="109728" marR="54864" marT="18288" marB="18288" anchor="ctr"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3292F"/>
                          </a:solidFill>
                          <a:latin typeface="Meiryo"/>
                          <a:ea typeface="Meiryo"/>
                          <a:cs typeface="Meiryo"/>
                        </a:rPr>
                        <a:t>12.5 cm</a:t>
                      </a:r>
                    </a:p>
                  </a:txBody>
                  <a:tcPr marL="109728" marR="54864" marT="18288" marB="18288" anchor="ctr">
                    <a:solidFill>
                      <a:srgbClr val="F6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23292F"/>
                          </a:solidFill>
                          <a:latin typeface="Meiryo"/>
                          <a:ea typeface="Meiryo"/>
                          <a:cs typeface="Meiryo"/>
                        </a:rPr>
                        <a:t>L字（経路上）</a:t>
                      </a:r>
                    </a:p>
                  </a:txBody>
                  <a:tcPr marL="109728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3292F"/>
                          </a:solidFill>
                          <a:latin typeface="Meiryo"/>
                          <a:ea typeface="Meiryo"/>
                          <a:cs typeface="Meiryo"/>
                        </a:rPr>
                        <a:t>11.6 cm</a:t>
                      </a:r>
                    </a:p>
                  </a:txBody>
                  <a:tcPr marL="109728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3292F"/>
                          </a:solidFill>
                          <a:latin typeface="Meiryo"/>
                          <a:ea typeface="Meiryo"/>
                          <a:cs typeface="Meiryo"/>
                        </a:rPr>
                        <a:t>2.2 cm</a:t>
                      </a:r>
                    </a:p>
                  </a:txBody>
                  <a:tcPr marL="109728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23292F"/>
                          </a:solidFill>
                          <a:latin typeface="Meiryo"/>
                          <a:ea typeface="Meiryo"/>
                          <a:cs typeface="Meiryo"/>
                        </a:rPr>
                        <a:t>L字（横15cmずれ）</a:t>
                      </a:r>
                    </a:p>
                  </a:txBody>
                  <a:tcPr marL="109728" marR="54864" marT="18288" marB="18288" anchor="ctr"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3292F"/>
                          </a:solidFill>
                          <a:latin typeface="Meiryo"/>
                          <a:ea typeface="Meiryo"/>
                          <a:cs typeface="Meiryo"/>
                        </a:rPr>
                        <a:t>12.6 cm</a:t>
                      </a:r>
                    </a:p>
                  </a:txBody>
                  <a:tcPr marL="109728" marR="54864" marT="18288" marB="18288" anchor="ctr"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dirty="0">
                          <a:solidFill>
                            <a:srgbClr val="23292F"/>
                          </a:solidFill>
                          <a:latin typeface="Meiryo"/>
                          <a:ea typeface="Meiryo"/>
                          <a:cs typeface="Meiryo"/>
                        </a:rPr>
                        <a:t>5.9 cm</a:t>
                      </a:r>
                    </a:p>
                  </a:txBody>
                  <a:tcPr marL="109728" marR="54864" marT="18288" marB="18288" anchor="ctr">
                    <a:solidFill>
                      <a:srgbClr val="F6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732117" y="3977640"/>
            <a:ext cx="4980279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dirty="0">
                <a:solidFill>
                  <a:srgbClr val="4F5A63"/>
                </a:solidFill>
                <a:latin typeface="Meiryo"/>
                <a:ea typeface="Meiryo"/>
                <a:cs typeface="Meiryo"/>
              </a:rPr>
              <a:t>“</a:t>
            </a:r>
            <a:r>
              <a:rPr sz="1250" b="0" dirty="0" err="1">
                <a:solidFill>
                  <a:srgbClr val="4F5A63"/>
                </a:solidFill>
                <a:latin typeface="Meiryo"/>
                <a:ea typeface="Meiryo"/>
                <a:cs typeface="Meiryo"/>
              </a:rPr>
              <a:t>先を予測して最適化する”分、古典制御より上手に経路へ寄せられる。まずこの</a:t>
            </a:r>
            <a:r>
              <a:rPr sz="1250" b="0" dirty="0">
                <a:solidFill>
                  <a:srgbClr val="4F5A63"/>
                </a:solidFill>
                <a:latin typeface="Meiryo"/>
                <a:ea typeface="Meiryo"/>
                <a:cs typeface="Meiryo"/>
              </a:rPr>
              <a:t> L2-MPC </a:t>
            </a:r>
            <a:r>
              <a:rPr sz="1250" b="0" dirty="0" err="1">
                <a:solidFill>
                  <a:srgbClr val="4F5A63"/>
                </a:solidFill>
                <a:latin typeface="Meiryo"/>
                <a:ea typeface="Meiryo"/>
                <a:cs typeface="Meiryo"/>
              </a:rPr>
              <a:t>を土台（基準）として固め、次にコスト関数だけを</a:t>
            </a:r>
            <a:r>
              <a:rPr sz="1250" b="0" dirty="0">
                <a:solidFill>
                  <a:srgbClr val="4F5A63"/>
                </a:solidFill>
                <a:latin typeface="Meiryo"/>
                <a:ea typeface="Meiryo"/>
                <a:cs typeface="Meiryo"/>
              </a:rPr>
              <a:t> L1 </a:t>
            </a:r>
            <a:r>
              <a:rPr sz="1250" b="0" dirty="0" err="1">
                <a:solidFill>
                  <a:srgbClr val="4F5A63"/>
                </a:solidFill>
                <a:latin typeface="Meiryo"/>
                <a:ea typeface="Meiryo"/>
                <a:cs typeface="Meiryo"/>
              </a:rPr>
              <a:t>に変える</a:t>
            </a:r>
            <a:r>
              <a:rPr sz="1250" b="0" dirty="0">
                <a:solidFill>
                  <a:srgbClr val="4F5A63"/>
                </a:solidFill>
                <a:latin typeface="Meiryo"/>
                <a:ea typeface="Meiryo"/>
                <a:cs typeface="Meiryo"/>
              </a:rPr>
              <a:t>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75488"/>
            <a:ext cx="1051560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1F6F8B"/>
                </a:solidFill>
                <a:latin typeface="Meiryo"/>
                <a:ea typeface="Meiryo"/>
                <a:cs typeface="Meiryo"/>
              </a:rPr>
              <a:t>取り組み 05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222A30"/>
                </a:solidFill>
                <a:latin typeface="Meiryo"/>
                <a:ea typeface="Meiryo"/>
                <a:cs typeface="Meiryo"/>
              </a:rPr>
              <a:t>MPC の実装 (1)：L2-MPC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41248" y="1335024"/>
            <a:ext cx="786384" cy="45720"/>
          </a:xfrm>
          <a:prstGeom prst="rect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10637215" y="6455664"/>
            <a:ext cx="9144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53606A"/>
                </a:solidFill>
                <a:latin typeface="Meiryo"/>
                <a:ea typeface="Meiryo"/>
                <a:cs typeface="Meiryo"/>
              </a:rPr>
              <a:t>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554480"/>
            <a:ext cx="5111230" cy="457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1">
                <a:solidFill>
                  <a:srgbClr val="1F6F8B"/>
                </a:solidFill>
                <a:latin typeface="Meiryo"/>
                <a:ea typeface="Meiryo"/>
                <a:cs typeface="Meiryo"/>
              </a:rPr>
              <a:t>L2 と L1 の違い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4F5A63"/>
                </a:solidFill>
                <a:latin typeface="Meiryo"/>
                <a:ea typeface="Meiryo"/>
                <a:cs typeface="Meiryo"/>
              </a:rPr>
              <a:t>–  L2：入力を“二乗”で罰する → 小さな操舵を満遍なく使い、なめらか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0">
                <a:solidFill>
                  <a:srgbClr val="4F5A63"/>
                </a:solidFill>
                <a:latin typeface="Meiryo"/>
                <a:ea typeface="Meiryo"/>
                <a:cs typeface="Meiryo"/>
              </a:rPr>
              <a:t>–  L1：入力を“絶対値”で罰する → 多くの操舵が厳密に0になり、疎（hands-off）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0">
                <a:solidFill>
                  <a:srgbClr val="23292F"/>
                </a:solidFill>
                <a:latin typeface="Meiryo"/>
                <a:ea typeface="Meiryo"/>
                <a:cs typeface="Meiryo"/>
              </a:rPr>
              <a:t>●  コスト関数を1行変えるだけで L2→L1 に切替（同じ骨格で公平に比較）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1">
                <a:solidFill>
                  <a:srgbClr val="E07A3F"/>
                </a:solidFill>
                <a:latin typeface="Meiryo"/>
                <a:ea typeface="Meiryo"/>
                <a:cs typeface="Meiryo"/>
              </a:rPr>
              <a:t>さじ加減 λ を振って調べた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23292F"/>
                </a:solidFill>
                <a:latin typeface="Meiryo"/>
                <a:ea typeface="Meiryo"/>
                <a:cs typeface="Meiryo"/>
              </a:rPr>
              <a:t>●  λ を上げるほど操舵は減る（疎）が、追従は甘くなるトレードオフ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23292F"/>
                </a:solidFill>
                <a:latin typeface="Meiryo"/>
                <a:ea typeface="Meiryo"/>
                <a:cs typeface="Meiryo"/>
              </a:rPr>
              <a:t>●  λ≈0.25 では、精度もエネルギーも L2 をわずかに上回る良い領域</a:t>
            </a:r>
          </a:p>
        </p:txBody>
      </p:sp>
      <p:pic>
        <p:nvPicPr>
          <p:cNvPr id="9" name="Picture 8" descr="tradeo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3983" y="1737360"/>
            <a:ext cx="5486400" cy="36576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769598" y="5440680"/>
            <a:ext cx="576372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4F5A63"/>
                </a:solidFill>
                <a:latin typeface="Meiryo"/>
                <a:ea typeface="Meiryo"/>
                <a:cs typeface="Meiryo"/>
              </a:rPr>
              <a:t>左下ほど良い（縦＝ずれ・横＝操舵の総量）。λを下げると L2 の左下に回り込む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75488"/>
            <a:ext cx="1051560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1F6F8B"/>
                </a:solidFill>
                <a:latin typeface="Meiryo"/>
                <a:ea typeface="Meiryo"/>
                <a:cs typeface="Meiryo"/>
              </a:rPr>
              <a:t>取り組み 06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222A30"/>
                </a:solidFill>
                <a:latin typeface="Meiryo"/>
                <a:ea typeface="Meiryo"/>
                <a:cs typeface="Meiryo"/>
              </a:rPr>
              <a:t>MPC の実装 (2)：L1 で疎にする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41248" y="1335024"/>
            <a:ext cx="786384" cy="45720"/>
          </a:xfrm>
          <a:prstGeom prst="rect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10637215" y="6455664"/>
            <a:ext cx="9144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53606A"/>
                </a:solidFill>
                <a:latin typeface="Meiryo"/>
                <a:ea typeface="Meiryo"/>
                <a:cs typeface="Meiryo"/>
              </a:rPr>
              <a:t>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508760"/>
            <a:ext cx="10874959" cy="1234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dirty="0" err="1">
                <a:solidFill>
                  <a:srgbClr val="23292F"/>
                </a:solidFill>
                <a:latin typeface="Meiryo"/>
                <a:ea typeface="Meiryo"/>
                <a:cs typeface="Meiryo"/>
              </a:rPr>
              <a:t>床で</a:t>
            </a:r>
            <a:r>
              <a:rPr sz="1350" b="0" dirty="0">
                <a:solidFill>
                  <a:srgbClr val="23292F"/>
                </a:solidFill>
                <a:latin typeface="Meiryo"/>
                <a:ea typeface="Meiryo"/>
                <a:cs typeface="Meiryo"/>
              </a:rPr>
              <a:t> Kanayama / L2 / L1 を実際に走らせ、1本ごとにメジャーで実測した。ロボット自身の自己位置は“滑り”を見られないため、外部からの実測（真値）で追従精度を評価した。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468879"/>
            <a:ext cx="4206240" cy="384048"/>
          </a:xfrm>
          <a:prstGeom prst="roundRect">
            <a:avLst>
              <a:gd name="adj" fmla="val 18000"/>
            </a:avLst>
          </a:prstGeom>
          <a:solidFill>
            <a:srgbClr val="1246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経路からの横ずれ（小さいほど正確）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880360"/>
            <a:ext cx="2743200" cy="1325880"/>
          </a:xfrm>
          <a:prstGeom prst="roundRect">
            <a:avLst>
              <a:gd name="adj" fmla="val 6000"/>
            </a:avLst>
          </a:prstGeom>
          <a:solidFill>
            <a:srgbClr val="F6F8F9"/>
          </a:solidFill>
          <a:ln w="19050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8368" y="3008376"/>
            <a:ext cx="27432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>
                <a:solidFill>
                  <a:srgbClr val="4F5A63"/>
                </a:solidFill>
                <a:latin typeface="Meiryo"/>
                <a:ea typeface="Meiryo"/>
                <a:cs typeface="Meiryo"/>
              </a:rPr>
              <a:t>L1-MPC（提案）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>
                <a:solidFill>
                  <a:srgbClr val="2E8B57"/>
                </a:solidFill>
                <a:latin typeface="Meiryo"/>
                <a:ea typeface="Meiryo"/>
                <a:cs typeface="Meiryo"/>
              </a:rPr>
              <a:t>0 cm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2E8B57"/>
                </a:solidFill>
                <a:latin typeface="Meiryo"/>
                <a:ea typeface="Meiryo"/>
                <a:cs typeface="Meiryo"/>
              </a:rPr>
              <a:t>最も正確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13048" y="2880360"/>
            <a:ext cx="2743200" cy="1325880"/>
          </a:xfrm>
          <a:prstGeom prst="roundRect">
            <a:avLst>
              <a:gd name="adj" fmla="val 6000"/>
            </a:avLst>
          </a:prstGeom>
          <a:solidFill>
            <a:srgbClr val="F6F8F9"/>
          </a:solidFill>
          <a:ln w="19050">
            <a:solidFill>
              <a:srgbClr val="1F6F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813048" y="3008376"/>
            <a:ext cx="27432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>
                <a:solidFill>
                  <a:srgbClr val="4F5A63"/>
                </a:solidFill>
                <a:latin typeface="Meiryo"/>
                <a:ea typeface="Meiryo"/>
                <a:cs typeface="Meiryo"/>
              </a:rPr>
              <a:t>L2-MPC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>
                <a:solidFill>
                  <a:srgbClr val="1F6F8B"/>
                </a:solidFill>
                <a:latin typeface="Meiryo"/>
                <a:ea typeface="Meiryo"/>
                <a:cs typeface="Meiryo"/>
              </a:rPr>
              <a:t>4 cm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67728" y="2880360"/>
            <a:ext cx="2743200" cy="1325880"/>
          </a:xfrm>
          <a:prstGeom prst="roundRect">
            <a:avLst>
              <a:gd name="adj" fmla="val 6000"/>
            </a:avLst>
          </a:prstGeom>
          <a:solidFill>
            <a:srgbClr val="F6F8F9"/>
          </a:solidFill>
          <a:ln w="19050">
            <a:solidFill>
              <a:srgbClr val="C043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967728" y="3008376"/>
            <a:ext cx="27432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>
                <a:solidFill>
                  <a:srgbClr val="4F5A63"/>
                </a:solidFill>
                <a:latin typeface="Meiryo"/>
                <a:ea typeface="Meiryo"/>
                <a:cs typeface="Meiryo"/>
              </a:rPr>
              <a:t>Kanayama（古典）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>
                <a:solidFill>
                  <a:srgbClr val="C0433B"/>
                </a:solidFill>
                <a:latin typeface="Meiryo"/>
                <a:ea typeface="Meiryo"/>
                <a:cs typeface="Meiryo"/>
              </a:rPr>
              <a:t>14–15 cm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C0433B"/>
                </a:solidFill>
                <a:latin typeface="Meiryo"/>
                <a:ea typeface="Meiryo"/>
                <a:cs typeface="Meiryo"/>
              </a:rPr>
              <a:t>最もずれた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4572000"/>
            <a:ext cx="10874959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dirty="0" err="1">
                <a:solidFill>
                  <a:srgbClr val="23292F"/>
                </a:solidFill>
                <a:latin typeface="Meiryo"/>
                <a:ea typeface="Meiryo"/>
                <a:cs typeface="Meiryo"/>
              </a:rPr>
              <a:t>提案手法</a:t>
            </a:r>
            <a:r>
              <a:rPr sz="1400" b="1" dirty="0">
                <a:solidFill>
                  <a:srgbClr val="23292F"/>
                </a:solidFill>
                <a:latin typeface="Meiryo"/>
                <a:ea typeface="Meiryo"/>
                <a:cs typeface="Meiryo"/>
              </a:rPr>
              <a:t> L1 </a:t>
            </a:r>
            <a:r>
              <a:rPr sz="1400" b="1" dirty="0" err="1">
                <a:solidFill>
                  <a:srgbClr val="23292F"/>
                </a:solidFill>
                <a:latin typeface="Meiryo"/>
                <a:ea typeface="Meiryo"/>
                <a:cs typeface="Meiryo"/>
              </a:rPr>
              <a:t>が、実測では最も正確に経路を辿った（横ずれ</a:t>
            </a:r>
            <a:r>
              <a:rPr sz="1400" b="1" dirty="0">
                <a:solidFill>
                  <a:srgbClr val="23292F"/>
                </a:solidFill>
                <a:latin typeface="Meiryo"/>
                <a:ea typeface="Meiryo"/>
                <a:cs typeface="Meiryo"/>
              </a:rPr>
              <a:t> 0cm）。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dirty="0">
                <a:solidFill>
                  <a:srgbClr val="4F5A63"/>
                </a:solidFill>
                <a:latin typeface="Meiryo"/>
                <a:ea typeface="Meiryo"/>
                <a:cs typeface="Meiryo"/>
              </a:rPr>
              <a:t>–  </a:t>
            </a:r>
            <a:r>
              <a:rPr sz="1250" b="0" dirty="0" err="1">
                <a:solidFill>
                  <a:srgbClr val="4F5A63"/>
                </a:solidFill>
                <a:latin typeface="Meiryo"/>
                <a:ea typeface="Meiryo"/>
                <a:cs typeface="Meiryo"/>
              </a:rPr>
              <a:t>計算負荷：Kanayama</a:t>
            </a:r>
            <a:r>
              <a:rPr sz="1250" b="0" dirty="0">
                <a:solidFill>
                  <a:srgbClr val="4F5A63"/>
                </a:solidFill>
                <a:latin typeface="Meiryo"/>
                <a:ea typeface="Meiryo"/>
                <a:cs typeface="Meiryo"/>
              </a:rPr>
              <a:t> ほぼ0 ＜ L2（約44ms）＜ L1（約50ms）。3つとも 0.1秒周期に収まる。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dirty="0">
                <a:solidFill>
                  <a:srgbClr val="4F5A63"/>
                </a:solidFill>
                <a:latin typeface="Meiryo"/>
                <a:ea typeface="Meiryo"/>
                <a:cs typeface="Meiryo"/>
              </a:rPr>
              <a:t>–  </a:t>
            </a:r>
            <a:r>
              <a:rPr sz="1250" b="0" dirty="0" err="1">
                <a:solidFill>
                  <a:srgbClr val="4F5A63"/>
                </a:solidFill>
                <a:latin typeface="Meiryo"/>
                <a:ea typeface="Meiryo"/>
                <a:cs typeface="Meiryo"/>
              </a:rPr>
              <a:t>注意：ロボット自身の自己位置だけで見ると</a:t>
            </a:r>
            <a:r>
              <a:rPr sz="1250" b="0" dirty="0">
                <a:solidFill>
                  <a:srgbClr val="4F5A63"/>
                </a:solidFill>
                <a:latin typeface="Meiryo"/>
                <a:ea typeface="Meiryo"/>
                <a:cs typeface="Meiryo"/>
              </a:rPr>
              <a:t> L2 </a:t>
            </a:r>
            <a:r>
              <a:rPr sz="1250" b="0" dirty="0" err="1">
                <a:solidFill>
                  <a:srgbClr val="4F5A63"/>
                </a:solidFill>
                <a:latin typeface="Meiryo"/>
                <a:ea typeface="Meiryo"/>
                <a:cs typeface="Meiryo"/>
              </a:rPr>
              <a:t>が良く見えるが、これは滑りを観測できないため。追従の“本当の”精度を測るには外部からの実測が要る、という気づきが得られた</a:t>
            </a:r>
            <a:r>
              <a:rPr sz="1250" b="0" dirty="0">
                <a:solidFill>
                  <a:srgbClr val="4F5A63"/>
                </a:solidFill>
                <a:latin typeface="Meiryo"/>
                <a:ea typeface="Meiryo"/>
                <a:cs typeface="Meiryo"/>
              </a:rPr>
              <a:t>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75488"/>
            <a:ext cx="1051560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1F6F8B"/>
                </a:solidFill>
                <a:latin typeface="Meiryo"/>
                <a:ea typeface="Meiryo"/>
                <a:cs typeface="Meiryo"/>
              </a:rPr>
              <a:t>取り組み 07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222A30"/>
                </a:solidFill>
                <a:latin typeface="Meiryo"/>
                <a:ea typeface="Meiryo"/>
                <a:cs typeface="Meiryo"/>
              </a:rPr>
              <a:t>実機で3者比較 (1)：直線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41248" y="1335024"/>
            <a:ext cx="786384" cy="45720"/>
          </a:xfrm>
          <a:prstGeom prst="rect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10637215" y="6455664"/>
            <a:ext cx="9144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53606A"/>
                </a:solidFill>
                <a:latin typeface="Meiryo"/>
                <a:ea typeface="Meiryo"/>
                <a:cs typeface="Meiryo"/>
              </a:rPr>
              <a:t>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463040"/>
            <a:ext cx="10447782" cy="1405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dirty="0" err="1">
                <a:solidFill>
                  <a:srgbClr val="23292F"/>
                </a:solidFill>
                <a:latin typeface="Meiryo"/>
                <a:ea typeface="Meiryo"/>
                <a:cs typeface="Meiryo"/>
              </a:rPr>
              <a:t>実機での結果</a:t>
            </a:r>
            <a:endParaRPr sz="1450" b="1" dirty="0">
              <a:solidFill>
                <a:srgbClr val="23292F"/>
              </a:solidFill>
              <a:latin typeface="Meiryo"/>
              <a:ea typeface="Meiryo"/>
              <a:cs typeface="Meiryo"/>
            </a:endParaRP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dirty="0">
                <a:solidFill>
                  <a:srgbClr val="23292F"/>
                </a:solidFill>
                <a:latin typeface="Meiryo"/>
                <a:ea typeface="Meiryo"/>
                <a:cs typeface="Meiryo"/>
              </a:rPr>
              <a:t>●  </a:t>
            </a:r>
            <a:r>
              <a:rPr sz="1350" b="0" dirty="0" err="1">
                <a:solidFill>
                  <a:srgbClr val="23292F"/>
                </a:solidFill>
                <a:latin typeface="Meiryo"/>
                <a:ea typeface="Meiryo"/>
                <a:cs typeface="Meiryo"/>
              </a:rPr>
              <a:t>提案手法</a:t>
            </a:r>
            <a:r>
              <a:rPr sz="1350" b="0" dirty="0">
                <a:solidFill>
                  <a:srgbClr val="23292F"/>
                </a:solidFill>
                <a:latin typeface="Meiryo"/>
                <a:ea typeface="Meiryo"/>
                <a:cs typeface="Meiryo"/>
              </a:rPr>
              <a:t> L1 </a:t>
            </a:r>
            <a:r>
              <a:rPr sz="1350" b="0" dirty="0" err="1">
                <a:solidFill>
                  <a:srgbClr val="23292F"/>
                </a:solidFill>
                <a:latin typeface="Meiryo"/>
                <a:ea typeface="Meiryo"/>
                <a:cs typeface="Meiryo"/>
              </a:rPr>
              <a:t>が、曲がり角で操舵を左右に細かく振動させた（チャタリング</a:t>
            </a:r>
            <a:r>
              <a:rPr sz="1350" b="0" dirty="0">
                <a:solidFill>
                  <a:srgbClr val="23292F"/>
                </a:solidFill>
                <a:latin typeface="Meiryo"/>
                <a:ea typeface="Meiryo"/>
                <a:cs typeface="Meiryo"/>
              </a:rPr>
              <a:t>）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dirty="0">
                <a:solidFill>
                  <a:srgbClr val="4F5A63"/>
                </a:solidFill>
                <a:latin typeface="Meiryo"/>
                <a:ea typeface="Meiryo"/>
                <a:cs typeface="Meiryo"/>
              </a:rPr>
              <a:t>–  </a:t>
            </a:r>
            <a:r>
              <a:rPr sz="1250" b="0" dirty="0" err="1">
                <a:solidFill>
                  <a:srgbClr val="4F5A63"/>
                </a:solidFill>
                <a:latin typeface="Meiryo"/>
                <a:ea typeface="Meiryo"/>
                <a:cs typeface="Meiryo"/>
              </a:rPr>
              <a:t>操舵の総量</a:t>
            </a:r>
            <a:r>
              <a:rPr sz="1250" b="0" dirty="0">
                <a:solidFill>
                  <a:srgbClr val="4F5A63"/>
                </a:solidFill>
                <a:latin typeface="Meiryo"/>
                <a:ea typeface="Meiryo"/>
                <a:cs typeface="Meiryo"/>
              </a:rPr>
              <a:t> </a:t>
            </a:r>
            <a:r>
              <a:rPr sz="1250" b="0" dirty="0" err="1">
                <a:solidFill>
                  <a:srgbClr val="4F5A63"/>
                </a:solidFill>
                <a:latin typeface="Meiryo"/>
                <a:ea typeface="Meiryo"/>
                <a:cs typeface="Meiryo"/>
              </a:rPr>
              <a:t>Σ|u</a:t>
            </a:r>
            <a:r>
              <a:rPr sz="1250" b="0" dirty="0">
                <a:solidFill>
                  <a:srgbClr val="4F5A63"/>
                </a:solidFill>
                <a:latin typeface="Meiryo"/>
                <a:ea typeface="Meiryo"/>
                <a:cs typeface="Meiryo"/>
              </a:rPr>
              <a:t>|：L2 4.5 / Kanayama 4.9 </a:t>
            </a:r>
            <a:r>
              <a:rPr sz="1250" b="0" dirty="0" err="1">
                <a:solidFill>
                  <a:srgbClr val="4F5A63"/>
                </a:solidFill>
                <a:latin typeface="Meiryo"/>
                <a:ea typeface="Meiryo"/>
                <a:cs typeface="Meiryo"/>
              </a:rPr>
              <a:t>に対し</a:t>
            </a:r>
            <a:r>
              <a:rPr sz="1250" b="0" dirty="0">
                <a:solidFill>
                  <a:srgbClr val="4F5A63"/>
                </a:solidFill>
                <a:latin typeface="Meiryo"/>
                <a:ea typeface="Meiryo"/>
                <a:cs typeface="Meiryo"/>
              </a:rPr>
              <a:t> L1 は 20.7（約4.5倍）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0" dirty="0">
                <a:solidFill>
                  <a:srgbClr val="4F5A63"/>
                </a:solidFill>
                <a:latin typeface="Meiryo"/>
                <a:ea typeface="Meiryo"/>
                <a:cs typeface="Meiryo"/>
              </a:rPr>
              <a:t>–  操舵の向きの反転：L2 0回 </a:t>
            </a:r>
            <a:r>
              <a:rPr sz="1250" b="0" dirty="0" err="1">
                <a:solidFill>
                  <a:srgbClr val="4F5A63"/>
                </a:solidFill>
                <a:latin typeface="Meiryo"/>
                <a:ea typeface="Meiryo"/>
                <a:cs typeface="Meiryo"/>
              </a:rPr>
              <a:t>に対し</a:t>
            </a:r>
            <a:r>
              <a:rPr sz="1250" b="0" dirty="0">
                <a:solidFill>
                  <a:srgbClr val="4F5A63"/>
                </a:solidFill>
                <a:latin typeface="Meiryo"/>
                <a:ea typeface="Meiryo"/>
                <a:cs typeface="Meiryo"/>
              </a:rPr>
              <a:t> L1 は 15回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dirty="0">
                <a:solidFill>
                  <a:srgbClr val="23292F"/>
                </a:solidFill>
                <a:latin typeface="Meiryo"/>
                <a:ea typeface="Meiryo"/>
                <a:cs typeface="Meiryo"/>
              </a:rPr>
              <a:t>L2 は小さな半径できれいに90°旋回。L1 </a:t>
            </a:r>
            <a:r>
              <a:rPr sz="1300" b="0" dirty="0" err="1">
                <a:solidFill>
                  <a:srgbClr val="23292F"/>
                </a:solidFill>
                <a:latin typeface="Meiryo"/>
                <a:ea typeface="Meiryo"/>
                <a:cs typeface="Meiryo"/>
              </a:rPr>
              <a:t>は左右に蛇行し、最終的な向きにずれが残った</a:t>
            </a:r>
            <a:r>
              <a:rPr sz="1300" b="0" dirty="0">
                <a:solidFill>
                  <a:srgbClr val="23292F"/>
                </a:solidFill>
                <a:latin typeface="Meiryo"/>
                <a:ea typeface="Meiryo"/>
                <a:cs typeface="Meiryo"/>
              </a:rPr>
              <a:t>。</a:t>
            </a:r>
          </a:p>
        </p:txBody>
      </p:sp>
      <p:pic>
        <p:nvPicPr>
          <p:cNvPr id="9" name="Picture 8" descr="2026-06-13_Lturn_pl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3244" y="3295650"/>
            <a:ext cx="10065511" cy="327129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22960" y="475488"/>
            <a:ext cx="1051560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1F6F8B"/>
                </a:solidFill>
                <a:latin typeface="Meiryo"/>
                <a:ea typeface="Meiryo"/>
                <a:cs typeface="Meiryo"/>
              </a:rPr>
              <a:t>取り組み 08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222A30"/>
                </a:solidFill>
                <a:latin typeface="Meiryo"/>
                <a:ea typeface="Meiryo"/>
                <a:cs typeface="Meiryo"/>
              </a:rPr>
              <a:t>実機で3者比較 (2)：L字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41248" y="1335024"/>
            <a:ext cx="786384" cy="45720"/>
          </a:xfrm>
          <a:prstGeom prst="rect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10637215" y="6455664"/>
            <a:ext cx="9144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53606A"/>
                </a:solidFill>
                <a:latin typeface="Meiryo"/>
                <a:ea typeface="Meiryo"/>
                <a:cs typeface="Meiryo"/>
              </a:rPr>
              <a:t>23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554480"/>
            <a:ext cx="1371600" cy="384048"/>
          </a:xfrm>
          <a:prstGeom prst="roundRect">
            <a:avLst>
              <a:gd name="adj" fmla="val 18000"/>
            </a:avLst>
          </a:prstGeom>
          <a:solidFill>
            <a:srgbClr val="C04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原因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084831"/>
            <a:ext cx="5254599" cy="19261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dirty="0" err="1">
                <a:solidFill>
                  <a:srgbClr val="23292F"/>
                </a:solidFill>
                <a:latin typeface="Meiryo"/>
                <a:ea typeface="Meiryo"/>
                <a:cs typeface="Meiryo"/>
              </a:rPr>
              <a:t>シミュレーションでは</a:t>
            </a:r>
            <a:r>
              <a:rPr sz="1300" b="0" dirty="0">
                <a:solidFill>
                  <a:srgbClr val="23292F"/>
                </a:solidFill>
                <a:latin typeface="Meiryo"/>
                <a:ea typeface="Meiryo"/>
                <a:cs typeface="Meiryo"/>
              </a:rPr>
              <a:t> L1 </a:t>
            </a:r>
            <a:r>
              <a:rPr sz="1300" b="0" dirty="0" err="1">
                <a:solidFill>
                  <a:srgbClr val="23292F"/>
                </a:solidFill>
                <a:latin typeface="Meiryo"/>
                <a:ea typeface="Meiryo"/>
                <a:cs typeface="Meiryo"/>
              </a:rPr>
              <a:t>も振動しなかった</a:t>
            </a:r>
            <a:r>
              <a:rPr sz="1300" b="0" dirty="0">
                <a:solidFill>
                  <a:srgbClr val="23292F"/>
                </a:solidFill>
                <a:latin typeface="Meiryo"/>
                <a:ea typeface="Meiryo"/>
                <a:cs typeface="Meiryo"/>
              </a:rPr>
              <a:t>。</a:t>
            </a:r>
            <a:endParaRPr lang="en-US" sz="1300" b="0" dirty="0">
              <a:solidFill>
                <a:srgbClr val="23292F"/>
              </a:solidFill>
              <a:latin typeface="Meiryo"/>
              <a:ea typeface="Meiryo"/>
              <a:cs typeface="Meiryo"/>
            </a:endParaRP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400"/>
              </a:spcAft>
            </a:pPr>
            <a:r>
              <a:rPr lang="en-US" sz="1300" dirty="0">
                <a:solidFill>
                  <a:srgbClr val="23292F"/>
                </a:solidFill>
                <a:latin typeface="Meiryo"/>
                <a:ea typeface="Meiryo"/>
                <a:cs typeface="Meiryo"/>
              </a:rPr>
              <a:t>	</a:t>
            </a:r>
            <a:r>
              <a:rPr sz="1300" b="0" dirty="0" err="1">
                <a:solidFill>
                  <a:srgbClr val="23292F"/>
                </a:solidFill>
                <a:latin typeface="Meiryo"/>
                <a:ea typeface="Meiryo"/>
                <a:cs typeface="Meiryo"/>
              </a:rPr>
              <a:t>実機だけにある要因</a:t>
            </a:r>
            <a:r>
              <a:rPr sz="1300" b="0" dirty="0">
                <a:solidFill>
                  <a:srgbClr val="23292F"/>
                </a:solidFill>
                <a:latin typeface="Meiryo"/>
                <a:ea typeface="Meiryo"/>
                <a:cs typeface="Meiryo"/>
              </a:rPr>
              <a:t>＝“</a:t>
            </a:r>
            <a:r>
              <a:rPr sz="1300" b="0" dirty="0" err="1">
                <a:solidFill>
                  <a:srgbClr val="23292F"/>
                </a:solidFill>
                <a:latin typeface="Meiryo"/>
                <a:ea typeface="Meiryo"/>
                <a:cs typeface="Meiryo"/>
              </a:rPr>
              <a:t>遅れ</a:t>
            </a:r>
            <a:r>
              <a:rPr sz="1300" b="0" dirty="0">
                <a:solidFill>
                  <a:srgbClr val="23292F"/>
                </a:solidFill>
                <a:latin typeface="Meiryo"/>
                <a:ea typeface="Meiryo"/>
                <a:cs typeface="Meiryo"/>
              </a:rPr>
              <a:t>” </a:t>
            </a:r>
            <a:r>
              <a:rPr lang="ja-JP" altLang="en-US" sz="1300" b="0" dirty="0">
                <a:solidFill>
                  <a:srgbClr val="23292F"/>
                </a:solidFill>
                <a:latin typeface="Meiryo"/>
                <a:ea typeface="Meiryo"/>
                <a:cs typeface="Meiryo"/>
              </a:rPr>
              <a:t>が原因？</a:t>
            </a:r>
            <a:endParaRPr sz="1300" b="0" dirty="0">
              <a:solidFill>
                <a:srgbClr val="23292F"/>
              </a:solidFill>
              <a:latin typeface="Meiryo"/>
              <a:ea typeface="Meiryo"/>
              <a:cs typeface="Meiryo"/>
            </a:endParaRP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400"/>
              </a:spcAft>
            </a:pPr>
            <a:r>
              <a:rPr lang="en-US" sz="1300" b="0" dirty="0">
                <a:solidFill>
                  <a:srgbClr val="23292F"/>
                </a:solidFill>
                <a:latin typeface="Meiryo"/>
                <a:ea typeface="Meiryo"/>
                <a:cs typeface="Meiryo"/>
              </a:rPr>
              <a:t>	</a:t>
            </a:r>
            <a:r>
              <a:rPr sz="1300" b="0" dirty="0">
                <a:solidFill>
                  <a:srgbClr val="23292F"/>
                </a:solidFill>
                <a:latin typeface="Meiryo"/>
                <a:ea typeface="Meiryo"/>
                <a:cs typeface="Meiryo"/>
              </a:rPr>
              <a:t>計算と通信で約0.2秒の遅れがある。これをシミュレーションに加えると、L1 </a:t>
            </a:r>
            <a:r>
              <a:rPr sz="1300" b="0" dirty="0" err="1">
                <a:solidFill>
                  <a:srgbClr val="23292F"/>
                </a:solidFill>
                <a:latin typeface="Meiryo"/>
                <a:ea typeface="Meiryo"/>
                <a:cs typeface="Meiryo"/>
              </a:rPr>
              <a:t>だけが実機と同じように振動した</a:t>
            </a:r>
            <a:r>
              <a:rPr sz="1300" b="0" dirty="0">
                <a:solidFill>
                  <a:srgbClr val="23292F"/>
                </a:solidFill>
                <a:latin typeface="Meiryo"/>
                <a:ea typeface="Meiryo"/>
                <a:cs typeface="Meiryo"/>
              </a:rPr>
              <a:t>。</a:t>
            </a:r>
            <a:endParaRPr lang="en-US" sz="1300" b="0" dirty="0">
              <a:solidFill>
                <a:srgbClr val="23292F"/>
              </a:solidFill>
              <a:latin typeface="Meiryo"/>
              <a:ea typeface="Meiryo"/>
              <a:cs typeface="Meiryo"/>
            </a:endParaRP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400"/>
              </a:spcAft>
            </a:pPr>
            <a:r>
              <a:rPr lang="en-US" sz="1250" dirty="0">
                <a:solidFill>
                  <a:srgbClr val="4F5A63"/>
                </a:solidFill>
                <a:latin typeface="Meiryo"/>
                <a:ea typeface="Meiryo"/>
                <a:cs typeface="Meiryo"/>
              </a:rPr>
              <a:t>	</a:t>
            </a:r>
            <a:r>
              <a:rPr sz="1250" b="0" dirty="0">
                <a:solidFill>
                  <a:srgbClr val="4F5A63"/>
                </a:solidFill>
                <a:latin typeface="Meiryo"/>
                <a:ea typeface="Meiryo"/>
                <a:cs typeface="Meiryo"/>
              </a:rPr>
              <a:t>L1 </a:t>
            </a:r>
            <a:r>
              <a:rPr lang="ja-JP" altLang="en-US" sz="1250" b="0" dirty="0">
                <a:solidFill>
                  <a:srgbClr val="4F5A63"/>
                </a:solidFill>
                <a:latin typeface="Meiryo"/>
                <a:ea typeface="Meiryo"/>
                <a:cs typeface="Meiryo"/>
              </a:rPr>
              <a:t>：</a:t>
            </a:r>
            <a:r>
              <a:rPr sz="1250" b="0" dirty="0">
                <a:solidFill>
                  <a:srgbClr val="4F5A63"/>
                </a:solidFill>
                <a:latin typeface="Meiryo"/>
                <a:ea typeface="Meiryo"/>
                <a:cs typeface="Meiryo"/>
              </a:rPr>
              <a:t>“</a:t>
            </a:r>
            <a:r>
              <a:rPr sz="1250" b="0" dirty="0" err="1">
                <a:solidFill>
                  <a:srgbClr val="4F5A63"/>
                </a:solidFill>
                <a:latin typeface="Meiryo"/>
                <a:ea typeface="Meiryo"/>
                <a:cs typeface="Meiryo"/>
              </a:rPr>
              <a:t>ゼロか最大か”の切替的な操舵になりやすく</a:t>
            </a:r>
            <a:r>
              <a:rPr sz="1250" b="0" dirty="0">
                <a:solidFill>
                  <a:srgbClr val="4F5A63"/>
                </a:solidFill>
                <a:latin typeface="Meiryo"/>
                <a:ea typeface="Meiryo"/>
                <a:cs typeface="Meiryo"/>
              </a:rPr>
              <a:t>、</a:t>
            </a:r>
            <a:endParaRPr lang="en-US" sz="1250" b="0" dirty="0">
              <a:solidFill>
                <a:srgbClr val="4F5A63"/>
              </a:solidFill>
              <a:latin typeface="Meiryo"/>
              <a:ea typeface="Meiryo"/>
              <a:cs typeface="Meiryo"/>
            </a:endParaRP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400"/>
              </a:spcAft>
            </a:pPr>
            <a:r>
              <a:rPr lang="en-US" sz="1250" dirty="0">
                <a:solidFill>
                  <a:srgbClr val="4F5A63"/>
                </a:solidFill>
                <a:latin typeface="Meiryo"/>
                <a:ea typeface="Meiryo"/>
                <a:cs typeface="Meiryo"/>
              </a:rPr>
              <a:t>		</a:t>
            </a:r>
            <a:r>
              <a:rPr sz="1250" b="0" dirty="0" err="1">
                <a:solidFill>
                  <a:srgbClr val="4F5A63"/>
                </a:solidFill>
                <a:latin typeface="Meiryo"/>
                <a:ea typeface="Meiryo"/>
                <a:cs typeface="Meiryo"/>
              </a:rPr>
              <a:t>反応が遅れると行き過ぎ→戻し過ぎを繰り返して振動する</a:t>
            </a:r>
            <a:r>
              <a:rPr sz="1250" b="0" dirty="0">
                <a:solidFill>
                  <a:srgbClr val="4F5A63"/>
                </a:solidFill>
                <a:latin typeface="Meiryo"/>
                <a:ea typeface="Meiryo"/>
                <a:cs typeface="Meiryo"/>
              </a:rPr>
              <a:t>。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50" b="0" dirty="0">
                <a:solidFill>
                  <a:srgbClr val="4F5A63"/>
                </a:solidFill>
                <a:latin typeface="Meiryo"/>
                <a:ea typeface="Meiryo"/>
                <a:cs typeface="Meiryo"/>
              </a:rPr>
              <a:t>	</a:t>
            </a:r>
            <a:r>
              <a:rPr sz="1250" b="0" dirty="0">
                <a:solidFill>
                  <a:srgbClr val="4F5A63"/>
                </a:solidFill>
                <a:latin typeface="Meiryo"/>
                <a:ea typeface="Meiryo"/>
                <a:cs typeface="Meiryo"/>
              </a:rPr>
              <a:t>L2 </a:t>
            </a:r>
            <a:r>
              <a:rPr lang="ja-JP" altLang="en-US" sz="1250" b="0" dirty="0">
                <a:solidFill>
                  <a:srgbClr val="4F5A63"/>
                </a:solidFill>
                <a:latin typeface="Meiryo"/>
                <a:ea typeface="Meiryo"/>
                <a:cs typeface="Meiryo"/>
              </a:rPr>
              <a:t>：</a:t>
            </a:r>
            <a:r>
              <a:rPr sz="1250" b="0" dirty="0" err="1">
                <a:solidFill>
                  <a:srgbClr val="4F5A63"/>
                </a:solidFill>
                <a:latin typeface="Meiryo"/>
                <a:ea typeface="Meiryo"/>
                <a:cs typeface="Meiryo"/>
              </a:rPr>
              <a:t>なめらかなので、同じ遅れでも振動しなかった</a:t>
            </a:r>
            <a:r>
              <a:rPr sz="1250" b="0" dirty="0">
                <a:solidFill>
                  <a:srgbClr val="4F5A63"/>
                </a:solidFill>
                <a:latin typeface="Meiryo"/>
                <a:ea typeface="Meiryo"/>
                <a:cs typeface="Meiryo"/>
              </a:rPr>
              <a:t>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4334991"/>
            <a:ext cx="1371600" cy="384048"/>
          </a:xfrm>
          <a:prstGeom prst="roundRect">
            <a:avLst>
              <a:gd name="adj" fmla="val 18000"/>
            </a:avLst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対策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" y="4880262"/>
            <a:ext cx="5346039" cy="15720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dirty="0">
                <a:solidFill>
                  <a:srgbClr val="23292F"/>
                </a:solidFill>
                <a:latin typeface="Meiryo"/>
                <a:ea typeface="Meiryo"/>
                <a:cs typeface="Meiryo"/>
              </a:rPr>
              <a:t>「</a:t>
            </a:r>
            <a:r>
              <a:rPr sz="1300" b="0" dirty="0" err="1">
                <a:solidFill>
                  <a:srgbClr val="23292F"/>
                </a:solidFill>
                <a:latin typeface="Meiryo"/>
                <a:ea typeface="Meiryo"/>
                <a:cs typeface="Meiryo"/>
              </a:rPr>
              <a:t>操舵を急に変えすぎない」ペナルティを</a:t>
            </a:r>
            <a:r>
              <a:rPr sz="1300" b="0" dirty="0">
                <a:solidFill>
                  <a:srgbClr val="23292F"/>
                </a:solidFill>
                <a:latin typeface="Meiryo"/>
                <a:ea typeface="Meiryo"/>
                <a:cs typeface="Meiryo"/>
              </a:rPr>
              <a:t> MPC </a:t>
            </a:r>
            <a:r>
              <a:rPr sz="1300" b="0" dirty="0" err="1">
                <a:solidFill>
                  <a:srgbClr val="23292F"/>
                </a:solidFill>
                <a:latin typeface="Meiryo"/>
                <a:ea typeface="Meiryo"/>
                <a:cs typeface="Meiryo"/>
              </a:rPr>
              <a:t>に追加</a:t>
            </a:r>
            <a:r>
              <a:rPr sz="1300" b="0" dirty="0">
                <a:solidFill>
                  <a:srgbClr val="23292F"/>
                </a:solidFill>
                <a:latin typeface="Meiryo"/>
                <a:ea typeface="Meiryo"/>
                <a:cs typeface="Meiryo"/>
              </a:rPr>
              <a:t>。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dirty="0" err="1">
                <a:solidFill>
                  <a:srgbClr val="23292F"/>
                </a:solidFill>
                <a:latin typeface="Meiryo"/>
                <a:ea typeface="Meiryo"/>
                <a:cs typeface="Meiryo"/>
              </a:rPr>
              <a:t>シミュレーション上では、この対策で振動がほぼ消えた</a:t>
            </a:r>
            <a:r>
              <a:rPr sz="1300" b="1" dirty="0">
                <a:solidFill>
                  <a:srgbClr val="23292F"/>
                </a:solidFill>
                <a:latin typeface="Meiryo"/>
                <a:ea typeface="Meiryo"/>
                <a:cs typeface="Meiryo"/>
              </a:rPr>
              <a:t>。</a:t>
            </a:r>
          </a:p>
          <a:p>
            <a:pPr marL="384048" indent="0"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dirty="0">
                <a:solidFill>
                  <a:srgbClr val="4F5A63"/>
                </a:solidFill>
                <a:latin typeface="Meiryo"/>
                <a:ea typeface="Meiryo"/>
                <a:cs typeface="Meiryo"/>
              </a:rPr>
              <a:t>操舵の向きの反転：19回 → 1回</a:t>
            </a:r>
          </a:p>
          <a:p>
            <a:pPr marL="384048" indent="0"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dirty="0" err="1">
                <a:solidFill>
                  <a:srgbClr val="4F5A63"/>
                </a:solidFill>
                <a:latin typeface="Meiryo"/>
                <a:ea typeface="Meiryo"/>
                <a:cs typeface="Meiryo"/>
              </a:rPr>
              <a:t>しかも、操舵を疎にする性質（hands-off）は保たれた</a:t>
            </a:r>
            <a:r>
              <a:rPr sz="1250" b="0" dirty="0">
                <a:solidFill>
                  <a:srgbClr val="4F5A63"/>
                </a:solidFill>
                <a:latin typeface="Meiryo"/>
                <a:ea typeface="Meiryo"/>
                <a:cs typeface="Meiryo"/>
              </a:rPr>
              <a:t>。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dirty="0">
                <a:solidFill>
                  <a:srgbClr val="2E8B57"/>
                </a:solidFill>
                <a:latin typeface="Meiryo"/>
                <a:ea typeface="Meiryo"/>
                <a:cs typeface="Meiryo"/>
              </a:rPr>
              <a:t>→「</a:t>
            </a:r>
            <a:r>
              <a:rPr sz="1250" b="0" dirty="0" err="1">
                <a:solidFill>
                  <a:srgbClr val="2E8B57"/>
                </a:solidFill>
                <a:latin typeface="Meiryo"/>
                <a:ea typeface="Meiryo"/>
                <a:cs typeface="Meiryo"/>
              </a:rPr>
              <a:t>問題</a:t>
            </a:r>
            <a:r>
              <a:rPr sz="1250" b="0" dirty="0">
                <a:solidFill>
                  <a:srgbClr val="2E8B57"/>
                </a:solidFill>
                <a:latin typeface="Meiryo"/>
                <a:ea typeface="Meiryo"/>
                <a:cs typeface="Meiryo"/>
              </a:rPr>
              <a:t> → </a:t>
            </a:r>
            <a:r>
              <a:rPr sz="1250" b="0" dirty="0" err="1">
                <a:solidFill>
                  <a:srgbClr val="2E8B57"/>
                </a:solidFill>
                <a:latin typeface="Meiryo"/>
                <a:ea typeface="Meiryo"/>
                <a:cs typeface="Meiryo"/>
              </a:rPr>
              <a:t>原因</a:t>
            </a:r>
            <a:r>
              <a:rPr sz="1250" b="0" dirty="0">
                <a:solidFill>
                  <a:srgbClr val="2E8B57"/>
                </a:solidFill>
                <a:latin typeface="Meiryo"/>
                <a:ea typeface="Meiryo"/>
                <a:cs typeface="Meiryo"/>
              </a:rPr>
              <a:t> → </a:t>
            </a:r>
            <a:r>
              <a:rPr sz="1250" b="0" dirty="0" err="1">
                <a:solidFill>
                  <a:srgbClr val="2E8B57"/>
                </a:solidFill>
                <a:latin typeface="Meiryo"/>
                <a:ea typeface="Meiryo"/>
                <a:cs typeface="Meiryo"/>
              </a:rPr>
              <a:t>対策」をシミュレーションで一通り確認できた</a:t>
            </a:r>
            <a:r>
              <a:rPr sz="1250" b="0" dirty="0">
                <a:solidFill>
                  <a:srgbClr val="2E8B57"/>
                </a:solidFill>
                <a:latin typeface="Meiryo"/>
                <a:ea typeface="Meiryo"/>
                <a:cs typeface="Meiryo"/>
              </a:rPr>
              <a:t>。</a:t>
            </a:r>
            <a:endParaRPr lang="en-US" sz="1250" b="0" dirty="0">
              <a:solidFill>
                <a:srgbClr val="2E8B57"/>
              </a:solidFill>
              <a:latin typeface="Meiryo"/>
              <a:ea typeface="Meiryo"/>
              <a:cs typeface="Meiryo"/>
            </a:endParaRP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lang="ja-JP" altLang="en-US" sz="1250" b="0" dirty="0">
                <a:solidFill>
                  <a:srgbClr val="2E8B57"/>
                </a:solidFill>
                <a:latin typeface="Meiryo"/>
                <a:ea typeface="Meiryo"/>
                <a:cs typeface="Meiryo"/>
              </a:rPr>
              <a:t>　　</a:t>
            </a:r>
            <a:r>
              <a:rPr sz="1250" b="0" dirty="0" err="1">
                <a:solidFill>
                  <a:srgbClr val="2E8B57"/>
                </a:solidFill>
                <a:latin typeface="Meiryo"/>
                <a:ea typeface="Meiryo"/>
                <a:cs typeface="Meiryo"/>
              </a:rPr>
              <a:t>実機での検証は今後行う</a:t>
            </a:r>
            <a:r>
              <a:rPr sz="1250" b="0" dirty="0">
                <a:solidFill>
                  <a:srgbClr val="2E8B57"/>
                </a:solidFill>
                <a:latin typeface="Meiryo"/>
                <a:ea typeface="Meiryo"/>
                <a:cs typeface="Meiryo"/>
              </a:rPr>
              <a:t>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77559" y="1783080"/>
            <a:ext cx="18288" cy="4114800"/>
          </a:xfrm>
          <a:prstGeom prst="rect">
            <a:avLst/>
          </a:prstGeom>
          <a:solidFill>
            <a:srgbClr val="EE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60" y="475488"/>
            <a:ext cx="1051560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1F6F8B"/>
                </a:solidFill>
                <a:latin typeface="Meiryo"/>
                <a:ea typeface="Meiryo"/>
                <a:cs typeface="Meiryo"/>
              </a:rPr>
              <a:t>取り組み 09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222A30"/>
                </a:solidFill>
                <a:latin typeface="Meiryo"/>
                <a:ea typeface="Meiryo"/>
                <a:cs typeface="Meiryo"/>
              </a:rPr>
              <a:t>原因の特定と対策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41248" y="1335024"/>
            <a:ext cx="786384" cy="45720"/>
          </a:xfrm>
          <a:prstGeom prst="rect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" name="図 1">
            <a:extLst>
              <a:ext uri="{FF2B5EF4-FFF2-40B4-BE49-F238E27FC236}">
                <a16:creationId xmlns:a16="http://schemas.microsoft.com/office/drawing/2014/main" id="{FC94528B-5063-010E-B2F1-D700BDB2C7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0439" y="889658"/>
            <a:ext cx="5452771" cy="4316449"/>
          </a:xfrm>
          <a:prstGeom prst="rect">
            <a:avLst/>
          </a:prstGeom>
        </p:spPr>
      </p:pic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2B86D126-33DB-FFB2-C3E8-198AF41E35C4}"/>
              </a:ext>
            </a:extLst>
          </p:cNvPr>
          <p:cNvSpPr txBox="1"/>
          <p:nvPr/>
        </p:nvSpPr>
        <p:spPr>
          <a:xfrm>
            <a:off x="6392786" y="5353832"/>
            <a:ext cx="6013857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400" dirty="0"/>
              <a:t>コストペナルティ</a:t>
            </a:r>
            <a:endParaRPr lang="en-US" altLang="ja-JP" sz="1400" dirty="0"/>
          </a:p>
          <a:p>
            <a:r>
              <a:rPr lang="ja-JP" altLang="en-US" sz="1400" dirty="0"/>
              <a:t>mpc = MPCFollower(N=15, ts=DT, reg=cfg["reg"], lam=cfg["lam"], </a:t>
            </a:r>
          </a:p>
          <a:p>
            <a:r>
              <a:rPr lang="ja-JP" altLang="en-US" sz="1400" dirty="0"/>
              <a:t>                          v_max=V_MAX, w_max=W_MAX, </a:t>
            </a:r>
          </a:p>
          <a:p>
            <a:r>
              <a:rPr lang="ja-JP" altLang="en-US" sz="1400" dirty="0"/>
              <a:t>                          move_suppress=cfg.get("move_suppress", 0.0))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10637215" y="6455664"/>
            <a:ext cx="9144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53606A"/>
                </a:solidFill>
                <a:latin typeface="Meiryo"/>
                <a:ea typeface="Meiryo"/>
                <a:cs typeface="Meiryo"/>
              </a:rPr>
              <a:t>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508760"/>
            <a:ext cx="10874959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23292F"/>
                </a:solidFill>
                <a:latin typeface="Meiryo"/>
                <a:ea typeface="Meiryo"/>
                <a:cs typeface="Meiryo"/>
              </a:rPr>
              <a:t>やったこと：机上のシミュレーション → 実機の基盤づくり → 古典制御で自立走行 → MPC（L2／L1）の実装 → 実機で3者比較 → 振動の原因究明と対策。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487168"/>
            <a:ext cx="512064" cy="512064"/>
          </a:xfrm>
          <a:prstGeom prst="roundRect">
            <a:avLst>
              <a:gd name="adj" fmla="val 18000"/>
            </a:avLst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2432304"/>
            <a:ext cx="10033711" cy="7863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500" b="1">
                <a:solidFill>
                  <a:srgbClr val="23292F"/>
                </a:solidFill>
                <a:latin typeface="Meiryo"/>
                <a:ea typeface="Meiryo"/>
                <a:cs typeface="Meiryo"/>
              </a:rPr>
              <a:t>予測する制御（MPC）は、古典制御より経路に正確に追従できた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4F5A63"/>
                </a:solidFill>
                <a:latin typeface="Meiryo"/>
                <a:ea typeface="Meiryo"/>
                <a:cs typeface="Meiryo"/>
              </a:rPr>
              <a:t>直線でも L字でも、経路からのずれが小さかった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3328416"/>
            <a:ext cx="512064" cy="512064"/>
          </a:xfrm>
          <a:prstGeom prst="roundRect">
            <a:avLst>
              <a:gd name="adj" fmla="val 18000"/>
            </a:avLst>
          </a:prstGeom>
          <a:solidFill>
            <a:srgbClr val="E07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08176" y="3273552"/>
            <a:ext cx="10033711" cy="7863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500" b="1">
                <a:solidFill>
                  <a:srgbClr val="23292F"/>
                </a:solidFill>
                <a:latin typeface="Meiryo"/>
                <a:ea typeface="Meiryo"/>
                <a:cs typeface="Meiryo"/>
              </a:rPr>
              <a:t>提案手法 L1（疎な操舵）の効きは、条件で大きく変わった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4F5A63"/>
                </a:solidFill>
                <a:latin typeface="Meiryo"/>
                <a:ea typeface="Meiryo"/>
                <a:cs typeface="Meiryo"/>
              </a:rPr>
              <a:t>直線では最も正確。一方、曲がり角では操舵が振動した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4169664"/>
            <a:ext cx="512064" cy="512064"/>
          </a:xfrm>
          <a:prstGeom prst="roundRect">
            <a:avLst>
              <a:gd name="adj" fmla="val 18000"/>
            </a:avLst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4114800"/>
            <a:ext cx="10033711" cy="7863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500" b="1">
                <a:solidFill>
                  <a:srgbClr val="23292F"/>
                </a:solidFill>
                <a:latin typeface="Meiryo"/>
                <a:ea typeface="Meiryo"/>
                <a:cs typeface="Meiryo"/>
              </a:rPr>
              <a:t>その振動は実機の“遅れ”が原因で、対策の見込みも得られた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4F5A63"/>
                </a:solidFill>
                <a:latin typeface="Meiryo"/>
                <a:ea typeface="Meiryo"/>
                <a:cs typeface="Meiryo"/>
              </a:rPr>
              <a:t>シミュレーションでは見えず、実機で初めて分かった現象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5010912"/>
            <a:ext cx="512064" cy="512064"/>
          </a:xfrm>
          <a:prstGeom prst="roundRect">
            <a:avLst>
              <a:gd name="adj" fmla="val 18000"/>
            </a:avLst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08176" y="4956048"/>
            <a:ext cx="10033711" cy="7863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500" b="1">
                <a:solidFill>
                  <a:srgbClr val="23292F"/>
                </a:solidFill>
                <a:latin typeface="Meiryo"/>
                <a:ea typeface="Meiryo"/>
                <a:cs typeface="Meiryo"/>
              </a:rPr>
              <a:t>「操舵は減るが計算は増える」トレードオフを実機で数値化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4F5A63"/>
                </a:solidFill>
                <a:latin typeface="Meiryo"/>
                <a:ea typeface="Meiryo"/>
                <a:cs typeface="Meiryo"/>
              </a:rPr>
              <a:t>提案手法の利点と費用を、同じ土俵で比べられるようにした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5943600"/>
            <a:ext cx="10874959" cy="420624"/>
          </a:xfrm>
          <a:prstGeom prst="roundRect">
            <a:avLst>
              <a:gd name="adj" fmla="val 30000"/>
            </a:avLst>
          </a:prstGeom>
          <a:solidFill>
            <a:srgbClr val="EE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24659"/>
                </a:solidFill>
                <a:latin typeface="Meiryo"/>
                <a:ea typeface="Meiryo"/>
                <a:cs typeface="Meiryo"/>
              </a:rPr>
              <a:t>現時点では、安定して良好なのは L2-MPC。提案手法 L1 は条件しだいで、実機での検証を続けている。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75488"/>
            <a:ext cx="1051560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1F6F8B"/>
                </a:solidFill>
                <a:latin typeface="Meiryo"/>
                <a:ea typeface="Meiryo"/>
                <a:cs typeface="Meiryo"/>
              </a:rPr>
              <a:t>まとめ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222A30"/>
                </a:solidFill>
                <a:latin typeface="Meiryo"/>
                <a:ea typeface="Meiryo"/>
                <a:cs typeface="Meiryo"/>
              </a:rPr>
              <a:t>分かったこと・現時点の整理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1248" y="1335024"/>
            <a:ext cx="786384" cy="45720"/>
          </a:xfrm>
          <a:prstGeom prst="rect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246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914400" y="2743200"/>
            <a:ext cx="1371600" cy="91440"/>
          </a:xfrm>
          <a:prstGeom prst="rect">
            <a:avLst/>
          </a:prstGeom>
          <a:solidFill>
            <a:srgbClr val="E07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2971800"/>
            <a:ext cx="1033272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E3F0F5"/>
                </a:solidFill>
                <a:latin typeface="Meiryo"/>
                <a:ea typeface="Meiryo"/>
                <a:cs typeface="Meiryo"/>
              </a:rPr>
              <a:t>APPENDIX ／ 補足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使用したプログラムと解説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E3F0F5"/>
                </a:solidFill>
                <a:latin typeface="Meiryo"/>
                <a:ea typeface="Meiryo"/>
                <a:cs typeface="Meiryo"/>
              </a:rPr>
              <a:t>研究で実装した中核プログラムと、その役割・考え方（時間に応じて取捨選択）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10637215" y="6455664"/>
            <a:ext cx="9144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53606A"/>
                </a:solidFill>
                <a:latin typeface="Meiryo"/>
                <a:ea typeface="Meiryo"/>
                <a:cs typeface="Meiryo"/>
              </a:rPr>
              <a:t>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600200"/>
            <a:ext cx="2375839" cy="10241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8A95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4F5A63"/>
                </a:solidFill>
                <a:latin typeface="Meiryo"/>
                <a:ea typeface="Meiryo"/>
                <a:cs typeface="Meiryo"/>
              </a:rPr>
              <a:t>/odom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4F5A63"/>
                </a:solidFill>
                <a:latin typeface="Meiryo"/>
                <a:ea typeface="Meiryo"/>
                <a:cs typeface="Meiryo"/>
              </a:rPr>
              <a:t>自己位置 (x,y,θ)</a:t>
            </a:r>
          </a:p>
        </p:txBody>
      </p:sp>
      <p:sp>
        <p:nvSpPr>
          <p:cNvPr id="9" name="Chevron 8"/>
          <p:cNvSpPr/>
          <p:nvPr/>
        </p:nvSpPr>
        <p:spPr>
          <a:xfrm>
            <a:off x="3171367" y="2029968"/>
            <a:ext cx="182880" cy="164592"/>
          </a:xfrm>
          <a:prstGeom prst="chevron">
            <a:avLst/>
          </a:prstGeom>
          <a:solidFill>
            <a:srgbClr val="6B7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3491407" y="1600200"/>
            <a:ext cx="2375839" cy="10241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1F6F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F6F8B"/>
                </a:solidFill>
                <a:latin typeface="Meiryo"/>
                <a:ea typeface="Meiryo"/>
                <a:cs typeface="Meiryo"/>
              </a:rPr>
              <a:t>follower_core.py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4F5A63"/>
                </a:solidFill>
                <a:latin typeface="Meiryo"/>
                <a:ea typeface="Meiryo"/>
                <a:cs typeface="Meiryo"/>
              </a:rPr>
              <a:t>参照姿勢・誤差を計算</a:t>
            </a:r>
          </a:p>
        </p:txBody>
      </p:sp>
      <p:sp>
        <p:nvSpPr>
          <p:cNvPr id="11" name="Chevron 10"/>
          <p:cNvSpPr/>
          <p:nvPr/>
        </p:nvSpPr>
        <p:spPr>
          <a:xfrm>
            <a:off x="6004407" y="2029968"/>
            <a:ext cx="182880" cy="164592"/>
          </a:xfrm>
          <a:prstGeom prst="chevron">
            <a:avLst/>
          </a:prstGeom>
          <a:solidFill>
            <a:srgbClr val="6B7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324447" y="1600200"/>
            <a:ext cx="2375839" cy="10241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E07A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E07A3F"/>
                </a:solidFill>
                <a:latin typeface="Meiryo"/>
                <a:ea typeface="Meiryo"/>
                <a:cs typeface="Meiryo"/>
              </a:rPr>
              <a:t>mpc_core.py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4F5A63"/>
                </a:solidFill>
                <a:latin typeface="Meiryo"/>
                <a:ea typeface="Meiryo"/>
                <a:cs typeface="Meiryo"/>
              </a:rPr>
              <a:t>最適化で (v,ω) を決定</a:t>
            </a:r>
          </a:p>
        </p:txBody>
      </p:sp>
      <p:sp>
        <p:nvSpPr>
          <p:cNvPr id="13" name="Chevron 12"/>
          <p:cNvSpPr/>
          <p:nvPr/>
        </p:nvSpPr>
        <p:spPr>
          <a:xfrm>
            <a:off x="8837447" y="2029968"/>
            <a:ext cx="182880" cy="164592"/>
          </a:xfrm>
          <a:prstGeom prst="chevron">
            <a:avLst/>
          </a:prstGeom>
          <a:solidFill>
            <a:srgbClr val="6B7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9157487" y="1600200"/>
            <a:ext cx="2375839" cy="10241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8A95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4F5A63"/>
                </a:solidFill>
                <a:latin typeface="Meiryo"/>
                <a:ea typeface="Meiryo"/>
                <a:cs typeface="Meiryo"/>
              </a:rPr>
              <a:t>rover_twist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4F5A63"/>
                </a:solidFill>
                <a:latin typeface="Meiryo"/>
                <a:ea typeface="Meiryo"/>
                <a:cs typeface="Meiryo"/>
              </a:rPr>
              <a:t>ロボットへ速度指令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3017520"/>
            <a:ext cx="5254599" cy="2651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1F6F8B"/>
                </a:solidFill>
                <a:latin typeface="Meiryo"/>
                <a:ea typeface="Meiryo"/>
                <a:cs typeface="Meiryo"/>
              </a:rPr>
              <a:t>中核プログラム（自作）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3292F"/>
                </a:solidFill>
                <a:latin typeface="Meiryo"/>
                <a:ea typeface="Meiryo"/>
                <a:cs typeface="Meiryo"/>
              </a:rPr>
              <a:t>●  follower_core.py … 経路射影・誤差計算・Kanayama制御則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3292F"/>
                </a:solidFill>
                <a:latin typeface="Meiryo"/>
                <a:ea typeface="Meiryo"/>
                <a:cs typeface="Meiryo"/>
              </a:rPr>
              <a:t>●  mpc_core.py … L2／L1 スパースMPCの本体（提案手法）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3292F"/>
                </a:solidFill>
                <a:latin typeface="Meiryo"/>
                <a:ea typeface="Meiryo"/>
                <a:cs typeface="Meiryo"/>
              </a:rPr>
              <a:t>●  mpc_follower.py ／ path_follower.py … 実機ROSノード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87287" y="3017520"/>
            <a:ext cx="5346039" cy="2651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1F6F8B"/>
                </a:solidFill>
                <a:latin typeface="Meiryo"/>
                <a:ea typeface="Meiryo"/>
                <a:cs typeface="Meiryo"/>
              </a:rPr>
              <a:t>検証・解析（自作）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23292F"/>
                </a:solidFill>
                <a:latin typeface="Meiryo"/>
                <a:ea typeface="Meiryo"/>
                <a:cs typeface="Meiryo"/>
              </a:rPr>
              <a:t>●  bench_qp.py … RPiの求解時間ベンチ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23292F"/>
                </a:solidFill>
                <a:latin typeface="Meiryo"/>
                <a:ea typeface="Meiryo"/>
                <a:cs typeface="Meiryo"/>
              </a:rPr>
              <a:t>●  test_mpc_sim.py … シミュレーション検証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23292F"/>
                </a:solidFill>
                <a:latin typeface="Meiryo"/>
                <a:ea typeface="Meiryo"/>
                <a:cs typeface="Meiryo"/>
              </a:rPr>
              <a:t>●  sweep_lambda.py … λスイープ集計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23292F"/>
                </a:solidFill>
                <a:latin typeface="Meiryo"/>
                <a:ea typeface="Meiryo"/>
                <a:cs typeface="Meiryo"/>
              </a:rPr>
              <a:t>●  sim_delay_probe.py … 遅延でチャタ再現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23292F"/>
                </a:solidFill>
                <a:latin typeface="Meiryo"/>
                <a:ea typeface="Meiryo"/>
                <a:cs typeface="Meiryo"/>
              </a:rPr>
              <a:t>●  analyze_bag.py … rosbagから4指標算出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5852160"/>
            <a:ext cx="10874959" cy="502920"/>
          </a:xfrm>
          <a:prstGeom prst="roundRect">
            <a:avLst>
              <a:gd name="adj" fmla="val 25000"/>
            </a:avLst>
          </a:prstGeom>
          <a:solidFill>
            <a:srgbClr val="EE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24659"/>
                </a:solidFill>
                <a:latin typeface="Meiryo"/>
                <a:ea typeface="Meiryo"/>
                <a:cs typeface="Meiryo"/>
              </a:rPr>
              <a:t>使用技術：Python ／ 最適化 cvxpy + OSQP（線形MPC＝QP）／ numpy ／ ROS2 (rclpy)　※将来：CasADi + IPOPT で非線形MPC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75488"/>
            <a:ext cx="1051560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1F6F8B"/>
                </a:solidFill>
                <a:latin typeface="Meiryo"/>
                <a:ea typeface="Meiryo"/>
                <a:cs typeface="Meiryo"/>
              </a:rPr>
              <a:t>補足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222A30"/>
                </a:solidFill>
                <a:latin typeface="Meiryo"/>
                <a:ea typeface="Meiryo"/>
                <a:cs typeface="Meiryo"/>
              </a:rPr>
              <a:t>プログラム全体の構成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1248" y="1335024"/>
            <a:ext cx="786384" cy="45720"/>
          </a:xfrm>
          <a:prstGeom prst="rect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10637215" y="6455664"/>
            <a:ext cx="9144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53606A"/>
                </a:solidFill>
                <a:latin typeface="Meiryo"/>
                <a:ea typeface="Meiryo"/>
                <a:cs typeface="Meiryo"/>
              </a:rPr>
              <a:t>27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572768"/>
            <a:ext cx="6524975" cy="3913632"/>
          </a:xfrm>
          <a:prstGeom prst="roundRect">
            <a:avLst>
              <a:gd name="adj" fmla="val 2500"/>
            </a:avLst>
          </a:prstGeom>
          <a:solidFill>
            <a:srgbClr val="F4F6F8"/>
          </a:solidFill>
          <a:ln w="12700">
            <a:solidFill>
              <a:srgbClr val="DC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2000"/>
              </a:lnSpc>
            </a:pPr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58368" y="1645920"/>
            <a:ext cx="64008" cy="3840480"/>
          </a:xfrm>
          <a:prstGeom prst="rect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2000"/>
              </a:lnSpc>
            </a:pPr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77824" y="1691640"/>
            <a:ext cx="6195791" cy="3794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32000"/>
              </a:lnSpc>
              <a:spcAft>
                <a:spcPts val="150"/>
              </a:spcAft>
            </a:pPr>
            <a:r>
              <a:rPr sz="1250">
                <a:solidFill>
                  <a:srgbClr val="202A33"/>
                </a:solidFill>
                <a:latin typeface="MS Gothic"/>
                <a:ea typeface="MS Gothic"/>
                <a:cs typeface="MS Gothic"/>
              </a:rPr>
              <a:t>def tracking_error(x, y, th, x_r, y_r, th_r):</a:t>
            </a:r>
          </a:p>
          <a:p>
            <a:pPr>
              <a:lnSpc>
                <a:spcPct val="132000"/>
              </a:lnSpc>
              <a:spcAft>
                <a:spcPts val="150"/>
              </a:spcAft>
            </a:pPr>
            <a:r>
              <a:rPr sz="1250">
                <a:solidFill>
                  <a:srgbClr val="202A33"/>
                </a:solidFill>
                <a:latin typeface="MS Gothic"/>
                <a:ea typeface="MS Gothic"/>
                <a:cs typeface="MS Gothic"/>
              </a:rPr>
              <a:t>    </a:t>
            </a:r>
            <a:r>
              <a:rPr sz="1250">
                <a:solidFill>
                  <a:srgbClr val="2E7A60"/>
                </a:solidFill>
                <a:latin typeface="MS Gothic"/>
                <a:ea typeface="MS Gothic"/>
                <a:cs typeface="MS Gothic"/>
              </a:rPr>
              <a:t># 経路上の参照姿勢に対する「ずれ」（ロボット座標系）</a:t>
            </a:r>
          </a:p>
          <a:p>
            <a:pPr>
              <a:lnSpc>
                <a:spcPct val="132000"/>
              </a:lnSpc>
              <a:spcAft>
                <a:spcPts val="150"/>
              </a:spcAft>
            </a:pPr>
            <a:r>
              <a:rPr sz="1250">
                <a:solidFill>
                  <a:srgbClr val="202A33"/>
                </a:solidFill>
                <a:latin typeface="MS Gothic"/>
                <a:ea typeface="MS Gothic"/>
                <a:cs typeface="MS Gothic"/>
              </a:rPr>
              <a:t>    x_e =  math.cos(th)*(x_r-x) + math.sin(th)*(y_r-y)</a:t>
            </a:r>
          </a:p>
          <a:p>
            <a:pPr>
              <a:lnSpc>
                <a:spcPct val="132000"/>
              </a:lnSpc>
              <a:spcAft>
                <a:spcPts val="150"/>
              </a:spcAft>
            </a:pPr>
            <a:r>
              <a:rPr sz="1250">
                <a:solidFill>
                  <a:srgbClr val="202A33"/>
                </a:solidFill>
                <a:latin typeface="MS Gothic"/>
                <a:ea typeface="MS Gothic"/>
                <a:cs typeface="MS Gothic"/>
              </a:rPr>
              <a:t>    y_e = -math.sin(th)*(x_r-x) + math.cos(th)*(y_r-y)</a:t>
            </a:r>
          </a:p>
          <a:p>
            <a:pPr>
              <a:lnSpc>
                <a:spcPct val="132000"/>
              </a:lnSpc>
              <a:spcAft>
                <a:spcPts val="150"/>
              </a:spcAft>
            </a:pPr>
            <a:r>
              <a:rPr sz="1250">
                <a:solidFill>
                  <a:srgbClr val="202A33"/>
                </a:solidFill>
                <a:latin typeface="MS Gothic"/>
                <a:ea typeface="MS Gothic"/>
                <a:cs typeface="MS Gothic"/>
              </a:rPr>
              <a:t>    th_e = normalize_angle(th_r - th)</a:t>
            </a:r>
          </a:p>
          <a:p>
            <a:pPr>
              <a:lnSpc>
                <a:spcPct val="132000"/>
              </a:lnSpc>
              <a:spcAft>
                <a:spcPts val="150"/>
              </a:spcAft>
            </a:pPr>
            <a:r>
              <a:rPr sz="1250">
                <a:solidFill>
                  <a:srgbClr val="202A33"/>
                </a:solidFill>
                <a:latin typeface="MS Gothic"/>
                <a:ea typeface="MS Gothic"/>
                <a:cs typeface="MS Gothic"/>
              </a:rPr>
              <a:t>    return x_e, y_e, th_e</a:t>
            </a:r>
          </a:p>
          <a:p>
            <a:pPr>
              <a:lnSpc>
                <a:spcPct val="132000"/>
              </a:lnSpc>
              <a:spcAft>
                <a:spcPts val="150"/>
              </a:spcAft>
            </a:pPr>
            <a:endParaRPr sz="1250">
              <a:solidFill>
                <a:srgbClr val="202A33"/>
              </a:solidFill>
              <a:latin typeface="MS Gothic"/>
              <a:ea typeface="MS Gothic"/>
              <a:cs typeface="MS Gothic"/>
            </a:endParaRPr>
          </a:p>
          <a:p>
            <a:pPr>
              <a:lnSpc>
                <a:spcPct val="132000"/>
              </a:lnSpc>
              <a:spcAft>
                <a:spcPts val="150"/>
              </a:spcAft>
            </a:pPr>
            <a:r>
              <a:rPr sz="1250">
                <a:solidFill>
                  <a:srgbClr val="202A33"/>
                </a:solidFill>
                <a:latin typeface="MS Gothic"/>
                <a:ea typeface="MS Gothic"/>
                <a:cs typeface="MS Gothic"/>
              </a:rPr>
              <a:t>def kanayama_cmd(x_e, y_e, th_e, v_r, k_x, k_y, k_th):</a:t>
            </a:r>
          </a:p>
          <a:p>
            <a:pPr>
              <a:lnSpc>
                <a:spcPct val="132000"/>
              </a:lnSpc>
              <a:spcAft>
                <a:spcPts val="150"/>
              </a:spcAft>
            </a:pPr>
            <a:r>
              <a:rPr sz="1250">
                <a:solidFill>
                  <a:srgbClr val="202A33"/>
                </a:solidFill>
                <a:latin typeface="MS Gothic"/>
                <a:ea typeface="MS Gothic"/>
                <a:cs typeface="MS Gothic"/>
              </a:rPr>
              <a:t>    </a:t>
            </a:r>
            <a:r>
              <a:rPr sz="1250">
                <a:solidFill>
                  <a:srgbClr val="2E7A60"/>
                </a:solidFill>
                <a:latin typeface="MS Gothic"/>
                <a:ea typeface="MS Gothic"/>
                <a:cs typeface="MS Gothic"/>
              </a:rPr>
              <a:t># 古典的フィードバック制御則  →  (v, ω)</a:t>
            </a:r>
          </a:p>
          <a:p>
            <a:pPr>
              <a:lnSpc>
                <a:spcPct val="132000"/>
              </a:lnSpc>
              <a:spcAft>
                <a:spcPts val="150"/>
              </a:spcAft>
            </a:pPr>
            <a:r>
              <a:rPr sz="1250">
                <a:solidFill>
                  <a:srgbClr val="202A33"/>
                </a:solidFill>
                <a:latin typeface="MS Gothic"/>
                <a:ea typeface="MS Gothic"/>
                <a:cs typeface="MS Gothic"/>
              </a:rPr>
              <a:t>    v = v_r*math.cos(th_e) + k_x * x_e</a:t>
            </a:r>
          </a:p>
          <a:p>
            <a:pPr>
              <a:lnSpc>
                <a:spcPct val="132000"/>
              </a:lnSpc>
              <a:spcAft>
                <a:spcPts val="150"/>
              </a:spcAft>
            </a:pPr>
            <a:r>
              <a:rPr sz="1250">
                <a:solidFill>
                  <a:srgbClr val="202A33"/>
                </a:solidFill>
                <a:latin typeface="MS Gothic"/>
                <a:ea typeface="MS Gothic"/>
                <a:cs typeface="MS Gothic"/>
              </a:rPr>
              <a:t>    w = v_r*(k_y * y_e + k_th * math.sin(th_e))</a:t>
            </a:r>
          </a:p>
          <a:p>
            <a:pPr>
              <a:lnSpc>
                <a:spcPct val="132000"/>
              </a:lnSpc>
              <a:spcAft>
                <a:spcPts val="150"/>
              </a:spcAft>
            </a:pPr>
            <a:r>
              <a:rPr sz="1250">
                <a:solidFill>
                  <a:srgbClr val="202A33"/>
                </a:solidFill>
                <a:latin typeface="MS Gothic"/>
                <a:ea typeface="MS Gothic"/>
                <a:cs typeface="MS Gothic"/>
              </a:rPr>
              <a:t>    return v, 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11943" y="1645920"/>
            <a:ext cx="4121383" cy="429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8B"/>
                </a:solidFill>
                <a:latin typeface="Meiryo"/>
                <a:ea typeface="Meiryo"/>
                <a:cs typeface="Meiryo"/>
              </a:rPr>
              <a:t>何をしている？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23292F"/>
                </a:solidFill>
                <a:latin typeface="Meiryo"/>
                <a:ea typeface="Meiryo"/>
                <a:cs typeface="Meiryo"/>
              </a:rPr>
              <a:t>●  経路上の目標点に対するずれを、ロボットから見た前後・左右・向きの誤差 (x_e, y_e, θ_e) に変換する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23292F"/>
                </a:solidFill>
                <a:latin typeface="Meiryo"/>
                <a:ea typeface="Meiryo"/>
                <a:cs typeface="Meiryo"/>
              </a:rPr>
              <a:t>●  Kanayama 法は、その誤差に比例ゲインを掛けて速度 v と角速度 ω を決める素直な制御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E07A3F"/>
                </a:solidFill>
                <a:latin typeface="Meiryo"/>
                <a:ea typeface="Meiryo"/>
                <a:cs typeface="Meiryo"/>
              </a:rPr>
              <a:t>ポイント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4F5A63"/>
                </a:solidFill>
                <a:latin typeface="Meiryo"/>
                <a:ea typeface="Meiryo"/>
                <a:cs typeface="Meiryo"/>
              </a:rPr>
              <a:t>▸  予測をしない（今のずれだけで決める）→ 比較の「基準」に使う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4F5A63"/>
                </a:solidFill>
                <a:latin typeface="Meiryo"/>
                <a:ea typeface="Meiryo"/>
                <a:cs typeface="Meiryo"/>
              </a:rPr>
              <a:t>▸  この誤差計算は MPC でもそのまま再利用する共通の土台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75488"/>
            <a:ext cx="1051560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1F6F8B"/>
                </a:solidFill>
                <a:latin typeface="Meiryo"/>
                <a:ea typeface="Meiryo"/>
                <a:cs typeface="Meiryo"/>
              </a:rPr>
              <a:t>補足 01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222A30"/>
                </a:solidFill>
                <a:latin typeface="Meiryo"/>
                <a:ea typeface="Meiryo"/>
                <a:cs typeface="Meiryo"/>
              </a:rPr>
              <a:t>誤差計算と古典制御：follower_core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41248" y="1335024"/>
            <a:ext cx="786384" cy="45720"/>
          </a:xfrm>
          <a:prstGeom prst="rect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58368" y="5715000"/>
            <a:ext cx="10872216" cy="566928"/>
          </a:xfrm>
          <a:prstGeom prst="roundRect">
            <a:avLst/>
          </a:prstGeom>
          <a:solidFill>
            <a:srgbClr val="F6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58368" y="5715000"/>
            <a:ext cx="91440" cy="566928"/>
          </a:xfrm>
          <a:prstGeom prst="rect">
            <a:avLst/>
          </a:prstGeom>
          <a:solidFill>
            <a:srgbClr val="E07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32688" y="5760720"/>
            <a:ext cx="1042416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E07A3F"/>
                </a:solidFill>
                <a:latin typeface="Meiryo"/>
                <a:ea typeface="Meiryo"/>
                <a:cs typeface="Meiryo"/>
              </a:rPr>
              <a:t>要点：</a:t>
            </a:r>
            <a:r>
              <a:rPr sz="1300" b="0">
                <a:solidFill>
                  <a:srgbClr val="23292F"/>
                </a:solidFill>
                <a:latin typeface="Meiryo"/>
                <a:ea typeface="Meiryo"/>
                <a:cs typeface="Meiryo"/>
              </a:rPr>
              <a:t>誤差計算は Kanayama 法と MPC で共通の土台として再利用する。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10637215" y="6455664"/>
            <a:ext cx="9144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53606A"/>
                </a:solidFill>
                <a:latin typeface="Meiryo"/>
                <a:ea typeface="Meiryo"/>
                <a:cs typeface="Meiryo"/>
              </a:rPr>
              <a:t>28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572768"/>
            <a:ext cx="6524975" cy="3913632"/>
          </a:xfrm>
          <a:prstGeom prst="roundRect">
            <a:avLst>
              <a:gd name="adj" fmla="val 2500"/>
            </a:avLst>
          </a:prstGeom>
          <a:solidFill>
            <a:srgbClr val="F4F6F8"/>
          </a:solidFill>
          <a:ln w="12700">
            <a:solidFill>
              <a:srgbClr val="DC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2000"/>
              </a:lnSpc>
            </a:pPr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58368" y="1645920"/>
            <a:ext cx="64008" cy="3840480"/>
          </a:xfrm>
          <a:prstGeom prst="rect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2000"/>
              </a:lnSpc>
            </a:pPr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77824" y="1691640"/>
            <a:ext cx="6195791" cy="3794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32000"/>
              </a:lnSpc>
              <a:spcAft>
                <a:spcPts val="150"/>
              </a:spcAft>
            </a:pPr>
            <a:r>
              <a:rPr sz="1250">
                <a:solidFill>
                  <a:srgbClr val="2E7A60"/>
                </a:solidFill>
                <a:latin typeface="MS Gothic"/>
                <a:ea typeface="MS Gothic"/>
                <a:cs typeface="MS Gothic"/>
              </a:rPr>
              <a:t># 状態遷移を n ステップ展開 → 終端で誤差0 を  Phi z = zeta  で表す</a:t>
            </a:r>
          </a:p>
          <a:p>
            <a:pPr>
              <a:lnSpc>
                <a:spcPct val="132000"/>
              </a:lnSpc>
              <a:spcAft>
                <a:spcPts val="150"/>
              </a:spcAft>
            </a:pPr>
            <a:r>
              <a:rPr sz="1250">
                <a:solidFill>
                  <a:srgbClr val="202A33"/>
                </a:solidFill>
                <a:latin typeface="MS Gothic"/>
                <a:ea typeface="MS Gothic"/>
                <a:cs typeface="MS Gothic"/>
              </a:rPr>
              <a:t>z = cp.Variable(2 * n)              </a:t>
            </a:r>
            <a:r>
              <a:rPr sz="1250">
                <a:solidFill>
                  <a:srgbClr val="2E7A60"/>
                </a:solidFill>
                <a:latin typeface="MS Gothic"/>
                <a:ea typeface="MS Gothic"/>
                <a:cs typeface="MS Gothic"/>
              </a:rPr>
              <a:t># 全ステップ分の入力をまとめた変数</a:t>
            </a:r>
          </a:p>
          <a:p>
            <a:pPr>
              <a:lnSpc>
                <a:spcPct val="132000"/>
              </a:lnSpc>
              <a:spcAft>
                <a:spcPts val="150"/>
              </a:spcAft>
            </a:pPr>
            <a:r>
              <a:rPr sz="1250">
                <a:solidFill>
                  <a:srgbClr val="202A33"/>
                </a:solidFill>
                <a:latin typeface="MS Gothic"/>
                <a:ea typeface="MS Gothic"/>
                <a:cs typeface="MS Gothic"/>
              </a:rPr>
              <a:t>prob = cp.Problem(</a:t>
            </a:r>
          </a:p>
          <a:p>
            <a:pPr>
              <a:lnSpc>
                <a:spcPct val="132000"/>
              </a:lnSpc>
              <a:spcAft>
                <a:spcPts val="150"/>
              </a:spcAft>
            </a:pPr>
            <a:r>
              <a:rPr sz="1250">
                <a:solidFill>
                  <a:srgbClr val="202A33"/>
                </a:solidFill>
                <a:latin typeface="MS Gothic"/>
                <a:ea typeface="MS Gothic"/>
                <a:cs typeface="MS Gothic"/>
              </a:rPr>
              <a:t>    cp.Minimize(cp.norm1(z)),       </a:t>
            </a:r>
            <a:r>
              <a:rPr sz="1250">
                <a:solidFill>
                  <a:srgbClr val="2E7A60"/>
                </a:solidFill>
                <a:latin typeface="MS Gothic"/>
                <a:ea typeface="MS Gothic"/>
                <a:cs typeface="MS Gothic"/>
              </a:rPr>
              <a:t># ★ 操舵の総量(L1)を最小化 ＝ 疎に</a:t>
            </a:r>
          </a:p>
          <a:p>
            <a:pPr>
              <a:lnSpc>
                <a:spcPct val="132000"/>
              </a:lnSpc>
              <a:spcAft>
                <a:spcPts val="150"/>
              </a:spcAft>
            </a:pPr>
            <a:r>
              <a:rPr sz="1250">
                <a:solidFill>
                  <a:srgbClr val="202A33"/>
                </a:solidFill>
                <a:latin typeface="MS Gothic"/>
                <a:ea typeface="MS Gothic"/>
                <a:cs typeface="MS Gothic"/>
              </a:rPr>
              <a:t>    [Phi @ z == zeta,               </a:t>
            </a:r>
            <a:r>
              <a:rPr sz="1250">
                <a:solidFill>
                  <a:srgbClr val="2E7A60"/>
                </a:solidFill>
                <a:latin typeface="MS Gothic"/>
                <a:ea typeface="MS Gothic"/>
                <a:cs typeface="MS Gothic"/>
              </a:rPr>
              <a:t># 目標到達を保証（等式制約）</a:t>
            </a:r>
          </a:p>
          <a:p>
            <a:pPr>
              <a:lnSpc>
                <a:spcPct val="132000"/>
              </a:lnSpc>
              <a:spcAft>
                <a:spcPts val="150"/>
              </a:spcAft>
            </a:pPr>
            <a:r>
              <a:rPr sz="1250">
                <a:solidFill>
                  <a:srgbClr val="202A33"/>
                </a:solidFill>
                <a:latin typeface="MS Gothic"/>
                <a:ea typeface="MS Gothic"/>
                <a:cs typeface="MS Gothic"/>
              </a:rPr>
              <a:t>     cp.norm_inf(z) &lt;= 1])          </a:t>
            </a:r>
            <a:r>
              <a:rPr sz="1250">
                <a:solidFill>
                  <a:srgbClr val="2E7A60"/>
                </a:solidFill>
                <a:latin typeface="MS Gothic"/>
                <a:ea typeface="MS Gothic"/>
                <a:cs typeface="MS Gothic"/>
              </a:rPr>
              <a:t># 入力の上限（モータ飽和）</a:t>
            </a:r>
          </a:p>
          <a:p>
            <a:pPr>
              <a:lnSpc>
                <a:spcPct val="132000"/>
              </a:lnSpc>
              <a:spcAft>
                <a:spcPts val="150"/>
              </a:spcAft>
            </a:pPr>
            <a:r>
              <a:rPr sz="1250">
                <a:solidFill>
                  <a:srgbClr val="202A33"/>
                </a:solidFill>
                <a:latin typeface="MS Gothic"/>
                <a:ea typeface="MS Gothic"/>
                <a:cs typeface="MS Gothic"/>
              </a:rPr>
              <a:t>prob.solve()</a:t>
            </a:r>
          </a:p>
          <a:p>
            <a:pPr>
              <a:lnSpc>
                <a:spcPct val="132000"/>
              </a:lnSpc>
              <a:spcAft>
                <a:spcPts val="150"/>
              </a:spcAft>
            </a:pPr>
            <a:r>
              <a:rPr sz="1250">
                <a:solidFill>
                  <a:srgbClr val="2E7A60"/>
                </a:solidFill>
                <a:latin typeface="MS Gothic"/>
                <a:ea typeface="MS Gothic"/>
                <a:cs typeface="MS Gothic"/>
              </a:rPr>
              <a:t># → 結果: 操舵 δω の 78% が厳密に 0（ほとんど操舵せず到達）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11943" y="1645920"/>
            <a:ext cx="4121383" cy="429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8B"/>
                </a:solidFill>
                <a:latin typeface="Meiryo"/>
                <a:ea typeface="Meiryo"/>
                <a:cs typeface="Meiryo"/>
              </a:rPr>
              <a:t>何をしている？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23292F"/>
                </a:solidFill>
                <a:latin typeface="Meiryo"/>
                <a:ea typeface="Meiryo"/>
                <a:cs typeface="Meiryo"/>
              </a:rPr>
              <a:t>●  「目標に着く入力のうち、操舵の総量（L1ノルム）が最小のもの」を最適化で求める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23292F"/>
                </a:solidFill>
                <a:latin typeface="Meiryo"/>
                <a:ea typeface="Meiryo"/>
                <a:cs typeface="Meiryo"/>
              </a:rPr>
              <a:t>●  L1ノルム（絶対値の和）を最小化すると、多くの入力が“厳密に0”になる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E07A3F"/>
                </a:solidFill>
                <a:latin typeface="Meiryo"/>
                <a:ea typeface="Meiryo"/>
                <a:cs typeface="Meiryo"/>
              </a:rPr>
              <a:t>ポイント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4F5A63"/>
                </a:solidFill>
                <a:latin typeface="Meiryo"/>
                <a:ea typeface="Meiryo"/>
                <a:cs typeface="Meiryo"/>
              </a:rPr>
              <a:t>▸  これがスパース制御（hands-off）の数学的な核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4F5A63"/>
                </a:solidFill>
                <a:latin typeface="Meiryo"/>
                <a:ea typeface="Meiryo"/>
                <a:cs typeface="Meiryo"/>
              </a:rPr>
              <a:t>▸  cvxpy は最適化問題を数式に近い形で書けるのが利点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75488"/>
            <a:ext cx="1051560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1F6F8B"/>
                </a:solidFill>
                <a:latin typeface="Meiryo"/>
                <a:ea typeface="Meiryo"/>
                <a:cs typeface="Meiryo"/>
              </a:rPr>
              <a:t>補足 02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222A30"/>
                </a:solidFill>
                <a:latin typeface="Meiryo"/>
                <a:ea typeface="Meiryo"/>
                <a:cs typeface="Meiryo"/>
              </a:rPr>
              <a:t>スパース最適制御の原理：cvxpy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41248" y="1335024"/>
            <a:ext cx="786384" cy="45720"/>
          </a:xfrm>
          <a:prstGeom prst="rect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58368" y="5715000"/>
            <a:ext cx="10872216" cy="566928"/>
          </a:xfrm>
          <a:prstGeom prst="roundRect">
            <a:avLst/>
          </a:prstGeom>
          <a:solidFill>
            <a:srgbClr val="F6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58368" y="5715000"/>
            <a:ext cx="91440" cy="566928"/>
          </a:xfrm>
          <a:prstGeom prst="rect">
            <a:avLst/>
          </a:prstGeom>
          <a:solidFill>
            <a:srgbClr val="E07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32688" y="5760720"/>
            <a:ext cx="1042416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E07A3F"/>
                </a:solidFill>
                <a:latin typeface="Meiryo"/>
                <a:ea typeface="Meiryo"/>
                <a:cs typeface="Meiryo"/>
              </a:rPr>
              <a:t>要点：</a:t>
            </a:r>
            <a:r>
              <a:rPr sz="1300" b="0">
                <a:solidFill>
                  <a:srgbClr val="23292F"/>
                </a:solidFill>
                <a:latin typeface="Meiryo"/>
                <a:ea typeface="Meiryo"/>
                <a:cs typeface="Meiryo"/>
              </a:rPr>
              <a:t>L1 ノルム最小化が、スパース（hands-off）制御の数学的な核となる。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10637215" y="6455664"/>
            <a:ext cx="9144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53606A"/>
                </a:solidFill>
                <a:latin typeface="Meiryo"/>
                <a:ea typeface="Meiryo"/>
                <a:cs typeface="Meiryo"/>
              </a:rPr>
              <a:t>29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536192"/>
            <a:ext cx="6742474" cy="3950208"/>
          </a:xfrm>
          <a:prstGeom prst="roundRect">
            <a:avLst>
              <a:gd name="adj" fmla="val 2500"/>
            </a:avLst>
          </a:prstGeom>
          <a:solidFill>
            <a:srgbClr val="F4F6F8"/>
          </a:solidFill>
          <a:ln w="12700">
            <a:solidFill>
              <a:srgbClr val="DC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2000"/>
              </a:lnSpc>
            </a:pPr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58368" y="1609344"/>
            <a:ext cx="64008" cy="3877056"/>
          </a:xfrm>
          <a:prstGeom prst="rect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2000"/>
              </a:lnSpc>
            </a:pPr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77824" y="1655064"/>
            <a:ext cx="6413290" cy="383133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32000"/>
              </a:lnSpc>
              <a:spcAft>
                <a:spcPts val="150"/>
              </a:spcAft>
            </a:pPr>
            <a:r>
              <a:rPr sz="1250">
                <a:solidFill>
                  <a:srgbClr val="202A33"/>
                </a:solidFill>
                <a:latin typeface="MS Gothic"/>
                <a:ea typeface="MS Gothic"/>
                <a:cs typeface="MS Gothic"/>
              </a:rPr>
              <a:t>cost = 0</a:t>
            </a:r>
          </a:p>
          <a:p>
            <a:pPr>
              <a:lnSpc>
                <a:spcPct val="132000"/>
              </a:lnSpc>
              <a:spcAft>
                <a:spcPts val="150"/>
              </a:spcAft>
            </a:pPr>
            <a:r>
              <a:rPr sz="1250">
                <a:solidFill>
                  <a:srgbClr val="202A33"/>
                </a:solidFill>
                <a:latin typeface="MS Gothic"/>
                <a:ea typeface="MS Gothic"/>
                <a:cs typeface="MS Gothic"/>
              </a:rPr>
              <a:t>constr = [z[:, 0] == z0]                    </a:t>
            </a:r>
            <a:r>
              <a:rPr sz="1250">
                <a:solidFill>
                  <a:srgbClr val="2E7A60"/>
                </a:solidFill>
                <a:latin typeface="MS Gothic"/>
                <a:ea typeface="MS Gothic"/>
                <a:cs typeface="MS Gothic"/>
              </a:rPr>
              <a:t># 初期状態 = 現在の誤差</a:t>
            </a:r>
          </a:p>
          <a:p>
            <a:pPr>
              <a:lnSpc>
                <a:spcPct val="132000"/>
              </a:lnSpc>
              <a:spcAft>
                <a:spcPts val="150"/>
              </a:spcAft>
            </a:pPr>
            <a:r>
              <a:rPr sz="1250">
                <a:solidFill>
                  <a:srgbClr val="202A33"/>
                </a:solidFill>
                <a:latin typeface="MS Gothic"/>
                <a:ea typeface="MS Gothic"/>
                <a:cs typeface="MS Gothic"/>
              </a:rPr>
              <a:t>for k in range(N):                          </a:t>
            </a:r>
            <a:r>
              <a:rPr sz="1250">
                <a:solidFill>
                  <a:srgbClr val="2E7A60"/>
                </a:solidFill>
                <a:latin typeface="MS Gothic"/>
                <a:ea typeface="MS Gothic"/>
                <a:cs typeface="MS Gothic"/>
              </a:rPr>
              <a:t># N ステップ先まで予測</a:t>
            </a:r>
          </a:p>
          <a:p>
            <a:pPr>
              <a:lnSpc>
                <a:spcPct val="132000"/>
              </a:lnSpc>
              <a:spcAft>
                <a:spcPts val="150"/>
              </a:spcAft>
            </a:pPr>
            <a:r>
              <a:rPr sz="1250">
                <a:solidFill>
                  <a:srgbClr val="202A33"/>
                </a:solidFill>
                <a:latin typeface="MS Gothic"/>
                <a:ea typeface="MS Gothic"/>
                <a:cs typeface="MS Gothic"/>
              </a:rPr>
              <a:t>    cost += cp.quad_form(z[:, k], Q)        </a:t>
            </a:r>
            <a:r>
              <a:rPr sz="1250">
                <a:solidFill>
                  <a:srgbClr val="2E7A60"/>
                </a:solidFill>
                <a:latin typeface="MS Gothic"/>
                <a:ea typeface="MS Gothic"/>
                <a:cs typeface="MS Gothic"/>
              </a:rPr>
              <a:t># 経路からのずれを罰</a:t>
            </a:r>
          </a:p>
          <a:p>
            <a:pPr>
              <a:lnSpc>
                <a:spcPct val="132000"/>
              </a:lnSpc>
              <a:spcAft>
                <a:spcPts val="150"/>
              </a:spcAft>
            </a:pPr>
            <a:r>
              <a:rPr sz="1250">
                <a:solidFill>
                  <a:srgbClr val="202A33"/>
                </a:solidFill>
                <a:latin typeface="MS Gothic"/>
                <a:ea typeface="MS Gothic"/>
                <a:cs typeface="MS Gothic"/>
              </a:rPr>
              <a:t>    if reg == "l1":</a:t>
            </a:r>
          </a:p>
          <a:p>
            <a:pPr>
              <a:lnSpc>
                <a:spcPct val="132000"/>
              </a:lnSpc>
              <a:spcAft>
                <a:spcPts val="150"/>
              </a:spcAft>
            </a:pPr>
            <a:r>
              <a:rPr sz="1250">
                <a:solidFill>
                  <a:srgbClr val="202A33"/>
                </a:solidFill>
                <a:latin typeface="MS Gothic"/>
                <a:ea typeface="MS Gothic"/>
                <a:cs typeface="MS Gothic"/>
              </a:rPr>
              <a:t>        cost += lam * cp.norm1(du[:, k])    </a:t>
            </a:r>
            <a:r>
              <a:rPr sz="1250">
                <a:solidFill>
                  <a:srgbClr val="2E7A60"/>
                </a:solidFill>
                <a:latin typeface="MS Gothic"/>
                <a:ea typeface="MS Gothic"/>
                <a:cs typeface="MS Gothic"/>
              </a:rPr>
              <a:t># ★ L1: 操舵を疎に（提案）</a:t>
            </a:r>
          </a:p>
          <a:p>
            <a:pPr>
              <a:lnSpc>
                <a:spcPct val="132000"/>
              </a:lnSpc>
              <a:spcAft>
                <a:spcPts val="150"/>
              </a:spcAft>
            </a:pPr>
            <a:r>
              <a:rPr sz="1250">
                <a:solidFill>
                  <a:srgbClr val="202A33"/>
                </a:solidFill>
                <a:latin typeface="MS Gothic"/>
                <a:ea typeface="MS Gothic"/>
                <a:cs typeface="MS Gothic"/>
              </a:rPr>
              <a:t>    else:</a:t>
            </a:r>
          </a:p>
          <a:p>
            <a:pPr>
              <a:lnSpc>
                <a:spcPct val="132000"/>
              </a:lnSpc>
              <a:spcAft>
                <a:spcPts val="150"/>
              </a:spcAft>
            </a:pPr>
            <a:r>
              <a:rPr sz="1250">
                <a:solidFill>
                  <a:srgbClr val="202A33"/>
                </a:solidFill>
                <a:latin typeface="MS Gothic"/>
                <a:ea typeface="MS Gothic"/>
                <a:cs typeface="MS Gothic"/>
              </a:rPr>
              <a:t>        cost += cp.quad_form(du[:, k], R)   </a:t>
            </a:r>
            <a:r>
              <a:rPr sz="1250">
                <a:solidFill>
                  <a:srgbClr val="2E7A60"/>
                </a:solidFill>
                <a:latin typeface="MS Gothic"/>
                <a:ea typeface="MS Gothic"/>
                <a:cs typeface="MS Gothic"/>
              </a:rPr>
              <a:t># L2: なめらか（基準）</a:t>
            </a:r>
          </a:p>
          <a:p>
            <a:pPr>
              <a:lnSpc>
                <a:spcPct val="132000"/>
              </a:lnSpc>
              <a:spcAft>
                <a:spcPts val="150"/>
              </a:spcAft>
            </a:pPr>
            <a:r>
              <a:rPr sz="1250">
                <a:solidFill>
                  <a:srgbClr val="202A33"/>
                </a:solidFill>
                <a:latin typeface="MS Gothic"/>
                <a:ea typeface="MS Gothic"/>
                <a:cs typeface="MS Gothic"/>
              </a:rPr>
              <a:t>    constr += [z[:, k+1] == A @ z[:, k] + B @ du[:, k]]  </a:t>
            </a:r>
            <a:r>
              <a:rPr sz="1250">
                <a:solidFill>
                  <a:srgbClr val="2E7A60"/>
                </a:solidFill>
                <a:latin typeface="MS Gothic"/>
                <a:ea typeface="MS Gothic"/>
                <a:cs typeface="MS Gothic"/>
              </a:rPr>
              <a:t># 運動モデル</a:t>
            </a:r>
          </a:p>
          <a:p>
            <a:pPr>
              <a:lnSpc>
                <a:spcPct val="132000"/>
              </a:lnSpc>
              <a:spcAft>
                <a:spcPts val="150"/>
              </a:spcAft>
            </a:pPr>
            <a:r>
              <a:rPr sz="1250">
                <a:solidFill>
                  <a:srgbClr val="202A33"/>
                </a:solidFill>
                <a:latin typeface="MS Gothic"/>
                <a:ea typeface="MS Gothic"/>
                <a:cs typeface="MS Gothic"/>
              </a:rPr>
              <a:t>    constr += [cp.abs(u_nom + du[:, k]) &lt;= u_max]        </a:t>
            </a:r>
            <a:r>
              <a:rPr sz="1250">
                <a:solidFill>
                  <a:srgbClr val="2E7A60"/>
                </a:solidFill>
                <a:latin typeface="MS Gothic"/>
                <a:ea typeface="MS Gothic"/>
                <a:cs typeface="MS Gothic"/>
              </a:rPr>
              <a:t># 速度の上限</a:t>
            </a:r>
          </a:p>
          <a:p>
            <a:pPr>
              <a:lnSpc>
                <a:spcPct val="132000"/>
              </a:lnSpc>
              <a:spcAft>
                <a:spcPts val="150"/>
              </a:spcAft>
            </a:pPr>
            <a:r>
              <a:rPr sz="1250">
                <a:solidFill>
                  <a:srgbClr val="202A33"/>
                </a:solidFill>
                <a:latin typeface="MS Gothic"/>
                <a:ea typeface="MS Gothic"/>
                <a:cs typeface="MS Gothic"/>
              </a:rPr>
              <a:t>cost += cp.quad_form(z[:, N], Qf)           </a:t>
            </a:r>
            <a:r>
              <a:rPr sz="1250">
                <a:solidFill>
                  <a:srgbClr val="2E7A60"/>
                </a:solidFill>
                <a:latin typeface="MS Gothic"/>
                <a:ea typeface="MS Gothic"/>
                <a:cs typeface="MS Gothic"/>
              </a:rPr>
              <a:t># 終端のずれ（ソフト）</a:t>
            </a:r>
          </a:p>
          <a:p>
            <a:pPr>
              <a:lnSpc>
                <a:spcPct val="132000"/>
              </a:lnSpc>
              <a:spcAft>
                <a:spcPts val="150"/>
              </a:spcAft>
            </a:pPr>
            <a:r>
              <a:rPr sz="1250">
                <a:solidFill>
                  <a:srgbClr val="202A33"/>
                </a:solidFill>
                <a:latin typeface="MS Gothic"/>
                <a:ea typeface="MS Gothic"/>
                <a:cs typeface="MS Gothic"/>
              </a:rPr>
              <a:t>self.prob = cp.Problem(cp.Minimize(cost), constr)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02010" y="1627632"/>
            <a:ext cx="3931316" cy="429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E07A3F"/>
                </a:solidFill>
                <a:latin typeface="Meiryo"/>
                <a:ea typeface="Meiryo"/>
                <a:cs typeface="Meiryo"/>
              </a:rPr>
              <a:t>提案手法の心臓部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23292F"/>
                </a:solidFill>
                <a:latin typeface="Meiryo"/>
                <a:ea typeface="Meiryo"/>
                <a:cs typeface="Meiryo"/>
              </a:rPr>
              <a:t>●  N ステップ先まで予測し、「経路からのずれ＋操舵のペナルティ」の合計を最小化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23292F"/>
                </a:solidFill>
                <a:latin typeface="Meiryo"/>
                <a:ea typeface="Meiryo"/>
                <a:cs typeface="Meiryo"/>
              </a:rPr>
              <a:t>●  L1 と L2 の違いは★の1行だけ</a:t>
            </a:r>
          </a:p>
          <a:p>
            <a:pPr marL="347472" indent="0"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4F5A63"/>
                </a:solidFill>
                <a:latin typeface="Meiryo"/>
                <a:ea typeface="Meiryo"/>
                <a:cs typeface="Meiryo"/>
              </a:rPr>
              <a:t>norm1 → L1（疎）／ quad_form → L2（なめらか）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23292F"/>
                </a:solidFill>
                <a:latin typeface="Meiryo"/>
                <a:ea typeface="Meiryo"/>
                <a:cs typeface="Meiryo"/>
              </a:rPr>
              <a:t>●  同じ骨格で1行だけ変える → L1 の効果を公平に比較できる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4F5A63"/>
                </a:solidFill>
                <a:latin typeface="Meiryo"/>
                <a:ea typeface="Meiryo"/>
                <a:cs typeface="Meiryo"/>
              </a:rPr>
              <a:t>●  毎周期 A,B,z0 だけ差し替えて高速に解き直す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5897880"/>
            <a:ext cx="674247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4F5A63"/>
                </a:solidFill>
                <a:latin typeface="Meiryo"/>
                <a:ea typeface="Meiryo"/>
                <a:cs typeface="Meiryo"/>
              </a:rPr>
              <a:t>※ self. などは紙面の都合で一部省略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75488"/>
            <a:ext cx="1051560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1F6F8B"/>
                </a:solidFill>
                <a:latin typeface="Meiryo"/>
                <a:ea typeface="Meiryo"/>
                <a:cs typeface="Meiryo"/>
              </a:rPr>
              <a:t>補足 03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222A30"/>
                </a:solidFill>
                <a:latin typeface="Meiryo"/>
                <a:ea typeface="Meiryo"/>
                <a:cs typeface="Meiryo"/>
              </a:rPr>
              <a:t>MPC本体・L2／L1の切替：mpc_core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41248" y="1335024"/>
            <a:ext cx="786384" cy="45720"/>
          </a:xfrm>
          <a:prstGeom prst="rect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58368" y="5715000"/>
            <a:ext cx="10872216" cy="566928"/>
          </a:xfrm>
          <a:prstGeom prst="roundRect">
            <a:avLst/>
          </a:prstGeom>
          <a:solidFill>
            <a:srgbClr val="F6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58368" y="5715000"/>
            <a:ext cx="91440" cy="566928"/>
          </a:xfrm>
          <a:prstGeom prst="rect">
            <a:avLst/>
          </a:prstGeom>
          <a:solidFill>
            <a:srgbClr val="E07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32688" y="5760720"/>
            <a:ext cx="1042416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E07A3F"/>
                </a:solidFill>
                <a:latin typeface="Meiryo"/>
                <a:ea typeface="Meiryo"/>
                <a:cs typeface="Meiryo"/>
              </a:rPr>
              <a:t>要点：</a:t>
            </a:r>
            <a:r>
              <a:rPr sz="1300" b="0">
                <a:solidFill>
                  <a:srgbClr val="23292F"/>
                </a:solidFill>
                <a:latin typeface="Meiryo"/>
                <a:ea typeface="Meiryo"/>
                <a:cs typeface="Meiryo"/>
              </a:rPr>
              <a:t>コスト関数の 1 行（norm1／quad_form）の差し替えで L1／L2 を公平に比較できる。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10637215" y="6455664"/>
            <a:ext cx="9144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53606A"/>
                </a:solidFill>
                <a:latin typeface="Meiryo"/>
                <a:ea typeface="Meiryo"/>
                <a:cs typeface="Meiryo"/>
              </a:rPr>
              <a:t>30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572768"/>
            <a:ext cx="6524975" cy="3913632"/>
          </a:xfrm>
          <a:prstGeom prst="roundRect">
            <a:avLst>
              <a:gd name="adj" fmla="val 2500"/>
            </a:avLst>
          </a:prstGeom>
          <a:solidFill>
            <a:srgbClr val="F4F6F8"/>
          </a:solidFill>
          <a:ln w="12700">
            <a:solidFill>
              <a:srgbClr val="DC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2000"/>
              </a:lnSpc>
            </a:pPr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58368" y="1645920"/>
            <a:ext cx="64008" cy="3840480"/>
          </a:xfrm>
          <a:prstGeom prst="rect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2000"/>
              </a:lnSpc>
            </a:pPr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77824" y="1691640"/>
            <a:ext cx="6195791" cy="3794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32000"/>
              </a:lnSpc>
              <a:spcAft>
                <a:spcPts val="150"/>
              </a:spcAft>
            </a:pPr>
            <a:r>
              <a:rPr sz="1250">
                <a:solidFill>
                  <a:srgbClr val="2E7A60"/>
                </a:solidFill>
                <a:latin typeface="MS Gothic"/>
                <a:ea typeface="MS Gothic"/>
                <a:cs typeface="MS Gothic"/>
              </a:rPr>
              <a:t># 実機の遅れで起きた振動(チャタ)への対策</a:t>
            </a:r>
          </a:p>
          <a:p>
            <a:pPr>
              <a:lnSpc>
                <a:spcPct val="132000"/>
              </a:lnSpc>
              <a:spcAft>
                <a:spcPts val="150"/>
              </a:spcAft>
            </a:pPr>
            <a:r>
              <a:rPr sz="1250">
                <a:solidFill>
                  <a:srgbClr val="2E7A60"/>
                </a:solidFill>
                <a:latin typeface="MS Gothic"/>
                <a:ea typeface="MS Gothic"/>
                <a:cs typeface="MS Gothic"/>
              </a:rPr>
              <a:t># 既定 0 で従来と同じ ＝ 後方互換</a:t>
            </a:r>
          </a:p>
          <a:p>
            <a:pPr>
              <a:lnSpc>
                <a:spcPct val="132000"/>
              </a:lnSpc>
              <a:spcAft>
                <a:spcPts val="150"/>
              </a:spcAft>
            </a:pPr>
            <a:r>
              <a:rPr sz="1250">
                <a:solidFill>
                  <a:srgbClr val="202A33"/>
                </a:solidFill>
                <a:latin typeface="MS Gothic"/>
                <a:ea typeface="MS Gothic"/>
                <a:cs typeface="MS Gothic"/>
              </a:rPr>
              <a:t>if move_suppress &gt; 0:</a:t>
            </a:r>
          </a:p>
          <a:p>
            <a:pPr>
              <a:lnSpc>
                <a:spcPct val="132000"/>
              </a:lnSpc>
              <a:spcAft>
                <a:spcPts val="150"/>
              </a:spcAft>
            </a:pPr>
            <a:r>
              <a:rPr sz="1250">
                <a:solidFill>
                  <a:srgbClr val="202A33"/>
                </a:solidFill>
                <a:latin typeface="MS Gothic"/>
                <a:ea typeface="MS Gothic"/>
                <a:cs typeface="MS Gothic"/>
              </a:rPr>
              <a:t>    prev = du_prev if k == 0 else du[:, k-1]</a:t>
            </a:r>
          </a:p>
          <a:p>
            <a:pPr>
              <a:lnSpc>
                <a:spcPct val="132000"/>
              </a:lnSpc>
              <a:spcAft>
                <a:spcPts val="150"/>
              </a:spcAft>
            </a:pPr>
            <a:r>
              <a:rPr sz="1250">
                <a:solidFill>
                  <a:srgbClr val="202A33"/>
                </a:solidFill>
                <a:latin typeface="MS Gothic"/>
                <a:ea typeface="MS Gothic"/>
                <a:cs typeface="MS Gothic"/>
              </a:rPr>
              <a:t>    cost += move_suppress * cp.sum_squares(du[:, k] - prev)</a:t>
            </a:r>
          </a:p>
          <a:p>
            <a:pPr>
              <a:lnSpc>
                <a:spcPct val="132000"/>
              </a:lnSpc>
              <a:spcAft>
                <a:spcPts val="150"/>
              </a:spcAft>
            </a:pPr>
            <a:r>
              <a:rPr sz="1250">
                <a:solidFill>
                  <a:srgbClr val="202A33"/>
                </a:solidFill>
                <a:latin typeface="MS Gothic"/>
                <a:ea typeface="MS Gothic"/>
                <a:cs typeface="MS Gothic"/>
              </a:rPr>
              <a:t>    </a:t>
            </a:r>
            <a:r>
              <a:rPr sz="1250">
                <a:solidFill>
                  <a:srgbClr val="2E7A60"/>
                </a:solidFill>
                <a:latin typeface="MS Gothic"/>
                <a:ea typeface="MS Gothic"/>
                <a:cs typeface="MS Gothic"/>
              </a:rPr>
              <a:t>#   ↑ 操舵を前ステップから急に変えると罰する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11943" y="1645920"/>
            <a:ext cx="4121383" cy="429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8B"/>
                </a:solidFill>
                <a:latin typeface="Meiryo"/>
                <a:ea typeface="Meiryo"/>
                <a:cs typeface="Meiryo"/>
              </a:rPr>
              <a:t>何をしている？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23292F"/>
                </a:solidFill>
                <a:latin typeface="Meiryo"/>
                <a:ea typeface="Meiryo"/>
                <a:cs typeface="Meiryo"/>
              </a:rPr>
              <a:t>●  1つ前の操舵との差を二乗で罰する＝操舵を急に変えにくくする項を足す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E07A3F"/>
                </a:solidFill>
                <a:latin typeface="Meiryo"/>
                <a:ea typeface="Meiryo"/>
                <a:cs typeface="Meiryo"/>
              </a:rPr>
              <a:t>効果（シミュレーション）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>
                <a:solidFill>
                  <a:srgbClr val="23292F"/>
                </a:solidFill>
                <a:latin typeface="Meiryo"/>
                <a:ea typeface="Meiryo"/>
                <a:cs typeface="Meiryo"/>
              </a:rPr>
              <a:t>●  操舵の向きの反転：19回 → 1回。振動がほぼ消えた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4F5A63"/>
                </a:solidFill>
                <a:latin typeface="Meiryo"/>
                <a:ea typeface="Meiryo"/>
                <a:cs typeface="Meiryo"/>
              </a:rPr>
              <a:t>▸  疎にする性質（hands-off）は保たれた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4F5A63"/>
                </a:solidFill>
                <a:latin typeface="Meiryo"/>
                <a:ea typeface="Meiryo"/>
                <a:cs typeface="Meiryo"/>
              </a:rPr>
              <a:t>▸  既定0なので過去の結果は変わらない。実機での確認は今後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75488"/>
            <a:ext cx="1051560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1F6F8B"/>
                </a:solidFill>
                <a:latin typeface="Meiryo"/>
                <a:ea typeface="Meiryo"/>
                <a:cs typeface="Meiryo"/>
              </a:rPr>
              <a:t>補足 04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222A30"/>
                </a:solidFill>
                <a:latin typeface="Meiryo"/>
                <a:ea typeface="Meiryo"/>
                <a:cs typeface="Meiryo"/>
              </a:rPr>
              <a:t>チャタ対策：移動抑制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41248" y="1335024"/>
            <a:ext cx="786384" cy="45720"/>
          </a:xfrm>
          <a:prstGeom prst="rect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58368" y="5715000"/>
            <a:ext cx="10872216" cy="566928"/>
          </a:xfrm>
          <a:prstGeom prst="roundRect">
            <a:avLst/>
          </a:prstGeom>
          <a:solidFill>
            <a:srgbClr val="F6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58368" y="5715000"/>
            <a:ext cx="91440" cy="566928"/>
          </a:xfrm>
          <a:prstGeom prst="rect">
            <a:avLst/>
          </a:prstGeom>
          <a:solidFill>
            <a:srgbClr val="E07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32688" y="5760720"/>
            <a:ext cx="1042416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E07A3F"/>
                </a:solidFill>
                <a:latin typeface="Meiryo"/>
                <a:ea typeface="Meiryo"/>
                <a:cs typeface="Meiryo"/>
              </a:rPr>
              <a:t>要点：</a:t>
            </a:r>
            <a:r>
              <a:rPr sz="1300" b="0">
                <a:solidFill>
                  <a:srgbClr val="23292F"/>
                </a:solidFill>
                <a:latin typeface="Meiryo"/>
                <a:ea typeface="Meiryo"/>
                <a:cs typeface="Meiryo"/>
              </a:rPr>
              <a:t>移動抑制項は既定 0 で後方互換。スパース性を保ったまま操舵の振動を抑える。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10637215" y="6455664"/>
            <a:ext cx="9144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53606A"/>
                </a:solidFill>
                <a:latin typeface="Meiryo"/>
                <a:ea typeface="Meiryo"/>
                <a:cs typeface="Meiryo"/>
              </a:rPr>
              <a:t>31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536192"/>
            <a:ext cx="6742474" cy="3950208"/>
          </a:xfrm>
          <a:prstGeom prst="roundRect">
            <a:avLst>
              <a:gd name="adj" fmla="val 2500"/>
            </a:avLst>
          </a:prstGeom>
          <a:solidFill>
            <a:srgbClr val="F4F6F8"/>
          </a:solidFill>
          <a:ln w="12700">
            <a:solidFill>
              <a:srgbClr val="DC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2000"/>
              </a:lnSpc>
            </a:pPr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58368" y="1609344"/>
            <a:ext cx="64008" cy="3877056"/>
          </a:xfrm>
          <a:prstGeom prst="rect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2000"/>
              </a:lnSpc>
            </a:pPr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77824" y="1655064"/>
            <a:ext cx="6413290" cy="383133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32000"/>
              </a:lnSpc>
              <a:spcAft>
                <a:spcPts val="150"/>
              </a:spcAft>
            </a:pPr>
            <a:r>
              <a:rPr sz="1250">
                <a:solidFill>
                  <a:srgbClr val="202A33"/>
                </a:solidFill>
                <a:latin typeface="MS Gothic"/>
                <a:ea typeface="MS Gothic"/>
                <a:cs typeface="MS Gothic"/>
              </a:rPr>
              <a:t>def control_step(self):              </a:t>
            </a:r>
            <a:r>
              <a:rPr sz="1250">
                <a:solidFill>
                  <a:srgbClr val="2E7A60"/>
                </a:solidFill>
                <a:latin typeface="MS Gothic"/>
                <a:ea typeface="MS Gothic"/>
                <a:cs typeface="MS Gothic"/>
              </a:rPr>
              <a:t># 制御周期ごと(10Hz)に実行</a:t>
            </a:r>
          </a:p>
          <a:p>
            <a:pPr>
              <a:lnSpc>
                <a:spcPct val="132000"/>
              </a:lnSpc>
              <a:spcAft>
                <a:spcPts val="150"/>
              </a:spcAft>
            </a:pPr>
            <a:r>
              <a:rPr sz="1250">
                <a:solidFill>
                  <a:srgbClr val="202A33"/>
                </a:solidFill>
                <a:latin typeface="MS Gothic"/>
                <a:ea typeface="MS Gothic"/>
                <a:cs typeface="MS Gothic"/>
              </a:rPr>
              <a:t>    x, y, th = self.pose             </a:t>
            </a:r>
            <a:r>
              <a:rPr sz="1250">
                <a:solidFill>
                  <a:srgbClr val="2E7A60"/>
                </a:solidFill>
                <a:latin typeface="MS Gothic"/>
                <a:ea typeface="MS Gothic"/>
                <a:cs typeface="MS Gothic"/>
              </a:rPr>
              <a:t># odom から現在の姿勢</a:t>
            </a:r>
          </a:p>
          <a:p>
            <a:pPr>
              <a:lnSpc>
                <a:spcPct val="132000"/>
              </a:lnSpc>
              <a:spcAft>
                <a:spcPts val="150"/>
              </a:spcAft>
            </a:pPr>
            <a:r>
              <a:rPr sz="1250">
                <a:solidFill>
                  <a:srgbClr val="202A33"/>
                </a:solidFill>
                <a:latin typeface="MS Gothic"/>
                <a:ea typeface="MS Gothic"/>
                <a:cs typeface="MS Gothic"/>
              </a:rPr>
              <a:t>    if goal_dist &lt; goal_tol or goal_crossed(...):  </a:t>
            </a:r>
            <a:r>
              <a:rPr sz="1250">
                <a:solidFill>
                  <a:srgbClr val="2E7A60"/>
                </a:solidFill>
                <a:latin typeface="MS Gothic"/>
                <a:ea typeface="MS Gothic"/>
                <a:cs typeface="MS Gothic"/>
              </a:rPr>
              <a:t># ゴールなら停止</a:t>
            </a:r>
          </a:p>
          <a:p>
            <a:pPr>
              <a:lnSpc>
                <a:spcPct val="132000"/>
              </a:lnSpc>
              <a:spcAft>
                <a:spcPts val="150"/>
              </a:spcAft>
            </a:pPr>
            <a:r>
              <a:rPr sz="1250">
                <a:solidFill>
                  <a:srgbClr val="202A33"/>
                </a:solidFill>
                <a:latin typeface="MS Gothic"/>
                <a:ea typeface="MS Gothic"/>
                <a:cs typeface="MS Gothic"/>
              </a:rPr>
              <a:t>        self.cmd_pub.publish(Twist()); return</a:t>
            </a:r>
          </a:p>
          <a:p>
            <a:pPr>
              <a:lnSpc>
                <a:spcPct val="132000"/>
              </a:lnSpc>
              <a:spcAft>
                <a:spcPts val="150"/>
              </a:spcAft>
            </a:pPr>
            <a:r>
              <a:rPr sz="1250">
                <a:solidFill>
                  <a:srgbClr val="202A33"/>
                </a:solidFill>
                <a:latin typeface="MS Gothic"/>
                <a:ea typeface="MS Gothic"/>
                <a:cs typeface="MS Gothic"/>
              </a:rPr>
              <a:t>    </a:t>
            </a:r>
            <a:r>
              <a:rPr sz="1250">
                <a:solidFill>
                  <a:srgbClr val="2E7A60"/>
                </a:solidFill>
                <a:latin typeface="MS Gothic"/>
                <a:ea typeface="MS Gothic"/>
                <a:cs typeface="MS Gothic"/>
              </a:rPr>
              <a:t># 参照姿勢 → 誤差 → MPC → 速度指令 の順に処理</a:t>
            </a:r>
          </a:p>
          <a:p>
            <a:pPr>
              <a:lnSpc>
                <a:spcPct val="132000"/>
              </a:lnSpc>
              <a:spcAft>
                <a:spcPts val="150"/>
              </a:spcAft>
            </a:pPr>
            <a:r>
              <a:rPr sz="1250">
                <a:solidFill>
                  <a:srgbClr val="202A33"/>
                </a:solidFill>
                <a:latin typeface="MS Gothic"/>
                <a:ea typeface="MS Gothic"/>
                <a:cs typeface="MS Gothic"/>
              </a:rPr>
              <a:t>    x_r, y_r, th_r = reference_pose(waypoints, x, y, lookahead)</a:t>
            </a:r>
          </a:p>
          <a:p>
            <a:pPr>
              <a:lnSpc>
                <a:spcPct val="132000"/>
              </a:lnSpc>
              <a:spcAft>
                <a:spcPts val="150"/>
              </a:spcAft>
            </a:pPr>
            <a:r>
              <a:rPr sz="1250">
                <a:solidFill>
                  <a:srgbClr val="202A33"/>
                </a:solidFill>
                <a:latin typeface="MS Gothic"/>
                <a:ea typeface="MS Gothic"/>
                <a:cs typeface="MS Gothic"/>
              </a:rPr>
              <a:t>    x_e, y_e, th_e = tracking_error(x, y, th, x_r, y_r, th_r)</a:t>
            </a:r>
          </a:p>
          <a:p>
            <a:pPr>
              <a:lnSpc>
                <a:spcPct val="132000"/>
              </a:lnSpc>
              <a:spcAft>
                <a:spcPts val="150"/>
              </a:spcAft>
            </a:pPr>
            <a:r>
              <a:rPr sz="1250">
                <a:solidFill>
                  <a:srgbClr val="202A33"/>
                </a:solidFill>
                <a:latin typeface="MS Gothic"/>
                <a:ea typeface="MS Gothic"/>
                <a:cs typeface="MS Gothic"/>
              </a:rPr>
              <a:t>    v_r = goal_scaled_vr(v_r, goal_dist)            </a:t>
            </a:r>
            <a:r>
              <a:rPr sz="1250">
                <a:solidFill>
                  <a:srgbClr val="2E7A60"/>
                </a:solidFill>
                <a:latin typeface="MS Gothic"/>
                <a:ea typeface="MS Gothic"/>
                <a:cs typeface="MS Gothic"/>
              </a:rPr>
              <a:t># ゴール前で減速</a:t>
            </a:r>
          </a:p>
          <a:p>
            <a:pPr>
              <a:lnSpc>
                <a:spcPct val="132000"/>
              </a:lnSpc>
              <a:spcAft>
                <a:spcPts val="150"/>
              </a:spcAft>
            </a:pPr>
            <a:r>
              <a:rPr sz="1250">
                <a:solidFill>
                  <a:srgbClr val="202A33"/>
                </a:solidFill>
                <a:latin typeface="MS Gothic"/>
                <a:ea typeface="MS Gothic"/>
                <a:cs typeface="MS Gothic"/>
              </a:rPr>
              <a:t>    v, w = self.mpc.command(x_e, y_e, th_e, v_r)    </a:t>
            </a:r>
            <a:r>
              <a:rPr sz="1250">
                <a:solidFill>
                  <a:srgbClr val="2E7A60"/>
                </a:solidFill>
                <a:latin typeface="MS Gothic"/>
                <a:ea typeface="MS Gothic"/>
                <a:cs typeface="MS Gothic"/>
              </a:rPr>
              <a:t># ★ ここがMPC</a:t>
            </a:r>
          </a:p>
          <a:p>
            <a:pPr>
              <a:lnSpc>
                <a:spcPct val="132000"/>
              </a:lnSpc>
              <a:spcAft>
                <a:spcPts val="150"/>
              </a:spcAft>
            </a:pPr>
            <a:r>
              <a:rPr sz="1250">
                <a:solidFill>
                  <a:srgbClr val="202A33"/>
                </a:solidFill>
                <a:latin typeface="MS Gothic"/>
                <a:ea typeface="MS Gothic"/>
                <a:cs typeface="MS Gothic"/>
              </a:rPr>
              <a:t>    cmd = Twist(); cmd.linear.x = v; cmd.angular.z = w</a:t>
            </a:r>
          </a:p>
          <a:p>
            <a:pPr>
              <a:lnSpc>
                <a:spcPct val="132000"/>
              </a:lnSpc>
              <a:spcAft>
                <a:spcPts val="150"/>
              </a:spcAft>
            </a:pPr>
            <a:r>
              <a:rPr sz="1250">
                <a:solidFill>
                  <a:srgbClr val="202A33"/>
                </a:solidFill>
                <a:latin typeface="MS Gothic"/>
                <a:ea typeface="MS Gothic"/>
                <a:cs typeface="MS Gothic"/>
              </a:rPr>
              <a:t>    self.cmd_pub.publish(cmd)                        </a:t>
            </a:r>
            <a:r>
              <a:rPr sz="1250">
                <a:solidFill>
                  <a:srgbClr val="2E7A60"/>
                </a:solidFill>
                <a:latin typeface="MS Gothic"/>
                <a:ea typeface="MS Gothic"/>
                <a:cs typeface="MS Gothic"/>
              </a:rPr>
              <a:t># rover_twist で配信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02010" y="1627632"/>
            <a:ext cx="3931316" cy="429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8B"/>
                </a:solidFill>
                <a:latin typeface="Meiryo"/>
                <a:ea typeface="Meiryo"/>
                <a:cs typeface="Meiryo"/>
              </a:rPr>
              <a:t>何をしている？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23292F"/>
                </a:solidFill>
                <a:latin typeface="Meiryo"/>
                <a:ea typeface="Meiryo"/>
                <a:cs typeface="Meiryo"/>
              </a:rPr>
              <a:t>●  0.1秒ごとに、自己位置→経路上の参照点→誤差→MPCで(v,ω)→ロボットへ、を実行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E07A3F"/>
                </a:solidFill>
                <a:latin typeface="Meiryo"/>
                <a:ea typeface="Meiryo"/>
                <a:cs typeface="Meiryo"/>
              </a:rPr>
              <a:t>3者比較の仕掛け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>
                <a:solidFill>
                  <a:srgbClr val="23292F"/>
                </a:solidFill>
                <a:latin typeface="Meiryo"/>
                <a:ea typeface="Meiryo"/>
                <a:cs typeface="Meiryo"/>
              </a:rPr>
              <a:t>●  ★の1行を kanayama_cmd(...) に変えるだけで Kanayama 版になる</a:t>
            </a:r>
          </a:p>
          <a:p>
            <a:pPr marL="347472" indent="0"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4F5A63"/>
                </a:solidFill>
                <a:latin typeface="Meiryo"/>
                <a:ea typeface="Meiryo"/>
                <a:cs typeface="Meiryo"/>
              </a:rPr>
              <a:t>→ L1・L2・Kanayama を同じ枠組みで公平に比較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4F5A63"/>
                </a:solidFill>
                <a:latin typeface="Meiryo"/>
                <a:ea typeface="Meiryo"/>
                <a:cs typeface="Meiryo"/>
              </a:rPr>
              <a:t>▸  安全機構：odom途絶・求解失敗時は停止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75488"/>
            <a:ext cx="1051560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1F6F8B"/>
                </a:solidFill>
                <a:latin typeface="Meiryo"/>
                <a:ea typeface="Meiryo"/>
                <a:cs typeface="Meiryo"/>
              </a:rPr>
              <a:t>補足 05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222A30"/>
                </a:solidFill>
                <a:latin typeface="Meiryo"/>
                <a:ea typeface="Meiryo"/>
                <a:cs typeface="Meiryo"/>
              </a:rPr>
              <a:t>実機の制御ループ：mpc_follower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41248" y="1335024"/>
            <a:ext cx="786384" cy="45720"/>
          </a:xfrm>
          <a:prstGeom prst="rect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58368" y="5715000"/>
            <a:ext cx="10872216" cy="566928"/>
          </a:xfrm>
          <a:prstGeom prst="roundRect">
            <a:avLst/>
          </a:prstGeom>
          <a:solidFill>
            <a:srgbClr val="F6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58368" y="5715000"/>
            <a:ext cx="91440" cy="566928"/>
          </a:xfrm>
          <a:prstGeom prst="rect">
            <a:avLst/>
          </a:prstGeom>
          <a:solidFill>
            <a:srgbClr val="E07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32688" y="5760720"/>
            <a:ext cx="1042416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E07A3F"/>
                </a:solidFill>
                <a:latin typeface="Meiryo"/>
                <a:ea typeface="Meiryo"/>
                <a:cs typeface="Meiryo"/>
              </a:rPr>
              <a:t>要点：</a:t>
            </a:r>
            <a:r>
              <a:rPr sz="1300" b="0">
                <a:solidFill>
                  <a:srgbClr val="23292F"/>
                </a:solidFill>
                <a:latin typeface="Meiryo"/>
                <a:ea typeface="Meiryo"/>
                <a:cs typeface="Meiryo"/>
              </a:rPr>
              <a:t>同一の制御ループ上で Kanayama／L2／L1 を切り替え、同条件で比較する。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10637215" y="6455664"/>
            <a:ext cx="9144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53606A"/>
                </a:solidFill>
                <a:latin typeface="Meiryo"/>
                <a:ea typeface="Meiryo"/>
                <a:cs typeface="Meiryo"/>
              </a:rPr>
              <a:t>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554480"/>
            <a:ext cx="10874959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23292F"/>
                </a:solidFill>
                <a:latin typeface="Meiryo"/>
                <a:ea typeface="Meiryo"/>
                <a:cs typeface="Meiryo"/>
              </a:rPr>
              <a:t>「実機に載せる前にシミュレーションで確かめ、実機の結果を数値で評価する」ために自作した補助ツール。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58368" y="2377440"/>
          <a:ext cx="10874958" cy="35661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099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649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プログラム</a:t>
                      </a:r>
                    </a:p>
                  </a:txBody>
                  <a:tcPr marL="109728" marR="54864" marT="18288" marB="18288" anchor="ctr">
                    <a:solidFill>
                      <a:srgbClr val="1F6F8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役割</a:t>
                      </a:r>
                    </a:p>
                  </a:txBody>
                  <a:tcPr marL="109728" marR="54864" marT="18288" marB="18288" anchor="ctr">
                    <a:solidFill>
                      <a:srgbClr val="1F6F8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23292F"/>
                          </a:solidFill>
                          <a:latin typeface="Meiryo"/>
                          <a:ea typeface="Meiryo"/>
                          <a:cs typeface="Meiryo"/>
                        </a:rPr>
                        <a:t>bench_qp.py</a:t>
                      </a:r>
                    </a:p>
                  </a:txBody>
                  <a:tcPr marL="109728" marR="54864" marT="18288" marB="18288" anchor="ctr"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3292F"/>
                          </a:solidFill>
                          <a:latin typeface="Meiryo"/>
                          <a:ea typeface="Meiryo"/>
                          <a:cs typeface="Meiryo"/>
                        </a:rPr>
                        <a:t>RPi4 で QP の求解時間を計測し、制御周期内に解けるか判定（実現可能性ゲート）</a:t>
                      </a:r>
                    </a:p>
                  </a:txBody>
                  <a:tcPr marL="109728" marR="54864" marT="18288" marB="18288" anchor="ctr">
                    <a:solidFill>
                      <a:srgbClr val="F6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23292F"/>
                          </a:solidFill>
                          <a:latin typeface="Meiryo"/>
                          <a:ea typeface="Meiryo"/>
                          <a:cs typeface="Meiryo"/>
                        </a:rPr>
                        <a:t>test_mpc_sim.py</a:t>
                      </a:r>
                    </a:p>
                  </a:txBody>
                  <a:tcPr marL="109728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3292F"/>
                          </a:solidFill>
                          <a:latin typeface="Meiryo"/>
                          <a:ea typeface="Meiryo"/>
                          <a:cs typeface="Meiryo"/>
                        </a:rPr>
                        <a:t>非線形の運動モデル上で MPC をクローズドループ検証</a:t>
                      </a:r>
                    </a:p>
                  </a:txBody>
                  <a:tcPr marL="109728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23292F"/>
                          </a:solidFill>
                          <a:latin typeface="Meiryo"/>
                          <a:ea typeface="Meiryo"/>
                          <a:cs typeface="Meiryo"/>
                        </a:rPr>
                        <a:t>sweep_lambda.py</a:t>
                      </a:r>
                    </a:p>
                  </a:txBody>
                  <a:tcPr marL="109728" marR="54864" marT="18288" marB="18288" anchor="ctr"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3292F"/>
                          </a:solidFill>
                          <a:latin typeface="Meiryo"/>
                          <a:ea typeface="Meiryo"/>
                          <a:cs typeface="Meiryo"/>
                        </a:rPr>
                        <a:t>重み λ を振り、スパース性↔追従精度のトレードオフを集計・作図</a:t>
                      </a:r>
                    </a:p>
                  </a:txBody>
                  <a:tcPr marL="109728" marR="54864" marT="18288" marB="18288" anchor="ctr">
                    <a:solidFill>
                      <a:srgbClr val="F6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23292F"/>
                          </a:solidFill>
                          <a:latin typeface="Meiryo"/>
                          <a:ea typeface="Meiryo"/>
                          <a:cs typeface="Meiryo"/>
                        </a:rPr>
                        <a:t>sim_delay_probe.py</a:t>
                      </a:r>
                    </a:p>
                  </a:txBody>
                  <a:tcPr marL="109728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3292F"/>
                          </a:solidFill>
                          <a:latin typeface="Meiryo"/>
                          <a:ea typeface="Meiryo"/>
                          <a:cs typeface="Meiryo"/>
                        </a:rPr>
                        <a:t>入力遅延を加え、L1 のチャタを再現して原因を特定</a:t>
                      </a:r>
                    </a:p>
                  </a:txBody>
                  <a:tcPr marL="109728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23292F"/>
                          </a:solidFill>
                          <a:latin typeface="Meiryo"/>
                          <a:ea typeface="Meiryo"/>
                          <a:cs typeface="Meiryo"/>
                        </a:rPr>
                        <a:t>analyze_bag.py</a:t>
                      </a:r>
                    </a:p>
                  </a:txBody>
                  <a:tcPr marL="109728" marR="54864" marT="18288" marB="18288" anchor="ctr"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3292F"/>
                          </a:solidFill>
                          <a:latin typeface="Meiryo"/>
                          <a:ea typeface="Meiryo"/>
                          <a:cs typeface="Meiryo"/>
                        </a:rPr>
                        <a:t>実走の rosbag から4指標（精度／エネルギー／疎性／計算時間）を自動算出</a:t>
                      </a:r>
                    </a:p>
                  </a:txBody>
                  <a:tcPr marL="109728" marR="54864" marT="18288" marB="18288" anchor="ctr">
                    <a:solidFill>
                      <a:srgbClr val="F6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822960" y="475488"/>
            <a:ext cx="1051560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1F6F8B"/>
                </a:solidFill>
                <a:latin typeface="Meiryo"/>
                <a:ea typeface="Meiryo"/>
                <a:cs typeface="Meiryo"/>
              </a:rPr>
              <a:t>補足 06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222A30"/>
                </a:solidFill>
                <a:latin typeface="Meiryo"/>
                <a:ea typeface="Meiryo"/>
                <a:cs typeface="Meiryo"/>
              </a:rPr>
              <a:t>検証・解析のツール群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1248" y="1335024"/>
            <a:ext cx="786384" cy="45720"/>
          </a:xfrm>
          <a:prstGeom prst="rect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5648</Words>
  <Application>Microsoft Office PowerPoint</Application>
  <PresentationFormat>ワイド画面</PresentationFormat>
  <Paragraphs>762</Paragraphs>
  <Slides>32</Slides>
  <Notes>32</Notes>
  <HiddenSlides>1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32</vt:i4>
      </vt:variant>
    </vt:vector>
  </HeadingPairs>
  <TitlesOfParts>
    <vt:vector size="37" baseType="lpstr">
      <vt:lpstr>MS Gothic</vt:lpstr>
      <vt:lpstr>Meiryo</vt:lpstr>
      <vt:lpstr>Arial</vt:lpstr>
      <vt:lpstr>Calibri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向川　航平</cp:lastModifiedBy>
  <cp:revision>2</cp:revision>
  <dcterms:created xsi:type="dcterms:W3CDTF">2013-01-27T09:14:16Z</dcterms:created>
  <dcterms:modified xsi:type="dcterms:W3CDTF">2026-06-30T03:20:14Z</dcterms:modified>
  <cp:category/>
</cp:coreProperties>
</file>